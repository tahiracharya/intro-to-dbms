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6" r:id="rId2"/>
    <p:sldId id="257" r:id="rId3"/>
    <p:sldId id="258" r:id="rId4"/>
    <p:sldId id="276" r:id="rId5"/>
    <p:sldId id="259" r:id="rId6"/>
    <p:sldId id="287" r:id="rId7"/>
    <p:sldId id="286" r:id="rId8"/>
    <p:sldId id="260" r:id="rId9"/>
    <p:sldId id="261" r:id="rId10"/>
    <p:sldId id="262" r:id="rId11"/>
    <p:sldId id="263" r:id="rId12"/>
    <p:sldId id="283" r:id="rId13"/>
    <p:sldId id="265" r:id="rId14"/>
    <p:sldId id="277" r:id="rId15"/>
    <p:sldId id="278" r:id="rId16"/>
    <p:sldId id="266" r:id="rId17"/>
    <p:sldId id="279" r:id="rId18"/>
    <p:sldId id="280" r:id="rId19"/>
    <p:sldId id="267" r:id="rId20"/>
    <p:sldId id="281" r:id="rId21"/>
    <p:sldId id="282" r:id="rId22"/>
    <p:sldId id="268" r:id="rId23"/>
    <p:sldId id="285" r:id="rId24"/>
    <p:sldId id="284" r:id="rId25"/>
    <p:sldId id="269" r:id="rId26"/>
    <p:sldId id="270" r:id="rId27"/>
    <p:sldId id="271" r:id="rId28"/>
    <p:sldId id="272" r:id="rId29"/>
    <p:sldId id="273" r:id="rId30"/>
    <p:sldId id="326" r:id="rId31"/>
    <p:sldId id="274" r:id="rId32"/>
    <p:sldId id="275" r:id="rId33"/>
    <p:sldId id="327" r:id="rId34"/>
    <p:sldId id="288" r:id="rId35"/>
    <p:sldId id="289" r:id="rId36"/>
    <p:sldId id="290" r:id="rId37"/>
    <p:sldId id="291" r:id="rId38"/>
    <p:sldId id="292"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660"/>
  </p:normalViewPr>
  <p:slideViewPr>
    <p:cSldViewPr snapToGrid="0">
      <p:cViewPr varScale="1">
        <p:scale>
          <a:sx n="61" d="100"/>
          <a:sy n="61" d="100"/>
        </p:scale>
        <p:origin x="81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416AE5-FE8C-4A84-8263-ECC92FFACEF8}" type="datetimeFigureOut">
              <a:rPr lang="en-IN" smtClean="0"/>
              <a:t>13-04-2026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912DDF-8DCE-4F46-AED5-2154574E2D07}" type="slidenum">
              <a:rPr lang="en-IN" smtClean="0"/>
              <a:t>‹#›</a:t>
            </a:fld>
            <a:endParaRPr lang="en-IN"/>
          </a:p>
        </p:txBody>
      </p:sp>
    </p:spTree>
    <p:extLst>
      <p:ext uri="{BB962C8B-B14F-4D97-AF65-F5344CB8AC3E}">
        <p14:creationId xmlns:p14="http://schemas.microsoft.com/office/powerpoint/2010/main" val="3447020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B912DDF-8DCE-4F46-AED5-2154574E2D07}" type="slidenum">
              <a:rPr lang="en-IN" smtClean="0"/>
              <a:t>34</a:t>
            </a:fld>
            <a:endParaRPr lang="en-IN"/>
          </a:p>
        </p:txBody>
      </p:sp>
    </p:spTree>
    <p:extLst>
      <p:ext uri="{BB962C8B-B14F-4D97-AF65-F5344CB8AC3E}">
        <p14:creationId xmlns:p14="http://schemas.microsoft.com/office/powerpoint/2010/main" val="2616122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B07EA-6EA6-E4B9-5A0B-70958551D8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61FE63F-CEBA-4B3A-FD4E-2A063261F9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8C38F56-0BFA-C39A-25CF-FCA26C24B3D0}"/>
              </a:ext>
            </a:extLst>
          </p:cNvPr>
          <p:cNvSpPr>
            <a:spLocks noGrp="1"/>
          </p:cNvSpPr>
          <p:nvPr>
            <p:ph type="dt" sz="half" idx="10"/>
          </p:nvPr>
        </p:nvSpPr>
        <p:spPr/>
        <p:txBody>
          <a:bodyPr/>
          <a:lstStyle/>
          <a:p>
            <a:fld id="{164940D2-BF32-4DB9-96AD-6E4C91D90E9A}" type="datetimeFigureOut">
              <a:rPr lang="en-IN" smtClean="0"/>
              <a:t>13-04-2026</a:t>
            </a:fld>
            <a:endParaRPr lang="en-IN"/>
          </a:p>
        </p:txBody>
      </p:sp>
      <p:sp>
        <p:nvSpPr>
          <p:cNvPr id="5" name="Footer Placeholder 4">
            <a:extLst>
              <a:ext uri="{FF2B5EF4-FFF2-40B4-BE49-F238E27FC236}">
                <a16:creationId xmlns:a16="http://schemas.microsoft.com/office/drawing/2014/main" id="{1ECAD9BB-476A-33DF-A042-E4A6230F52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72DA71-8219-ED8C-B4CA-37CC87448935}"/>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2044449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8879C-3886-57C7-62BC-B2BF1D7EEE9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C8F22B1-BAE9-B490-430E-74C004DA4A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53CDFD-BB43-6D06-AF86-28263B5FDA86}"/>
              </a:ext>
            </a:extLst>
          </p:cNvPr>
          <p:cNvSpPr>
            <a:spLocks noGrp="1"/>
          </p:cNvSpPr>
          <p:nvPr>
            <p:ph type="dt" sz="half" idx="10"/>
          </p:nvPr>
        </p:nvSpPr>
        <p:spPr/>
        <p:txBody>
          <a:bodyPr/>
          <a:lstStyle/>
          <a:p>
            <a:fld id="{164940D2-BF32-4DB9-96AD-6E4C91D90E9A}" type="datetimeFigureOut">
              <a:rPr lang="en-IN" smtClean="0"/>
              <a:t>13-04-2026</a:t>
            </a:fld>
            <a:endParaRPr lang="en-IN"/>
          </a:p>
        </p:txBody>
      </p:sp>
      <p:sp>
        <p:nvSpPr>
          <p:cNvPr id="5" name="Footer Placeholder 4">
            <a:extLst>
              <a:ext uri="{FF2B5EF4-FFF2-40B4-BE49-F238E27FC236}">
                <a16:creationId xmlns:a16="http://schemas.microsoft.com/office/drawing/2014/main" id="{C70B7FE8-E43F-670B-09C1-157264B137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EF6550-2567-E711-720A-FD1E0656B811}"/>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1557052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A1DE6-C9F8-D009-A148-DEED8B4FB8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6B84139-6487-99DE-6225-7A5953AA80D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7CD5B6-4610-CB48-0207-2C38FF7AD788}"/>
              </a:ext>
            </a:extLst>
          </p:cNvPr>
          <p:cNvSpPr>
            <a:spLocks noGrp="1"/>
          </p:cNvSpPr>
          <p:nvPr>
            <p:ph type="dt" sz="half" idx="10"/>
          </p:nvPr>
        </p:nvSpPr>
        <p:spPr/>
        <p:txBody>
          <a:bodyPr/>
          <a:lstStyle/>
          <a:p>
            <a:fld id="{164940D2-BF32-4DB9-96AD-6E4C91D90E9A}" type="datetimeFigureOut">
              <a:rPr lang="en-IN" smtClean="0"/>
              <a:t>13-04-2026</a:t>
            </a:fld>
            <a:endParaRPr lang="en-IN"/>
          </a:p>
        </p:txBody>
      </p:sp>
      <p:sp>
        <p:nvSpPr>
          <p:cNvPr id="5" name="Footer Placeholder 4">
            <a:extLst>
              <a:ext uri="{FF2B5EF4-FFF2-40B4-BE49-F238E27FC236}">
                <a16:creationId xmlns:a16="http://schemas.microsoft.com/office/drawing/2014/main" id="{C56B7F7D-7BBC-9287-4A93-BA4E0F2E30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30BA58-F038-F022-0F7D-2A04D91D6EB8}"/>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2208853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BCA51-FF28-A14E-6789-72BD3E7A352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E29D3C6-FE02-640A-BEB2-2AFA00AADB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1B9D4D8-4234-3EE6-7C9D-794D71CA7A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8F53B15-BC5D-3CF9-AF8B-C3819BA7D384}"/>
              </a:ext>
            </a:extLst>
          </p:cNvPr>
          <p:cNvSpPr>
            <a:spLocks noGrp="1"/>
          </p:cNvSpPr>
          <p:nvPr>
            <p:ph type="dt" sz="half" idx="10"/>
          </p:nvPr>
        </p:nvSpPr>
        <p:spPr/>
        <p:txBody>
          <a:bodyPr/>
          <a:lstStyle/>
          <a:p>
            <a:fld id="{164940D2-BF32-4DB9-96AD-6E4C91D90E9A}" type="datetimeFigureOut">
              <a:rPr lang="en-IN" smtClean="0"/>
              <a:t>13-04-2026</a:t>
            </a:fld>
            <a:endParaRPr lang="en-IN"/>
          </a:p>
        </p:txBody>
      </p:sp>
      <p:sp>
        <p:nvSpPr>
          <p:cNvPr id="6" name="Footer Placeholder 5">
            <a:extLst>
              <a:ext uri="{FF2B5EF4-FFF2-40B4-BE49-F238E27FC236}">
                <a16:creationId xmlns:a16="http://schemas.microsoft.com/office/drawing/2014/main" id="{D675E5B1-3484-FA04-D642-78B1A9549E2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C86351-2A1F-5124-B408-4CFB52767878}"/>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3663955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E715A-57A1-324B-D3AD-23420141ABC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2E4F03E-6C61-E4A6-B379-46D4AA7877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1D2287-B561-53F4-68AA-54583434E5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56B3920-66AE-75F0-D80D-DFC6108368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67D35F-C526-8FE8-2869-C50131261A3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047087-DD52-E2C7-08D1-71E13E4B09F3}"/>
              </a:ext>
            </a:extLst>
          </p:cNvPr>
          <p:cNvSpPr>
            <a:spLocks noGrp="1"/>
          </p:cNvSpPr>
          <p:nvPr>
            <p:ph type="dt" sz="half" idx="10"/>
          </p:nvPr>
        </p:nvSpPr>
        <p:spPr/>
        <p:txBody>
          <a:bodyPr/>
          <a:lstStyle/>
          <a:p>
            <a:fld id="{164940D2-BF32-4DB9-96AD-6E4C91D90E9A}" type="datetimeFigureOut">
              <a:rPr lang="en-IN" smtClean="0"/>
              <a:t>13-04-2026</a:t>
            </a:fld>
            <a:endParaRPr lang="en-IN"/>
          </a:p>
        </p:txBody>
      </p:sp>
      <p:sp>
        <p:nvSpPr>
          <p:cNvPr id="8" name="Footer Placeholder 7">
            <a:extLst>
              <a:ext uri="{FF2B5EF4-FFF2-40B4-BE49-F238E27FC236}">
                <a16:creationId xmlns:a16="http://schemas.microsoft.com/office/drawing/2014/main" id="{2C583920-2D56-BDCC-653A-ECAA7C56DF3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D572595-226F-9D0D-C470-325D1E2BC97F}"/>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2159099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BE78B-1601-87B1-33C6-A15D8E9285A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4995EFF-E1D6-6B35-6F41-AA70C0BF5A0A}"/>
              </a:ext>
            </a:extLst>
          </p:cNvPr>
          <p:cNvSpPr>
            <a:spLocks noGrp="1"/>
          </p:cNvSpPr>
          <p:nvPr>
            <p:ph type="dt" sz="half" idx="10"/>
          </p:nvPr>
        </p:nvSpPr>
        <p:spPr/>
        <p:txBody>
          <a:bodyPr/>
          <a:lstStyle/>
          <a:p>
            <a:fld id="{164940D2-BF32-4DB9-96AD-6E4C91D90E9A}" type="datetimeFigureOut">
              <a:rPr lang="en-IN" smtClean="0"/>
              <a:t>13-04-2026</a:t>
            </a:fld>
            <a:endParaRPr lang="en-IN"/>
          </a:p>
        </p:txBody>
      </p:sp>
      <p:sp>
        <p:nvSpPr>
          <p:cNvPr id="4" name="Footer Placeholder 3">
            <a:extLst>
              <a:ext uri="{FF2B5EF4-FFF2-40B4-BE49-F238E27FC236}">
                <a16:creationId xmlns:a16="http://schemas.microsoft.com/office/drawing/2014/main" id="{E7814A01-C8FB-7C4B-C160-BDBF7F880D6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74A027B-17C2-1E1A-8841-6AD3DA8EF19E}"/>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3631544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DE5E4B-44BE-6B3A-5370-C9DC489DF2D8}"/>
              </a:ext>
            </a:extLst>
          </p:cNvPr>
          <p:cNvSpPr>
            <a:spLocks noGrp="1"/>
          </p:cNvSpPr>
          <p:nvPr>
            <p:ph type="dt" sz="half" idx="10"/>
          </p:nvPr>
        </p:nvSpPr>
        <p:spPr/>
        <p:txBody>
          <a:bodyPr/>
          <a:lstStyle/>
          <a:p>
            <a:fld id="{164940D2-BF32-4DB9-96AD-6E4C91D90E9A}" type="datetimeFigureOut">
              <a:rPr lang="en-IN" smtClean="0"/>
              <a:t>13-04-2026</a:t>
            </a:fld>
            <a:endParaRPr lang="en-IN"/>
          </a:p>
        </p:txBody>
      </p:sp>
      <p:sp>
        <p:nvSpPr>
          <p:cNvPr id="3" name="Footer Placeholder 2">
            <a:extLst>
              <a:ext uri="{FF2B5EF4-FFF2-40B4-BE49-F238E27FC236}">
                <a16:creationId xmlns:a16="http://schemas.microsoft.com/office/drawing/2014/main" id="{8A3FE1B8-377E-6895-B539-B11FE0A8E7C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7A64CE1-6295-CFA9-6B9B-2934952B95DE}"/>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2684644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C208E-6488-489C-5F21-D27BC8B02F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EF3D0EB-744E-ABD1-D317-3E644FE442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793298C-0F58-08C4-E35F-CABB76B6F1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6EFBFC-5C0F-A8FB-B13D-127FE8DBFC22}"/>
              </a:ext>
            </a:extLst>
          </p:cNvPr>
          <p:cNvSpPr>
            <a:spLocks noGrp="1"/>
          </p:cNvSpPr>
          <p:nvPr>
            <p:ph type="dt" sz="half" idx="10"/>
          </p:nvPr>
        </p:nvSpPr>
        <p:spPr/>
        <p:txBody>
          <a:bodyPr/>
          <a:lstStyle/>
          <a:p>
            <a:fld id="{164940D2-BF32-4DB9-96AD-6E4C91D90E9A}" type="datetimeFigureOut">
              <a:rPr lang="en-IN" smtClean="0"/>
              <a:t>13-04-2026</a:t>
            </a:fld>
            <a:endParaRPr lang="en-IN"/>
          </a:p>
        </p:txBody>
      </p:sp>
      <p:sp>
        <p:nvSpPr>
          <p:cNvPr id="6" name="Footer Placeholder 5">
            <a:extLst>
              <a:ext uri="{FF2B5EF4-FFF2-40B4-BE49-F238E27FC236}">
                <a16:creationId xmlns:a16="http://schemas.microsoft.com/office/drawing/2014/main" id="{CEF67387-954A-2022-81DC-C977DBBE77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7F09DF-0AAE-B5EF-3EC5-2ABB810E039B}"/>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1355994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93DF0-8991-46DF-25EF-94ECB1B564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C1AD5D0-FDA6-04D3-F03B-D859C2DC9D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15DF2C0-89F3-B30A-733E-8221C16DD7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280859-527E-BCCB-D248-5AA462334FA0}"/>
              </a:ext>
            </a:extLst>
          </p:cNvPr>
          <p:cNvSpPr>
            <a:spLocks noGrp="1"/>
          </p:cNvSpPr>
          <p:nvPr>
            <p:ph type="dt" sz="half" idx="10"/>
          </p:nvPr>
        </p:nvSpPr>
        <p:spPr/>
        <p:txBody>
          <a:bodyPr/>
          <a:lstStyle/>
          <a:p>
            <a:fld id="{164940D2-BF32-4DB9-96AD-6E4C91D90E9A}" type="datetimeFigureOut">
              <a:rPr lang="en-IN" smtClean="0"/>
              <a:t>13-04-2026</a:t>
            </a:fld>
            <a:endParaRPr lang="en-IN"/>
          </a:p>
        </p:txBody>
      </p:sp>
      <p:sp>
        <p:nvSpPr>
          <p:cNvPr id="6" name="Footer Placeholder 5">
            <a:extLst>
              <a:ext uri="{FF2B5EF4-FFF2-40B4-BE49-F238E27FC236}">
                <a16:creationId xmlns:a16="http://schemas.microsoft.com/office/drawing/2014/main" id="{9013404B-CCD5-C7DD-AF0B-0494E9DA11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EA0D92-9723-F4E2-8864-1F80BDE88240}"/>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2546607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EBB6D-E0FF-7D6D-C82E-E8E193B4F67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8E7CB4C-430B-8E99-B46F-F51F7A747E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78E2DB-E0C9-084F-07AB-0A7C49A4D8B0}"/>
              </a:ext>
            </a:extLst>
          </p:cNvPr>
          <p:cNvSpPr>
            <a:spLocks noGrp="1"/>
          </p:cNvSpPr>
          <p:nvPr>
            <p:ph type="dt" sz="half" idx="10"/>
          </p:nvPr>
        </p:nvSpPr>
        <p:spPr/>
        <p:txBody>
          <a:bodyPr/>
          <a:lstStyle/>
          <a:p>
            <a:fld id="{164940D2-BF32-4DB9-96AD-6E4C91D90E9A}" type="datetimeFigureOut">
              <a:rPr lang="en-IN" smtClean="0"/>
              <a:t>13-04-2026</a:t>
            </a:fld>
            <a:endParaRPr lang="en-IN"/>
          </a:p>
        </p:txBody>
      </p:sp>
      <p:sp>
        <p:nvSpPr>
          <p:cNvPr id="5" name="Footer Placeholder 4">
            <a:extLst>
              <a:ext uri="{FF2B5EF4-FFF2-40B4-BE49-F238E27FC236}">
                <a16:creationId xmlns:a16="http://schemas.microsoft.com/office/drawing/2014/main" id="{5B47BA28-55B8-65EA-2274-530A4D1270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6A8E21-6D4C-436D-200F-FB66142876F7}"/>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3170502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9A8877A-5563-C3BB-8239-198164BA6F8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2B7D6B-0DDC-6DC8-2E91-E32BA5BD63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9BF9B9-184D-FB8D-2924-F19E03CDCC7D}"/>
              </a:ext>
            </a:extLst>
          </p:cNvPr>
          <p:cNvSpPr>
            <a:spLocks noGrp="1"/>
          </p:cNvSpPr>
          <p:nvPr>
            <p:ph type="dt" sz="half" idx="10"/>
          </p:nvPr>
        </p:nvSpPr>
        <p:spPr/>
        <p:txBody>
          <a:bodyPr/>
          <a:lstStyle/>
          <a:p>
            <a:fld id="{164940D2-BF32-4DB9-96AD-6E4C91D90E9A}" type="datetimeFigureOut">
              <a:rPr lang="en-IN" smtClean="0"/>
              <a:t>13-04-2026</a:t>
            </a:fld>
            <a:endParaRPr lang="en-IN"/>
          </a:p>
        </p:txBody>
      </p:sp>
      <p:sp>
        <p:nvSpPr>
          <p:cNvPr id="5" name="Footer Placeholder 4">
            <a:extLst>
              <a:ext uri="{FF2B5EF4-FFF2-40B4-BE49-F238E27FC236}">
                <a16:creationId xmlns:a16="http://schemas.microsoft.com/office/drawing/2014/main" id="{48BFF78D-1757-EA21-0641-DCB26A32E8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BC308F-3103-E3D2-8B11-D1753ACFDF6D}"/>
              </a:ext>
            </a:extLst>
          </p:cNvPr>
          <p:cNvSpPr>
            <a:spLocks noGrp="1"/>
          </p:cNvSpPr>
          <p:nvPr>
            <p:ph type="sldNum" sz="quarter" idx="12"/>
          </p:nvPr>
        </p:nvSpPr>
        <p:spPr/>
        <p:txBody>
          <a:bodyPr/>
          <a:lstStyle/>
          <a:p>
            <a:fld id="{7615CBFA-AB8A-409D-97EC-C017FB0C6C82}" type="slidenum">
              <a:rPr lang="en-IN" smtClean="0"/>
              <a:t>‹#›</a:t>
            </a:fld>
            <a:endParaRPr lang="en-IN"/>
          </a:p>
        </p:txBody>
      </p:sp>
    </p:spTree>
    <p:extLst>
      <p:ext uri="{BB962C8B-B14F-4D97-AF65-F5344CB8AC3E}">
        <p14:creationId xmlns:p14="http://schemas.microsoft.com/office/powerpoint/2010/main" val="682859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25AF81-CBCF-1F96-2D07-CD55F1FC31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669348D-D691-C337-285F-059A5F2327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EE52A6-07D8-4122-B388-7BF9E20F59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4940D2-BF32-4DB9-96AD-6E4C91D90E9A}" type="datetimeFigureOut">
              <a:rPr lang="en-IN" smtClean="0"/>
              <a:t>13-04-2026</a:t>
            </a:fld>
            <a:endParaRPr lang="en-IN"/>
          </a:p>
        </p:txBody>
      </p:sp>
      <p:sp>
        <p:nvSpPr>
          <p:cNvPr id="5" name="Footer Placeholder 4">
            <a:extLst>
              <a:ext uri="{FF2B5EF4-FFF2-40B4-BE49-F238E27FC236}">
                <a16:creationId xmlns:a16="http://schemas.microsoft.com/office/drawing/2014/main" id="{72EB5F46-F6A1-AECA-DD84-C0F928A648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B04F915-3C00-8522-CFEB-D2C3848CA8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15CBFA-AB8A-409D-97EC-C017FB0C6C82}" type="slidenum">
              <a:rPr lang="en-IN" smtClean="0"/>
              <a:t>‹#›</a:t>
            </a:fld>
            <a:endParaRPr lang="en-IN"/>
          </a:p>
        </p:txBody>
      </p:sp>
    </p:spTree>
    <p:extLst>
      <p:ext uri="{BB962C8B-B14F-4D97-AF65-F5344CB8AC3E}">
        <p14:creationId xmlns:p14="http://schemas.microsoft.com/office/powerpoint/2010/main" val="37447097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69882-8CA7-5BF4-60CC-AB1F59193AA2}"/>
              </a:ext>
            </a:extLst>
          </p:cNvPr>
          <p:cNvSpPr>
            <a:spLocks noGrp="1"/>
          </p:cNvSpPr>
          <p:nvPr>
            <p:ph type="ctrTitle"/>
          </p:nvPr>
        </p:nvSpPr>
        <p:spPr>
          <a:xfrm>
            <a:off x="1524000" y="1866507"/>
            <a:ext cx="9144000" cy="1348033"/>
          </a:xfrm>
        </p:spPr>
        <p:txBody>
          <a:bodyPr>
            <a:normAutofit/>
          </a:bodyPr>
          <a:lstStyle/>
          <a:p>
            <a:r>
              <a:rPr lang="en-IN" sz="5400" b="1" i="0" u="none" strike="noStrike" baseline="0" dirty="0">
                <a:latin typeface="Times New Roman" panose="02020603050405020304" pitchFamily="18" charset="0"/>
                <a:cs typeface="Times New Roman" panose="02020603050405020304" pitchFamily="18" charset="0"/>
              </a:rPr>
              <a:t>Module 2</a:t>
            </a:r>
            <a:endParaRPr lang="en-IN" sz="5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635D43F-BF30-1CCB-A158-8EEC384E6B0E}"/>
              </a:ext>
            </a:extLst>
          </p:cNvPr>
          <p:cNvSpPr>
            <a:spLocks noGrp="1"/>
          </p:cNvSpPr>
          <p:nvPr>
            <p:ph type="subTitle" idx="1"/>
          </p:nvPr>
        </p:nvSpPr>
        <p:spPr>
          <a:xfrm>
            <a:off x="612743" y="3643461"/>
            <a:ext cx="10444898" cy="1614339"/>
          </a:xfrm>
        </p:spPr>
        <p:txBody>
          <a:bodyPr>
            <a:normAutofit/>
          </a:bodyPr>
          <a:lstStyle/>
          <a:p>
            <a:r>
              <a:rPr lang="en-US" sz="4800" b="1" i="0" u="none" strike="noStrike" baseline="0" dirty="0">
                <a:latin typeface="Times New Roman" panose="02020603050405020304" pitchFamily="18" charset="0"/>
                <a:cs typeface="Times New Roman" panose="02020603050405020304" pitchFamily="18" charset="0"/>
              </a:rPr>
              <a:t>Chapter 2: The Relational Data Model</a:t>
            </a:r>
            <a:endParaRPr lang="en-IN" sz="4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1784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7989F-E4EE-2922-12BA-7C2F1DB8CBE2}"/>
              </a:ext>
            </a:extLst>
          </p:cNvPr>
          <p:cNvSpPr>
            <a:spLocks noGrp="1"/>
          </p:cNvSpPr>
          <p:nvPr>
            <p:ph type="title"/>
          </p:nvPr>
        </p:nvSpPr>
        <p:spPr>
          <a:xfrm>
            <a:off x="292443" y="-1"/>
            <a:ext cx="11409227" cy="689114"/>
          </a:xfrm>
        </p:spPr>
        <p:txBody>
          <a:bodyPr>
            <a:normAutofit fontScale="90000"/>
          </a:bodyPr>
          <a:lstStyle/>
          <a:p>
            <a:r>
              <a:rPr lang="en-IN" b="1" dirty="0">
                <a:latin typeface="Times New Roman" panose="02020603050405020304" pitchFamily="18" charset="0"/>
                <a:cs typeface="Times New Roman" panose="02020603050405020304" pitchFamily="18" charset="0"/>
              </a:rPr>
              <a:t>History of Relational data Model</a:t>
            </a:r>
          </a:p>
        </p:txBody>
      </p:sp>
      <p:sp>
        <p:nvSpPr>
          <p:cNvPr id="3" name="Content Placeholder 2">
            <a:extLst>
              <a:ext uri="{FF2B5EF4-FFF2-40B4-BE49-F238E27FC236}">
                <a16:creationId xmlns:a16="http://schemas.microsoft.com/office/drawing/2014/main" id="{EE076645-5BFB-7515-9737-A5D3595A8EA4}"/>
              </a:ext>
            </a:extLst>
          </p:cNvPr>
          <p:cNvSpPr>
            <a:spLocks noGrp="1"/>
          </p:cNvSpPr>
          <p:nvPr>
            <p:ph idx="1"/>
          </p:nvPr>
        </p:nvSpPr>
        <p:spPr>
          <a:xfrm>
            <a:off x="197708" y="583894"/>
            <a:ext cx="11701849" cy="6274106"/>
          </a:xfrm>
        </p:spPr>
        <p:txBody>
          <a:bodyPr>
            <a:normAutofit fontScale="92500"/>
          </a:bodyPr>
          <a:lstStyle/>
          <a:p>
            <a:pPr algn="just">
              <a:lnSpc>
                <a:spcPct val="150000"/>
              </a:lnSpc>
            </a:pPr>
            <a:r>
              <a:rPr lang="en-IN" sz="2400" dirty="0">
                <a:latin typeface="Times New Roman" panose="02020603050405020304" pitchFamily="18" charset="0"/>
                <a:cs typeface="Times New Roman" panose="02020603050405020304" pitchFamily="18" charset="0"/>
              </a:rPr>
              <a:t>Relational data model was first introduced in 1970 by a computer scientist and mathematician. </a:t>
            </a:r>
            <a:r>
              <a:rPr lang="en-IN" sz="2400" b="1" dirty="0">
                <a:latin typeface="Times New Roman" panose="02020603050405020304" pitchFamily="18" charset="0"/>
                <a:cs typeface="Times New Roman" panose="02020603050405020304" pitchFamily="18" charset="0"/>
              </a:rPr>
              <a:t>Ted Codd.</a:t>
            </a:r>
          </a:p>
          <a:p>
            <a:pPr algn="just">
              <a:lnSpc>
                <a:spcPct val="150000"/>
              </a:lnSpc>
            </a:pPr>
            <a:r>
              <a:rPr lang="en-IN" sz="2400" dirty="0">
                <a:latin typeface="Times New Roman" panose="02020603050405020304" pitchFamily="18" charset="0"/>
                <a:cs typeface="Times New Roman" panose="02020603050405020304" pitchFamily="18" charset="0"/>
              </a:rPr>
              <a:t>In this model he gave </a:t>
            </a:r>
            <a:r>
              <a:rPr lang="en-IN" sz="2400" b="1" dirty="0">
                <a:latin typeface="Times New Roman" panose="02020603050405020304" pitchFamily="18" charset="0"/>
                <a:cs typeface="Times New Roman" panose="02020603050405020304" pitchFamily="18" charset="0"/>
              </a:rPr>
              <a:t>a simple way of storing data </a:t>
            </a:r>
            <a:r>
              <a:rPr lang="en-IN" sz="2400" dirty="0">
                <a:latin typeface="Times New Roman" panose="02020603050405020304" pitchFamily="18" charset="0"/>
                <a:cs typeface="Times New Roman" panose="02020603050405020304" pitchFamily="18" charset="0"/>
              </a:rPr>
              <a:t>to as well as </a:t>
            </a:r>
            <a:r>
              <a:rPr lang="en-IN" sz="2400" b="1" dirty="0">
                <a:latin typeface="Times New Roman" panose="02020603050405020304" pitchFamily="18" charset="0"/>
                <a:cs typeface="Times New Roman" panose="02020603050405020304" pitchFamily="18" charset="0"/>
              </a:rPr>
              <a:t>retrieving data from rows and columns in a table </a:t>
            </a:r>
            <a:r>
              <a:rPr lang="en-IN" sz="2400" dirty="0">
                <a:latin typeface="Times New Roman" panose="02020603050405020304" pitchFamily="18" charset="0"/>
                <a:cs typeface="Times New Roman" panose="02020603050405020304" pitchFamily="18" charset="0"/>
              </a:rPr>
              <a:t>that is this model is all both organizing data into tables with rows and columns.</a:t>
            </a:r>
          </a:p>
          <a:p>
            <a:pPr algn="just">
              <a:lnSpc>
                <a:spcPct val="150000"/>
              </a:lnSpc>
            </a:pPr>
            <a:r>
              <a:rPr lang="en-IN" sz="2400" dirty="0">
                <a:latin typeface="Times New Roman" panose="02020603050405020304" pitchFamily="18" charset="0"/>
                <a:cs typeface="Times New Roman" panose="02020603050405020304" pitchFamily="18" charset="0"/>
              </a:rPr>
              <a:t>Relational  data model uses the concept of mathematical relation and theoretically it is based on set theory.</a:t>
            </a:r>
          </a:p>
          <a:p>
            <a:pPr algn="just">
              <a:lnSpc>
                <a:spcPct val="150000"/>
              </a:lnSpc>
            </a:pPr>
            <a:r>
              <a:rPr lang="en-IN" sz="2400" dirty="0">
                <a:latin typeface="Times New Roman" panose="02020603050405020304" pitchFamily="18" charset="0"/>
                <a:cs typeface="Times New Roman" panose="02020603050405020304" pitchFamily="18" charset="0"/>
              </a:rPr>
              <a:t>The first commercial implementations of the relational model was by Oracle DBMS and even IBM started to implement the same. SQL/DS System is IBMs first commercial relational database management system.</a:t>
            </a:r>
          </a:p>
          <a:p>
            <a:pPr algn="just">
              <a:lnSpc>
                <a:spcPct val="150000"/>
              </a:lnSpc>
            </a:pPr>
            <a:r>
              <a:rPr lang="en-IN" sz="2400" dirty="0">
                <a:latin typeface="Times New Roman" panose="02020603050405020304" pitchFamily="18" charset="0"/>
                <a:cs typeface="Times New Roman" panose="02020603050405020304" pitchFamily="18" charset="0"/>
              </a:rPr>
              <a:t>Current popular RDBMS are the SQL server and access from Microsoft ,DB2 and Informix from IBM etc. SQL query language became the standard language for these commercial RDBMS.</a:t>
            </a:r>
          </a:p>
          <a:p>
            <a:pPr marL="0" indent="0">
              <a:buNone/>
            </a:pPr>
            <a:endParaRPr lang="en-IN" dirty="0"/>
          </a:p>
          <a:p>
            <a:endParaRPr lang="en-IN" dirty="0"/>
          </a:p>
        </p:txBody>
      </p:sp>
    </p:spTree>
    <p:extLst>
      <p:ext uri="{BB962C8B-B14F-4D97-AF65-F5344CB8AC3E}">
        <p14:creationId xmlns:p14="http://schemas.microsoft.com/office/powerpoint/2010/main" val="1409677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2A6B5-7267-7981-4FF8-CDC7D8F0ECDB}"/>
              </a:ext>
            </a:extLst>
          </p:cNvPr>
          <p:cNvSpPr>
            <a:spLocks noGrp="1"/>
          </p:cNvSpPr>
          <p:nvPr>
            <p:ph type="title"/>
          </p:nvPr>
        </p:nvSpPr>
        <p:spPr>
          <a:xfrm>
            <a:off x="237067" y="0"/>
            <a:ext cx="11116733" cy="681038"/>
          </a:xfrm>
        </p:spPr>
        <p:txBody>
          <a:bodyPr>
            <a:normAutofit fontScale="90000"/>
          </a:bodyPr>
          <a:lstStyle/>
          <a:p>
            <a:r>
              <a:rPr lang="en-IN" b="1" dirty="0">
                <a:latin typeface="Times New Roman" panose="02020603050405020304" pitchFamily="18" charset="0"/>
                <a:cs typeface="Times New Roman" panose="02020603050405020304" pitchFamily="18" charset="0"/>
              </a:rPr>
              <a:t>Relational Model Concepts</a:t>
            </a:r>
          </a:p>
        </p:txBody>
      </p:sp>
      <p:sp>
        <p:nvSpPr>
          <p:cNvPr id="3" name="Content Placeholder 2">
            <a:extLst>
              <a:ext uri="{FF2B5EF4-FFF2-40B4-BE49-F238E27FC236}">
                <a16:creationId xmlns:a16="http://schemas.microsoft.com/office/drawing/2014/main" id="{A2C115DD-0F14-E98D-A742-AAB2F4D8C305}"/>
              </a:ext>
            </a:extLst>
          </p:cNvPr>
          <p:cNvSpPr>
            <a:spLocks noGrp="1"/>
          </p:cNvSpPr>
          <p:nvPr>
            <p:ph idx="1"/>
          </p:nvPr>
        </p:nvSpPr>
        <p:spPr>
          <a:xfrm>
            <a:off x="237067" y="681038"/>
            <a:ext cx="11819465" cy="6176961"/>
          </a:xfrm>
        </p:spPr>
        <p:txBody>
          <a:bodyPr>
            <a:normAutofit/>
          </a:bodyPr>
          <a:lstStyle/>
          <a:p>
            <a:pPr algn="just">
              <a:lnSpc>
                <a:spcPct val="150000"/>
              </a:lnSpc>
            </a:pPr>
            <a:r>
              <a:rPr lang="en-IN" dirty="0">
                <a:latin typeface="Times New Roman" panose="02020603050405020304" pitchFamily="18" charset="0"/>
                <a:cs typeface="Times New Roman" panose="02020603050405020304" pitchFamily="18" charset="0"/>
              </a:rPr>
              <a:t>Relational database model organizes the data in the form of tables or in other words relational model represents data as a </a:t>
            </a:r>
            <a:r>
              <a:rPr lang="en-IN" b="1" dirty="0">
                <a:latin typeface="Times New Roman" panose="02020603050405020304" pitchFamily="18" charset="0"/>
                <a:cs typeface="Times New Roman" panose="02020603050405020304" pitchFamily="18" charset="0"/>
              </a:rPr>
              <a:t>collection of tables.</a:t>
            </a:r>
          </a:p>
          <a:p>
            <a:pPr algn="just">
              <a:lnSpc>
                <a:spcPct val="150000"/>
              </a:lnSpc>
            </a:pPr>
            <a:r>
              <a:rPr lang="en-IN" dirty="0">
                <a:latin typeface="Times New Roman" panose="02020603050405020304" pitchFamily="18" charset="0"/>
                <a:cs typeface="Times New Roman" panose="02020603050405020304" pitchFamily="18" charset="0"/>
              </a:rPr>
              <a:t>In RDBMS a table is also called a </a:t>
            </a:r>
            <a:r>
              <a:rPr lang="en-IN" b="1" dirty="0">
                <a:latin typeface="Times New Roman" panose="02020603050405020304" pitchFamily="18" charset="0"/>
                <a:cs typeface="Times New Roman" panose="02020603050405020304" pitchFamily="18" charset="0"/>
              </a:rPr>
              <a:t>relation.</a:t>
            </a:r>
          </a:p>
          <a:p>
            <a:endParaRPr lang="en-IN" dirty="0"/>
          </a:p>
          <a:p>
            <a:pPr marL="0" indent="0">
              <a:buNone/>
            </a:pPr>
            <a:endParaRPr lang="en-IN" dirty="0"/>
          </a:p>
        </p:txBody>
      </p:sp>
      <p:pic>
        <p:nvPicPr>
          <p:cNvPr id="5" name="Picture 4">
            <a:extLst>
              <a:ext uri="{FF2B5EF4-FFF2-40B4-BE49-F238E27FC236}">
                <a16:creationId xmlns:a16="http://schemas.microsoft.com/office/drawing/2014/main" id="{9AA15D90-1C1C-7E6E-D217-F45F5FE15C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1" y="3014133"/>
            <a:ext cx="8771466" cy="3788447"/>
          </a:xfrm>
          <a:prstGeom prst="rect">
            <a:avLst/>
          </a:prstGeom>
        </p:spPr>
      </p:pic>
    </p:spTree>
    <p:extLst>
      <p:ext uri="{BB962C8B-B14F-4D97-AF65-F5344CB8AC3E}">
        <p14:creationId xmlns:p14="http://schemas.microsoft.com/office/powerpoint/2010/main" val="4026881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7DB276-1800-5F43-8989-C0AD8F47ADB3}"/>
              </a:ext>
            </a:extLst>
          </p:cNvPr>
          <p:cNvSpPr>
            <a:spLocks noGrp="1"/>
          </p:cNvSpPr>
          <p:nvPr>
            <p:ph idx="1"/>
          </p:nvPr>
        </p:nvSpPr>
        <p:spPr>
          <a:xfrm>
            <a:off x="0" y="-135466"/>
            <a:ext cx="11353800" cy="6824134"/>
          </a:xfrm>
        </p:spPr>
        <p:txBody>
          <a:bodyPr>
            <a:normAutofit/>
          </a:bodyPr>
          <a:lstStyle/>
          <a:p>
            <a:pPr algn="just">
              <a:lnSpc>
                <a:spcPct val="150000"/>
              </a:lnSpc>
            </a:pPr>
            <a:r>
              <a:rPr lang="en-IN" dirty="0">
                <a:latin typeface="Times New Roman" panose="02020603050405020304" pitchFamily="18" charset="0"/>
                <a:cs typeface="Times New Roman" panose="02020603050405020304" pitchFamily="18" charset="0"/>
              </a:rPr>
              <a:t>Here STUDENT is a </a:t>
            </a:r>
            <a:r>
              <a:rPr lang="en-IN" b="1" dirty="0">
                <a:latin typeface="Times New Roman" panose="02020603050405020304" pitchFamily="18" charset="0"/>
                <a:cs typeface="Times New Roman" panose="02020603050405020304" pitchFamily="18" charset="0"/>
              </a:rPr>
              <a:t>Relation name or a table name.</a:t>
            </a:r>
            <a:endParaRPr lang="en-IN" dirty="0">
              <a:latin typeface="Times New Roman" panose="02020603050405020304" pitchFamily="18" charset="0"/>
              <a:cs typeface="Times New Roman" panose="02020603050405020304" pitchFamily="18" charset="0"/>
            </a:endParaRPr>
          </a:p>
          <a:p>
            <a:pPr algn="just">
              <a:lnSpc>
                <a:spcPct val="150000"/>
              </a:lnSpc>
            </a:pPr>
            <a:r>
              <a:rPr lang="en-IN" dirty="0">
                <a:latin typeface="Times New Roman" panose="02020603050405020304" pitchFamily="18" charset="0"/>
                <a:cs typeface="Times New Roman" panose="02020603050405020304" pitchFamily="18" charset="0"/>
              </a:rPr>
              <a:t>Each row are called </a:t>
            </a:r>
            <a:r>
              <a:rPr lang="en-IN" b="1" dirty="0">
                <a:latin typeface="Times New Roman" panose="02020603050405020304" pitchFamily="18" charset="0"/>
                <a:cs typeface="Times New Roman" panose="02020603050405020304" pitchFamily="18" charset="0"/>
              </a:rPr>
              <a:t>tuple.</a:t>
            </a:r>
          </a:p>
          <a:p>
            <a:pPr algn="just">
              <a:lnSpc>
                <a:spcPct val="150000"/>
              </a:lnSpc>
            </a:pPr>
            <a:r>
              <a:rPr lang="en-IN" dirty="0">
                <a:latin typeface="Times New Roman" panose="02020603050405020304" pitchFamily="18" charset="0"/>
                <a:cs typeface="Times New Roman" panose="02020603050405020304" pitchFamily="18" charset="0"/>
              </a:rPr>
              <a:t>Here we have two tuples or two rows.</a:t>
            </a:r>
          </a:p>
          <a:p>
            <a:pPr algn="just">
              <a:lnSpc>
                <a:spcPct val="150000"/>
              </a:lnSpc>
            </a:pPr>
            <a:r>
              <a:rPr lang="en-IN" dirty="0">
                <a:latin typeface="Times New Roman" panose="02020603050405020304" pitchFamily="18" charset="0"/>
                <a:cs typeface="Times New Roman" panose="02020603050405020304" pitchFamily="18" charset="0"/>
              </a:rPr>
              <a:t>Each column or column header are called as </a:t>
            </a:r>
            <a:r>
              <a:rPr lang="en-IN" b="1" dirty="0">
                <a:latin typeface="Times New Roman" panose="02020603050405020304" pitchFamily="18" charset="0"/>
                <a:cs typeface="Times New Roman" panose="02020603050405020304" pitchFamily="18" charset="0"/>
              </a:rPr>
              <a:t>attributes or fields.</a:t>
            </a:r>
          </a:p>
          <a:p>
            <a:pPr algn="just">
              <a:lnSpc>
                <a:spcPct val="150000"/>
              </a:lnSpc>
            </a:pPr>
            <a:r>
              <a:rPr lang="en-IN" dirty="0">
                <a:latin typeface="Times New Roman" panose="02020603050405020304" pitchFamily="18" charset="0"/>
                <a:cs typeface="Times New Roman" panose="02020603050405020304" pitchFamily="18" charset="0"/>
              </a:rPr>
              <a:t>In this relation student we have </a:t>
            </a:r>
            <a:r>
              <a:rPr lang="en-IN" b="1" dirty="0">
                <a:latin typeface="Times New Roman" panose="02020603050405020304" pitchFamily="18" charset="0"/>
                <a:cs typeface="Times New Roman" panose="02020603050405020304" pitchFamily="18" charset="0"/>
              </a:rPr>
              <a:t>four attributes of four columns.</a:t>
            </a:r>
          </a:p>
          <a:p>
            <a:endParaRPr lang="en-IN" dirty="0"/>
          </a:p>
        </p:txBody>
      </p:sp>
      <p:pic>
        <p:nvPicPr>
          <p:cNvPr id="4" name="Picture 3">
            <a:extLst>
              <a:ext uri="{FF2B5EF4-FFF2-40B4-BE49-F238E27FC236}">
                <a16:creationId xmlns:a16="http://schemas.microsoft.com/office/drawing/2014/main" id="{593EAC33-620C-486B-6428-53FF4758DC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0534" y="3882353"/>
            <a:ext cx="8771466" cy="2975647"/>
          </a:xfrm>
          <a:prstGeom prst="rect">
            <a:avLst/>
          </a:prstGeom>
        </p:spPr>
      </p:pic>
    </p:spTree>
    <p:extLst>
      <p:ext uri="{BB962C8B-B14F-4D97-AF65-F5344CB8AC3E}">
        <p14:creationId xmlns:p14="http://schemas.microsoft.com/office/powerpoint/2010/main" val="1362485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84B39-2395-1FB8-34F9-2CA3515A898B}"/>
              </a:ext>
            </a:extLst>
          </p:cNvPr>
          <p:cNvSpPr>
            <a:spLocks noGrp="1"/>
          </p:cNvSpPr>
          <p:nvPr>
            <p:ph type="title"/>
          </p:nvPr>
        </p:nvSpPr>
        <p:spPr>
          <a:xfrm>
            <a:off x="444843" y="1"/>
            <a:ext cx="11154490" cy="863600"/>
          </a:xfrm>
        </p:spPr>
        <p:txBody>
          <a:bodyPr/>
          <a:lstStyle/>
          <a:p>
            <a:r>
              <a:rPr lang="en-IN" b="1" dirty="0">
                <a:latin typeface="Times New Roman" panose="02020603050405020304" pitchFamily="18" charset="0"/>
                <a:cs typeface="Times New Roman" panose="02020603050405020304" pitchFamily="18" charset="0"/>
              </a:rPr>
              <a:t>Domain</a:t>
            </a:r>
          </a:p>
        </p:txBody>
      </p:sp>
      <p:sp>
        <p:nvSpPr>
          <p:cNvPr id="3" name="Content Placeholder 2">
            <a:extLst>
              <a:ext uri="{FF2B5EF4-FFF2-40B4-BE49-F238E27FC236}">
                <a16:creationId xmlns:a16="http://schemas.microsoft.com/office/drawing/2014/main" id="{2A49CFAB-7ABD-504D-D6FE-5E0B6D18DAA2}"/>
              </a:ext>
            </a:extLst>
          </p:cNvPr>
          <p:cNvSpPr>
            <a:spLocks noGrp="1"/>
          </p:cNvSpPr>
          <p:nvPr>
            <p:ph idx="1"/>
          </p:nvPr>
        </p:nvSpPr>
        <p:spPr>
          <a:xfrm>
            <a:off x="444843" y="711200"/>
            <a:ext cx="11454714" cy="6519333"/>
          </a:xfrm>
        </p:spPr>
        <p:txBody>
          <a:bodyPr>
            <a:normAutofit fontScale="85000" lnSpcReduction="20000"/>
          </a:bodyPr>
          <a:lstStyle/>
          <a:p>
            <a:pPr algn="just">
              <a:lnSpc>
                <a:spcPct val="150000"/>
              </a:lnSpc>
            </a:pPr>
            <a:r>
              <a:rPr lang="en-IN" dirty="0">
                <a:latin typeface="Times New Roman" panose="02020603050405020304" pitchFamily="18" charset="0"/>
                <a:cs typeface="Times New Roman" panose="02020603050405020304" pitchFamily="18" charset="0"/>
              </a:rPr>
              <a:t>Domain in mathematics is a set of possible values that you can input.</a:t>
            </a:r>
          </a:p>
          <a:p>
            <a:pPr algn="just">
              <a:lnSpc>
                <a:spcPct val="150000"/>
              </a:lnSpc>
            </a:pPr>
            <a:r>
              <a:rPr lang="en-IN" dirty="0">
                <a:latin typeface="Times New Roman" panose="02020603050405020304" pitchFamily="18" charset="0"/>
                <a:cs typeface="Times New Roman" panose="02020603050405020304" pitchFamily="18" charset="0"/>
              </a:rPr>
              <a:t>In Relational database it is a set of atomic values that are allowed for an attribute.</a:t>
            </a:r>
          </a:p>
          <a:p>
            <a:pPr algn="just">
              <a:lnSpc>
                <a:spcPct val="150000"/>
              </a:lnSpc>
            </a:pPr>
            <a:r>
              <a:rPr lang="en-IN" dirty="0">
                <a:latin typeface="Times New Roman" panose="02020603050405020304" pitchFamily="18" charset="0"/>
                <a:cs typeface="Times New Roman" panose="02020603050405020304" pitchFamily="18" charset="0"/>
              </a:rPr>
              <a:t>Atomic: Each values in that domain is not divisible further.</a:t>
            </a:r>
          </a:p>
          <a:p>
            <a:pPr marL="0" indent="0" algn="just">
              <a:lnSpc>
                <a:spcPct val="150000"/>
              </a:lnSpc>
              <a:buNone/>
            </a:pPr>
            <a:r>
              <a:rPr lang="en-IN" dirty="0">
                <a:latin typeface="Times New Roman" panose="02020603050405020304" pitchFamily="18" charset="0"/>
                <a:cs typeface="Times New Roman" panose="02020603050405020304" pitchFamily="18" charset="0"/>
              </a:rPr>
              <a:t>Ex: 1) Name : String of characters that represent name of a person.</a:t>
            </a:r>
          </a:p>
          <a:p>
            <a:pPr marL="0" indent="0" algn="just">
              <a:lnSpc>
                <a:spcPct val="150000"/>
              </a:lnSpc>
              <a:buNone/>
            </a:pPr>
            <a:r>
              <a:rPr lang="en-IN" dirty="0">
                <a:latin typeface="Times New Roman" panose="02020603050405020304" pitchFamily="18" charset="0"/>
                <a:cs typeface="Times New Roman" panose="02020603050405020304" pitchFamily="18" charset="0"/>
              </a:rPr>
              <a:t>A set of values to the attribute name should be a string of characters that represent the name of person.</a:t>
            </a:r>
          </a:p>
          <a:p>
            <a:pPr marL="0" indent="0" algn="just">
              <a:lnSpc>
                <a:spcPct val="150000"/>
              </a:lnSpc>
              <a:buNone/>
            </a:pPr>
            <a:r>
              <a:rPr lang="en-IN" dirty="0">
                <a:latin typeface="Times New Roman" panose="02020603050405020304" pitchFamily="18" charset="0"/>
                <a:cs typeface="Times New Roman" panose="02020603050405020304" pitchFamily="18" charset="0"/>
              </a:rPr>
              <a:t>2) </a:t>
            </a:r>
            <a:r>
              <a:rPr lang="en-IN" dirty="0" err="1">
                <a:latin typeface="Times New Roman" panose="02020603050405020304" pitchFamily="18" charset="0"/>
                <a:cs typeface="Times New Roman" panose="02020603050405020304" pitchFamily="18" charset="0"/>
              </a:rPr>
              <a:t>Employee_ages</a:t>
            </a:r>
            <a:r>
              <a:rPr lang="en-IN" dirty="0">
                <a:latin typeface="Times New Roman" panose="02020603050405020304" pitchFamily="18" charset="0"/>
                <a:cs typeface="Times New Roman" panose="02020603050405020304" pitchFamily="18" charset="0"/>
              </a:rPr>
              <a:t>: Possible ages of employees of a company (Values between 20 and 70 years old).</a:t>
            </a:r>
          </a:p>
          <a:p>
            <a:pPr algn="just">
              <a:lnSpc>
                <a:spcPct val="150000"/>
              </a:lnSpc>
            </a:pPr>
            <a:r>
              <a:rPr lang="en-IN" dirty="0">
                <a:latin typeface="Times New Roman" panose="02020603050405020304" pitchFamily="18" charset="0"/>
                <a:cs typeface="Times New Roman" panose="02020603050405020304" pitchFamily="18" charset="0"/>
              </a:rPr>
              <a:t>Domine not only gives set of values that are allowed for a attributes it also specifies the data type allowed.</a:t>
            </a:r>
          </a:p>
          <a:p>
            <a:pPr algn="just">
              <a:lnSpc>
                <a:spcPct val="150000"/>
              </a:lnSpc>
            </a:pPr>
            <a:r>
              <a:rPr lang="en-IN" dirty="0">
                <a:latin typeface="Times New Roman" panose="02020603050405020304" pitchFamily="18" charset="0"/>
                <a:cs typeface="Times New Roman" panose="02020603050405020304" pitchFamily="18" charset="0"/>
              </a:rPr>
              <a:t>Ex: Age has to be a positive integer.</a:t>
            </a:r>
          </a:p>
          <a:p>
            <a:pPr lvl="1"/>
            <a:endParaRPr lang="en-IN" dirty="0"/>
          </a:p>
        </p:txBody>
      </p:sp>
    </p:spTree>
    <p:extLst>
      <p:ext uri="{BB962C8B-B14F-4D97-AF65-F5344CB8AC3E}">
        <p14:creationId xmlns:p14="http://schemas.microsoft.com/office/powerpoint/2010/main" val="1043002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3D88AD4-2748-AB4C-6173-09B864E90A7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1067" y="338667"/>
            <a:ext cx="11277600" cy="6180666"/>
          </a:xfrm>
        </p:spPr>
      </p:pic>
    </p:spTree>
    <p:extLst>
      <p:ext uri="{BB962C8B-B14F-4D97-AF65-F5344CB8AC3E}">
        <p14:creationId xmlns:p14="http://schemas.microsoft.com/office/powerpoint/2010/main" val="147184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CDCB65-7A62-D9CE-F590-C5F24699C4A2}"/>
              </a:ext>
            </a:extLst>
          </p:cNvPr>
          <p:cNvSpPr>
            <a:spLocks noGrp="1"/>
          </p:cNvSpPr>
          <p:nvPr>
            <p:ph sz="half" idx="1"/>
          </p:nvPr>
        </p:nvSpPr>
        <p:spPr>
          <a:xfrm>
            <a:off x="330926" y="0"/>
            <a:ext cx="4990011" cy="6176963"/>
          </a:xfrm>
        </p:spPr>
        <p:txBody>
          <a:bodyPr>
            <a:normAutofit/>
          </a:bodyPr>
          <a:lstStyle/>
          <a:p>
            <a:pPr marL="0" indent="0">
              <a:lnSpc>
                <a:spcPct val="150000"/>
              </a:lnSpc>
              <a:buNone/>
            </a:pPr>
            <a:r>
              <a:rPr lang="en-US" b="1" dirty="0">
                <a:latin typeface="Times New Roman" panose="02020603050405020304" pitchFamily="18" charset="0"/>
                <a:cs typeface="Times New Roman" panose="02020603050405020304" pitchFamily="18" charset="0"/>
              </a:rPr>
              <a:t>Attribute</a:t>
            </a:r>
          </a:p>
          <a:p>
            <a:pPr>
              <a:lnSpc>
                <a:spcPct val="150000"/>
              </a:lnSpc>
            </a:pPr>
            <a:r>
              <a:rPr lang="en-US" dirty="0">
                <a:latin typeface="Times New Roman" panose="02020603050405020304" pitchFamily="18" charset="0"/>
                <a:cs typeface="Times New Roman" panose="02020603050405020304" pitchFamily="18" charset="0"/>
              </a:rPr>
              <a:t>Represents a property or characteristic of an entity. Corresponds to a column in a database table. </a:t>
            </a:r>
          </a:p>
          <a:p>
            <a:pPr>
              <a:lnSpc>
                <a:spcPct val="150000"/>
              </a:lnSpc>
            </a:pPr>
            <a:r>
              <a:rPr lang="en-US" b="1" dirty="0">
                <a:latin typeface="Times New Roman" panose="02020603050405020304" pitchFamily="18" charset="0"/>
                <a:cs typeface="Times New Roman" panose="02020603050405020304" pitchFamily="18" charset="0"/>
              </a:rPr>
              <a:t>Examples: </a:t>
            </a:r>
            <a:r>
              <a:rPr lang="en-US" dirty="0" err="1">
                <a:latin typeface="Times New Roman" panose="02020603050405020304" pitchFamily="18" charset="0"/>
                <a:cs typeface="Times New Roman" panose="02020603050405020304" pitchFamily="18" charset="0"/>
              </a:rPr>
              <a:t>EmployeeID</a:t>
            </a:r>
            <a:r>
              <a:rPr lang="en-US" dirty="0">
                <a:latin typeface="Times New Roman" panose="02020603050405020304" pitchFamily="18" charset="0"/>
                <a:cs typeface="Times New Roman" panose="02020603050405020304" pitchFamily="18" charset="0"/>
              </a:rPr>
              <a:t>, Name, </a:t>
            </a:r>
            <a:r>
              <a:rPr lang="en-US" dirty="0" err="1">
                <a:latin typeface="Times New Roman" panose="02020603050405020304" pitchFamily="18" charset="0"/>
                <a:cs typeface="Times New Roman" panose="02020603050405020304" pitchFamily="18" charset="0"/>
              </a:rPr>
              <a:t>DateOfBirth</a:t>
            </a:r>
            <a:r>
              <a:rPr lang="en-US" dirty="0">
                <a:latin typeface="Times New Roman" panose="02020603050405020304" pitchFamily="18" charset="0"/>
                <a:cs typeface="Times New Roman" panose="02020603050405020304" pitchFamily="18" charset="0"/>
              </a:rPr>
              <a:t>, Salary. </a:t>
            </a:r>
            <a:endParaRPr lang="en-IN"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E9C2BFF6-21C1-2C61-903E-010B3A565B8C}"/>
              </a:ext>
            </a:extLst>
          </p:cNvPr>
          <p:cNvSpPr>
            <a:spLocks noGrp="1"/>
          </p:cNvSpPr>
          <p:nvPr>
            <p:ph sz="half" idx="2"/>
          </p:nvPr>
        </p:nvSpPr>
        <p:spPr>
          <a:xfrm>
            <a:off x="5381897" y="156754"/>
            <a:ext cx="6365965" cy="6548846"/>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Domain</a:t>
            </a:r>
          </a:p>
          <a:p>
            <a:pPr>
              <a:lnSpc>
                <a:spcPct val="150000"/>
              </a:lnSpc>
            </a:pPr>
            <a:r>
              <a:rPr lang="en-US" dirty="0">
                <a:latin typeface="Times New Roman" panose="02020603050405020304" pitchFamily="18" charset="0"/>
                <a:cs typeface="Times New Roman" panose="02020603050405020304" pitchFamily="18" charset="0"/>
              </a:rPr>
              <a:t>Defines the set of possible values that an attribute can take. Essentially, it specifies the data type and constraints for an attribute. </a:t>
            </a:r>
          </a:p>
          <a:p>
            <a:pPr>
              <a:lnSpc>
                <a:spcPct val="150000"/>
              </a:lnSpc>
            </a:pPr>
            <a:r>
              <a:rPr lang="en-US" b="1" dirty="0">
                <a:latin typeface="Times New Roman" panose="02020603050405020304" pitchFamily="18" charset="0"/>
                <a:cs typeface="Times New Roman" panose="02020603050405020304" pitchFamily="18" charset="0"/>
              </a:rPr>
              <a:t>Examples: </a:t>
            </a:r>
            <a:r>
              <a:rPr lang="en-US" dirty="0">
                <a:latin typeface="Times New Roman" panose="02020603050405020304" pitchFamily="18" charset="0"/>
                <a:cs typeface="Times New Roman" panose="02020603050405020304" pitchFamily="18" charset="0"/>
              </a:rPr>
              <a:t>The domain of </a:t>
            </a:r>
            <a:r>
              <a:rPr lang="en-US" dirty="0" err="1">
                <a:latin typeface="Times New Roman" panose="02020603050405020304" pitchFamily="18" charset="0"/>
                <a:cs typeface="Times New Roman" panose="02020603050405020304" pitchFamily="18" charset="0"/>
              </a:rPr>
              <a:t>EmployeeID</a:t>
            </a:r>
            <a:r>
              <a:rPr lang="en-US" dirty="0">
                <a:latin typeface="Times New Roman" panose="02020603050405020304" pitchFamily="18" charset="0"/>
                <a:cs typeface="Times New Roman" panose="02020603050405020304" pitchFamily="18" charset="0"/>
              </a:rPr>
              <a:t> might be a set of positive integers. </a:t>
            </a:r>
          </a:p>
          <a:p>
            <a:pPr>
              <a:lnSpc>
                <a:spcPct val="150000"/>
              </a:lnSpc>
            </a:pPr>
            <a:r>
              <a:rPr lang="en-US" dirty="0">
                <a:latin typeface="Times New Roman" panose="02020603050405020304" pitchFamily="18" charset="0"/>
                <a:cs typeface="Times New Roman" panose="02020603050405020304" pitchFamily="18" charset="0"/>
              </a:rPr>
              <a:t>The domain of </a:t>
            </a:r>
            <a:r>
              <a:rPr lang="en-US" dirty="0" err="1">
                <a:latin typeface="Times New Roman" panose="02020603050405020304" pitchFamily="18" charset="0"/>
                <a:cs typeface="Times New Roman" panose="02020603050405020304" pitchFamily="18" charset="0"/>
              </a:rPr>
              <a:t>DateOfBirth</a:t>
            </a:r>
            <a:r>
              <a:rPr lang="en-US" dirty="0">
                <a:latin typeface="Times New Roman" panose="02020603050405020304" pitchFamily="18" charset="0"/>
                <a:cs typeface="Times New Roman" panose="02020603050405020304" pitchFamily="18" charset="0"/>
              </a:rPr>
              <a:t> might be a set of valid dates. The domain of Salary might be a set of valid numbers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7220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995DC-32A7-02E4-2C83-9C3BCC53A492}"/>
              </a:ext>
            </a:extLst>
          </p:cNvPr>
          <p:cNvSpPr>
            <a:spLocks noGrp="1"/>
          </p:cNvSpPr>
          <p:nvPr>
            <p:ph type="title"/>
          </p:nvPr>
        </p:nvSpPr>
        <p:spPr>
          <a:xfrm>
            <a:off x="186267" y="1"/>
            <a:ext cx="11167533" cy="790831"/>
          </a:xfrm>
        </p:spPr>
        <p:txBody>
          <a:bodyPr/>
          <a:lstStyle/>
          <a:p>
            <a:r>
              <a:rPr lang="en-IN" b="1" dirty="0">
                <a:latin typeface="Times New Roman" panose="02020603050405020304" pitchFamily="18" charset="0"/>
                <a:cs typeface="Times New Roman" panose="02020603050405020304" pitchFamily="18" charset="0"/>
              </a:rPr>
              <a:t>Relation schema</a:t>
            </a:r>
          </a:p>
        </p:txBody>
      </p:sp>
      <p:sp>
        <p:nvSpPr>
          <p:cNvPr id="3" name="Content Placeholder 2">
            <a:extLst>
              <a:ext uri="{FF2B5EF4-FFF2-40B4-BE49-F238E27FC236}">
                <a16:creationId xmlns:a16="http://schemas.microsoft.com/office/drawing/2014/main" id="{CD0A191B-2582-A662-60C7-0B07BE718486}"/>
              </a:ext>
            </a:extLst>
          </p:cNvPr>
          <p:cNvSpPr>
            <a:spLocks noGrp="1"/>
          </p:cNvSpPr>
          <p:nvPr>
            <p:ph idx="1"/>
          </p:nvPr>
        </p:nvSpPr>
        <p:spPr>
          <a:xfrm>
            <a:off x="186267" y="790832"/>
            <a:ext cx="11768665" cy="5647038"/>
          </a:xfrm>
        </p:spPr>
        <p:txBody>
          <a:bodyPr/>
          <a:lstStyle/>
          <a:p>
            <a:pPr algn="just">
              <a:lnSpc>
                <a:spcPct val="150000"/>
              </a:lnSpc>
            </a:pPr>
            <a:r>
              <a:rPr lang="en-IN" sz="3000" dirty="0">
                <a:latin typeface="Times New Roman" panose="02020603050405020304" pitchFamily="18" charset="0"/>
                <a:cs typeface="Times New Roman" panose="02020603050405020304" pitchFamily="18" charset="0"/>
              </a:rPr>
              <a:t>Relation schema is used to </a:t>
            </a:r>
            <a:r>
              <a:rPr lang="en-IN" sz="3000" b="1" dirty="0">
                <a:latin typeface="Times New Roman" panose="02020603050405020304" pitchFamily="18" charset="0"/>
                <a:cs typeface="Times New Roman" panose="02020603050405020304" pitchFamily="18" charset="0"/>
              </a:rPr>
              <a:t>describes a relation or a table.</a:t>
            </a:r>
          </a:p>
          <a:p>
            <a:pPr algn="just">
              <a:lnSpc>
                <a:spcPct val="150000"/>
              </a:lnSpc>
            </a:pPr>
            <a:r>
              <a:rPr lang="en-IN" sz="3000" dirty="0">
                <a:latin typeface="Times New Roman" panose="02020603050405020304" pitchFamily="18" charset="0"/>
                <a:cs typeface="Times New Roman" panose="02020603050405020304" pitchFamily="18" charset="0"/>
              </a:rPr>
              <a:t>A relation schema  is made up of a </a:t>
            </a:r>
            <a:r>
              <a:rPr lang="en-IN" sz="3000" b="1" dirty="0">
                <a:latin typeface="Times New Roman" panose="02020603050405020304" pitchFamily="18" charset="0"/>
                <a:cs typeface="Times New Roman" panose="02020603050405020304" pitchFamily="18" charset="0"/>
              </a:rPr>
              <a:t>relation name R </a:t>
            </a:r>
            <a:r>
              <a:rPr lang="en-IN" sz="3000" dirty="0">
                <a:latin typeface="Times New Roman" panose="02020603050405020304" pitchFamily="18" charset="0"/>
                <a:cs typeface="Times New Roman" panose="02020603050405020304" pitchFamily="18" charset="0"/>
              </a:rPr>
              <a:t>and a list of attributes A1 ,A2 ,A3,………….,An.</a:t>
            </a:r>
          </a:p>
          <a:p>
            <a:pPr marL="0" indent="0">
              <a:buNone/>
            </a:pPr>
            <a:endParaRPr lang="en-IN" dirty="0"/>
          </a:p>
          <a:p>
            <a:pPr marL="0" indent="0">
              <a:buNone/>
            </a:pPr>
            <a:endParaRPr lang="en-IN" sz="3000" dirty="0">
              <a:latin typeface="Times New Roman" panose="02020603050405020304" pitchFamily="18" charset="0"/>
              <a:cs typeface="Times New Roman" panose="02020603050405020304" pitchFamily="18" charset="0"/>
            </a:endParaRPr>
          </a:p>
          <a:p>
            <a:pPr>
              <a:lnSpc>
                <a:spcPct val="150000"/>
              </a:lnSpc>
            </a:pPr>
            <a:r>
              <a:rPr lang="en-IN" sz="3000" dirty="0">
                <a:latin typeface="Times New Roman" panose="02020603050405020304" pitchFamily="18" charset="0"/>
                <a:cs typeface="Times New Roman" panose="02020603050405020304" pitchFamily="18" charset="0"/>
              </a:rPr>
              <a:t>Relation schema can also be written, by including the data types.</a:t>
            </a:r>
          </a:p>
          <a:p>
            <a:endParaRPr lang="en-IN" dirty="0"/>
          </a:p>
          <a:p>
            <a:endParaRPr lang="en-IN" dirty="0"/>
          </a:p>
          <a:p>
            <a:endParaRPr lang="en-IN" dirty="0"/>
          </a:p>
        </p:txBody>
      </p:sp>
      <p:pic>
        <p:nvPicPr>
          <p:cNvPr id="7" name="Picture 6">
            <a:extLst>
              <a:ext uri="{FF2B5EF4-FFF2-40B4-BE49-F238E27FC236}">
                <a16:creationId xmlns:a16="http://schemas.microsoft.com/office/drawing/2014/main" id="{0AA1936A-6255-A06F-BC20-69125856DBC1}"/>
              </a:ext>
            </a:extLst>
          </p:cNvPr>
          <p:cNvPicPr>
            <a:picLocks noChangeAspect="1"/>
          </p:cNvPicPr>
          <p:nvPr/>
        </p:nvPicPr>
        <p:blipFill>
          <a:blip r:embed="rId2"/>
          <a:stretch>
            <a:fillRect/>
          </a:stretch>
        </p:blipFill>
        <p:spPr>
          <a:xfrm>
            <a:off x="1" y="3120104"/>
            <a:ext cx="12005732" cy="1147096"/>
          </a:xfrm>
          <a:prstGeom prst="rect">
            <a:avLst/>
          </a:prstGeom>
        </p:spPr>
      </p:pic>
      <p:pic>
        <p:nvPicPr>
          <p:cNvPr id="9" name="Picture 8">
            <a:extLst>
              <a:ext uri="{FF2B5EF4-FFF2-40B4-BE49-F238E27FC236}">
                <a16:creationId xmlns:a16="http://schemas.microsoft.com/office/drawing/2014/main" id="{2704B507-BEFE-99F6-D46C-21C372B131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113867"/>
            <a:ext cx="12192000" cy="1744131"/>
          </a:xfrm>
          <a:prstGeom prst="rect">
            <a:avLst/>
          </a:prstGeom>
        </p:spPr>
      </p:pic>
    </p:spTree>
    <p:extLst>
      <p:ext uri="{BB962C8B-B14F-4D97-AF65-F5344CB8AC3E}">
        <p14:creationId xmlns:p14="http://schemas.microsoft.com/office/powerpoint/2010/main" val="334909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3CD7F-BF42-838D-E9FC-60D7BC8FF2EA}"/>
              </a:ext>
            </a:extLst>
          </p:cNvPr>
          <p:cNvSpPr>
            <a:spLocks noGrp="1"/>
          </p:cNvSpPr>
          <p:nvPr>
            <p:ph type="title"/>
          </p:nvPr>
        </p:nvSpPr>
        <p:spPr>
          <a:xfrm>
            <a:off x="220133" y="1"/>
            <a:ext cx="11133667" cy="1185332"/>
          </a:xfrm>
        </p:spPr>
        <p:txBody>
          <a:bodyPr/>
          <a:lstStyle/>
          <a:p>
            <a:r>
              <a:rPr lang="en-IN" b="1" dirty="0">
                <a:latin typeface="Times New Roman" panose="02020603050405020304" pitchFamily="18" charset="0"/>
                <a:cs typeface="Times New Roman" panose="02020603050405020304" pitchFamily="18" charset="0"/>
              </a:rPr>
              <a:t>Degree ( or arity) of a Relation</a:t>
            </a:r>
          </a:p>
        </p:txBody>
      </p:sp>
      <p:sp>
        <p:nvSpPr>
          <p:cNvPr id="3" name="Content Placeholder 2">
            <a:extLst>
              <a:ext uri="{FF2B5EF4-FFF2-40B4-BE49-F238E27FC236}">
                <a16:creationId xmlns:a16="http://schemas.microsoft.com/office/drawing/2014/main" id="{3A7D585A-1FCA-25B2-C86A-8843E9504520}"/>
              </a:ext>
            </a:extLst>
          </p:cNvPr>
          <p:cNvSpPr>
            <a:spLocks noGrp="1"/>
          </p:cNvSpPr>
          <p:nvPr>
            <p:ph idx="1"/>
          </p:nvPr>
        </p:nvSpPr>
        <p:spPr>
          <a:xfrm>
            <a:off x="474133" y="1473199"/>
            <a:ext cx="10879667" cy="4703763"/>
          </a:xfrm>
        </p:spPr>
        <p:txBody>
          <a:bodyPr>
            <a:normAutofit/>
          </a:bodyPr>
          <a:lstStyle/>
          <a:p>
            <a:r>
              <a:rPr lang="en-IN" sz="3200" dirty="0">
                <a:latin typeface="Times New Roman" panose="02020603050405020304" pitchFamily="18" charset="0"/>
                <a:cs typeface="Times New Roman" panose="02020603050405020304" pitchFamily="18" charset="0"/>
              </a:rPr>
              <a:t>It is defined as a number of attributes in a  relation schema. </a:t>
            </a:r>
          </a:p>
        </p:txBody>
      </p:sp>
      <p:pic>
        <p:nvPicPr>
          <p:cNvPr id="5" name="Picture 4">
            <a:extLst>
              <a:ext uri="{FF2B5EF4-FFF2-40B4-BE49-F238E27FC236}">
                <a16:creationId xmlns:a16="http://schemas.microsoft.com/office/drawing/2014/main" id="{FE5E6858-1F5B-B1B8-60A0-C5BEA8E724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1200" y="2675467"/>
            <a:ext cx="10769600" cy="3691466"/>
          </a:xfrm>
          <a:prstGeom prst="rect">
            <a:avLst/>
          </a:prstGeom>
        </p:spPr>
      </p:pic>
    </p:spTree>
    <p:extLst>
      <p:ext uri="{BB962C8B-B14F-4D97-AF65-F5344CB8AC3E}">
        <p14:creationId xmlns:p14="http://schemas.microsoft.com/office/powerpoint/2010/main" val="1354686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95B49E-FB10-4CE0-BEE4-4E02FC6FCEF0}"/>
              </a:ext>
            </a:extLst>
          </p:cNvPr>
          <p:cNvSpPr>
            <a:spLocks noGrp="1"/>
          </p:cNvSpPr>
          <p:nvPr>
            <p:ph idx="1"/>
          </p:nvPr>
        </p:nvSpPr>
        <p:spPr>
          <a:xfrm>
            <a:off x="355600" y="27248"/>
            <a:ext cx="10998200" cy="6149716"/>
          </a:xfrm>
        </p:spPr>
        <p:txBody>
          <a:bodyPr>
            <a:normAutofit/>
          </a:bodyPr>
          <a:lstStyle/>
          <a:p>
            <a:pPr marL="0" indent="0">
              <a:lnSpc>
                <a:spcPct val="100000"/>
              </a:lnSpc>
              <a:buNone/>
            </a:pPr>
            <a:r>
              <a:rPr lang="en-IN" sz="4000" b="1" dirty="0">
                <a:latin typeface="Times New Roman" panose="02020603050405020304" pitchFamily="18" charset="0"/>
                <a:cs typeface="Times New Roman" panose="02020603050405020304" pitchFamily="18" charset="0"/>
              </a:rPr>
              <a:t>Cardinality</a:t>
            </a:r>
            <a:endParaRPr lang="en-IN" sz="4000" dirty="0">
              <a:latin typeface="Times New Roman" panose="02020603050405020304" pitchFamily="18" charset="0"/>
              <a:cs typeface="Times New Roman" panose="02020603050405020304" pitchFamily="18" charset="0"/>
            </a:endParaRPr>
          </a:p>
          <a:p>
            <a:pPr>
              <a:lnSpc>
                <a:spcPct val="100000"/>
              </a:lnSpc>
            </a:pPr>
            <a:r>
              <a:rPr lang="en-IN" sz="3200" dirty="0">
                <a:latin typeface="Times New Roman" panose="02020603050405020304" pitchFamily="18" charset="0"/>
                <a:cs typeface="Times New Roman" panose="02020603050405020304" pitchFamily="18" charset="0"/>
              </a:rPr>
              <a:t>Total number of tuples or rows present in a relation.</a:t>
            </a:r>
          </a:p>
          <a:p>
            <a:pPr marL="0" indent="0">
              <a:lnSpc>
                <a:spcPct val="100000"/>
              </a:lnSpc>
              <a:buNone/>
            </a:pPr>
            <a:r>
              <a:rPr lang="en-IN" sz="4000" b="1" dirty="0">
                <a:latin typeface="Times New Roman" panose="02020603050405020304" pitchFamily="18" charset="0"/>
                <a:cs typeface="Times New Roman" panose="02020603050405020304" pitchFamily="18" charset="0"/>
              </a:rPr>
              <a:t>Relation state (or relation database instance</a:t>
            </a:r>
            <a:r>
              <a:rPr lang="en-IN" sz="4000" dirty="0">
                <a:latin typeface="Times New Roman" panose="02020603050405020304" pitchFamily="18" charset="0"/>
                <a:cs typeface="Times New Roman" panose="02020603050405020304" pitchFamily="18" charset="0"/>
              </a:rPr>
              <a:t>)</a:t>
            </a:r>
          </a:p>
          <a:p>
            <a:pPr>
              <a:lnSpc>
                <a:spcPct val="100000"/>
              </a:lnSpc>
            </a:pPr>
            <a:r>
              <a:rPr lang="en-IN" sz="3200" dirty="0">
                <a:latin typeface="Times New Roman" panose="02020603050405020304" pitchFamily="18" charset="0"/>
                <a:cs typeface="Times New Roman" panose="02020603050405020304" pitchFamily="18" charset="0"/>
              </a:rPr>
              <a:t>Relation state is a set of tuples at a given time</a:t>
            </a:r>
          </a:p>
        </p:txBody>
      </p:sp>
      <p:pic>
        <p:nvPicPr>
          <p:cNvPr id="5" name="Picture 4">
            <a:extLst>
              <a:ext uri="{FF2B5EF4-FFF2-40B4-BE49-F238E27FC236}">
                <a16:creationId xmlns:a16="http://schemas.microsoft.com/office/drawing/2014/main" id="{E510F490-4590-8F68-28EE-2381CDB058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600" y="2946400"/>
            <a:ext cx="11667067" cy="3884352"/>
          </a:xfrm>
          <a:prstGeom prst="rect">
            <a:avLst/>
          </a:prstGeom>
        </p:spPr>
      </p:pic>
    </p:spTree>
    <p:extLst>
      <p:ext uri="{BB962C8B-B14F-4D97-AF65-F5344CB8AC3E}">
        <p14:creationId xmlns:p14="http://schemas.microsoft.com/office/powerpoint/2010/main" val="26931238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37D0E-AFC4-3005-7F8F-CE7DAC5B9770}"/>
              </a:ext>
            </a:extLst>
          </p:cNvPr>
          <p:cNvSpPr>
            <a:spLocks noGrp="1"/>
          </p:cNvSpPr>
          <p:nvPr>
            <p:ph type="title"/>
          </p:nvPr>
        </p:nvSpPr>
        <p:spPr>
          <a:xfrm>
            <a:off x="237067" y="-135466"/>
            <a:ext cx="11116733" cy="1117600"/>
          </a:xfrm>
        </p:spPr>
        <p:txBody>
          <a:bodyPr/>
          <a:lstStyle/>
          <a:p>
            <a:r>
              <a:rPr lang="en-IN" b="1" dirty="0">
                <a:latin typeface="Times New Roman" panose="02020603050405020304" pitchFamily="18" charset="0"/>
                <a:cs typeface="Times New Roman" panose="02020603050405020304" pitchFamily="18" charset="0"/>
              </a:rPr>
              <a:t>Relational database schema</a:t>
            </a:r>
          </a:p>
        </p:txBody>
      </p:sp>
      <p:sp>
        <p:nvSpPr>
          <p:cNvPr id="3" name="Content Placeholder 2">
            <a:extLst>
              <a:ext uri="{FF2B5EF4-FFF2-40B4-BE49-F238E27FC236}">
                <a16:creationId xmlns:a16="http://schemas.microsoft.com/office/drawing/2014/main" id="{A63E6398-2E88-F5A6-577C-7870771018CA}"/>
              </a:ext>
            </a:extLst>
          </p:cNvPr>
          <p:cNvSpPr>
            <a:spLocks noGrp="1"/>
          </p:cNvSpPr>
          <p:nvPr>
            <p:ph idx="1"/>
          </p:nvPr>
        </p:nvSpPr>
        <p:spPr>
          <a:xfrm>
            <a:off x="1" y="812800"/>
            <a:ext cx="12192000" cy="6045198"/>
          </a:xfrm>
        </p:spPr>
        <p:txBody>
          <a:bodyPr>
            <a:noAutofit/>
          </a:bodyPr>
          <a:lstStyle/>
          <a:p>
            <a:pPr algn="just">
              <a:lnSpc>
                <a:spcPct val="150000"/>
              </a:lnSpc>
            </a:pPr>
            <a:r>
              <a:rPr lang="en-IN" sz="3200" dirty="0">
                <a:latin typeface="Times New Roman" panose="02020603050405020304" pitchFamily="18" charset="0"/>
                <a:cs typeface="Times New Roman" panose="02020603050405020304" pitchFamily="18" charset="0"/>
              </a:rPr>
              <a:t>It is a set of relation schemas and a </a:t>
            </a:r>
            <a:r>
              <a:rPr lang="en-IN" sz="3200" b="1" dirty="0">
                <a:latin typeface="Times New Roman" panose="02020603050405020304" pitchFamily="18" charset="0"/>
                <a:cs typeface="Times New Roman" panose="02020603050405020304" pitchFamily="18" charset="0"/>
              </a:rPr>
              <a:t>set of integrity constraints.</a:t>
            </a:r>
          </a:p>
          <a:p>
            <a:pPr algn="just">
              <a:lnSpc>
                <a:spcPct val="150000"/>
              </a:lnSpc>
            </a:pPr>
            <a:r>
              <a:rPr lang="en-IN" sz="3200" dirty="0">
                <a:latin typeface="Times New Roman" panose="02020603050405020304" pitchFamily="18" charset="0"/>
                <a:cs typeface="Times New Roman" panose="02020603050405020304" pitchFamily="18" charset="0"/>
              </a:rPr>
              <a:t>If I consider Company database the relational database schema of that company  would have the collection of relation schemas like employee relational schema  like employee details  the department relation schema the project relational schema etc.</a:t>
            </a:r>
          </a:p>
          <a:p>
            <a:pPr algn="just">
              <a:lnSpc>
                <a:spcPct val="150000"/>
              </a:lnSpc>
            </a:pPr>
            <a:r>
              <a:rPr lang="en-IN" sz="3200" dirty="0">
                <a:latin typeface="Times New Roman" panose="02020603050405020304" pitchFamily="18" charset="0"/>
                <a:cs typeface="Times New Roman" panose="02020603050405020304" pitchFamily="18" charset="0"/>
              </a:rPr>
              <a:t>Collection of all these </a:t>
            </a:r>
            <a:r>
              <a:rPr lang="en-IN" sz="3200" b="1" dirty="0">
                <a:latin typeface="Times New Roman" panose="02020603050405020304" pitchFamily="18" charset="0"/>
                <a:cs typeface="Times New Roman" panose="02020603050405020304" pitchFamily="18" charset="0"/>
              </a:rPr>
              <a:t>relational schema with all the integrity constraints</a:t>
            </a:r>
            <a:r>
              <a:rPr lang="en-IN" sz="3200" dirty="0">
                <a:latin typeface="Times New Roman" panose="02020603050405020304" pitchFamily="18" charset="0"/>
                <a:cs typeface="Times New Roman" panose="02020603050405020304" pitchFamily="18" charset="0"/>
              </a:rPr>
              <a:t> make up the </a:t>
            </a:r>
            <a:r>
              <a:rPr lang="en-IN" sz="3200" b="1" dirty="0">
                <a:latin typeface="Times New Roman" panose="02020603050405020304" pitchFamily="18" charset="0"/>
                <a:cs typeface="Times New Roman" panose="02020603050405020304" pitchFamily="18" charset="0"/>
              </a:rPr>
              <a:t>relational database schema </a:t>
            </a:r>
            <a:r>
              <a:rPr lang="en-IN" sz="3200" dirty="0">
                <a:latin typeface="Times New Roman" panose="02020603050405020304" pitchFamily="18" charset="0"/>
                <a:cs typeface="Times New Roman" panose="02020603050405020304" pitchFamily="18" charset="0"/>
              </a:rPr>
              <a:t>for a company database.</a:t>
            </a:r>
          </a:p>
        </p:txBody>
      </p:sp>
    </p:spTree>
    <p:extLst>
      <p:ext uri="{BB962C8B-B14F-4D97-AF65-F5344CB8AC3E}">
        <p14:creationId xmlns:p14="http://schemas.microsoft.com/office/powerpoint/2010/main" val="1268012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056F37B-7C6C-D74F-31FE-28154402B7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0400" y="491068"/>
            <a:ext cx="10938933" cy="5943600"/>
          </a:xfrm>
        </p:spPr>
      </p:pic>
    </p:spTree>
    <p:extLst>
      <p:ext uri="{BB962C8B-B14F-4D97-AF65-F5344CB8AC3E}">
        <p14:creationId xmlns:p14="http://schemas.microsoft.com/office/powerpoint/2010/main" val="1477933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21AD9-45A6-3A81-6FF0-5D4678F731BA}"/>
              </a:ext>
            </a:extLst>
          </p:cNvPr>
          <p:cNvSpPr>
            <a:spLocks noGrp="1"/>
          </p:cNvSpPr>
          <p:nvPr>
            <p:ph type="title"/>
          </p:nvPr>
        </p:nvSpPr>
        <p:spPr>
          <a:xfrm>
            <a:off x="220133" y="1"/>
            <a:ext cx="11133667" cy="795866"/>
          </a:xfrm>
        </p:spPr>
        <p:txBody>
          <a:bodyPr>
            <a:normAutofit/>
          </a:bodyPr>
          <a:lstStyle/>
          <a:p>
            <a:r>
              <a:rPr lang="en-IN" sz="4800" b="1" dirty="0">
                <a:latin typeface="Times New Roman" panose="02020603050405020304" pitchFamily="18" charset="0"/>
                <a:cs typeface="Times New Roman" panose="02020603050405020304" pitchFamily="18" charset="0"/>
              </a:rPr>
              <a:t>Characteristics of relations</a:t>
            </a:r>
          </a:p>
        </p:txBody>
      </p:sp>
      <p:sp>
        <p:nvSpPr>
          <p:cNvPr id="3" name="Content Placeholder 2">
            <a:extLst>
              <a:ext uri="{FF2B5EF4-FFF2-40B4-BE49-F238E27FC236}">
                <a16:creationId xmlns:a16="http://schemas.microsoft.com/office/drawing/2014/main" id="{40950308-1638-D835-607A-EB6E53F20D5A}"/>
              </a:ext>
            </a:extLst>
          </p:cNvPr>
          <p:cNvSpPr>
            <a:spLocks noGrp="1"/>
          </p:cNvSpPr>
          <p:nvPr>
            <p:ph idx="1"/>
          </p:nvPr>
        </p:nvSpPr>
        <p:spPr>
          <a:xfrm>
            <a:off x="338667" y="948266"/>
            <a:ext cx="11633200" cy="6214533"/>
          </a:xfrm>
        </p:spPr>
        <p:txBody>
          <a:bodyPr>
            <a:normAutofit/>
          </a:bodyPr>
          <a:lstStyle/>
          <a:p>
            <a:pPr marL="0" indent="0">
              <a:buNone/>
            </a:pPr>
            <a:r>
              <a:rPr lang="en-IN" sz="3600" b="1" dirty="0">
                <a:latin typeface="Times New Roman" panose="02020603050405020304" pitchFamily="18" charset="0"/>
                <a:cs typeface="Times New Roman" panose="02020603050405020304" pitchFamily="18" charset="0"/>
              </a:rPr>
              <a:t>Ordering of tuples within a Relation</a:t>
            </a:r>
          </a:p>
          <a:p>
            <a:pPr algn="just">
              <a:lnSpc>
                <a:spcPct val="150000"/>
              </a:lnSpc>
            </a:pPr>
            <a:r>
              <a:rPr lang="en-IN" dirty="0">
                <a:latin typeface="Times New Roman" panose="02020603050405020304" pitchFamily="18" charset="0"/>
                <a:cs typeface="Times New Roman" panose="02020603050405020304" pitchFamily="18" charset="0"/>
              </a:rPr>
              <a:t>A relation or a table is a set of tuples or rows.</a:t>
            </a:r>
          </a:p>
          <a:p>
            <a:pPr algn="just">
              <a:lnSpc>
                <a:spcPct val="150000"/>
              </a:lnSpc>
            </a:pPr>
            <a:r>
              <a:rPr lang="en-IN" dirty="0">
                <a:latin typeface="Times New Roman" panose="02020603050405020304" pitchFamily="18" charset="0"/>
                <a:cs typeface="Times New Roman" panose="02020603050405020304" pitchFamily="18" charset="0"/>
              </a:rPr>
              <a:t>Mathematically the elements in a set don’t follow any order and theoretically relational databases were based on set theory. Therefore elements in the set need not fallow any order. </a:t>
            </a:r>
          </a:p>
        </p:txBody>
      </p:sp>
      <p:pic>
        <p:nvPicPr>
          <p:cNvPr id="5" name="Picture 4">
            <a:extLst>
              <a:ext uri="{FF2B5EF4-FFF2-40B4-BE49-F238E27FC236}">
                <a16:creationId xmlns:a16="http://schemas.microsoft.com/office/drawing/2014/main" id="{8410AA43-10A5-F45A-A588-9856F90E13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6133" y="3886200"/>
            <a:ext cx="6502400" cy="2717800"/>
          </a:xfrm>
          <a:prstGeom prst="rect">
            <a:avLst/>
          </a:prstGeom>
        </p:spPr>
      </p:pic>
    </p:spTree>
    <p:extLst>
      <p:ext uri="{BB962C8B-B14F-4D97-AF65-F5344CB8AC3E}">
        <p14:creationId xmlns:p14="http://schemas.microsoft.com/office/powerpoint/2010/main" val="2339910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12483-CB44-D9E6-24F3-9DFAA1EAE63C}"/>
              </a:ext>
            </a:extLst>
          </p:cNvPr>
          <p:cNvSpPr>
            <a:spLocks noGrp="1"/>
          </p:cNvSpPr>
          <p:nvPr>
            <p:ph type="title"/>
          </p:nvPr>
        </p:nvSpPr>
        <p:spPr>
          <a:xfrm>
            <a:off x="0" y="1"/>
            <a:ext cx="12192000" cy="1693332"/>
          </a:xfrm>
        </p:spPr>
        <p:txBody>
          <a:bodyPr>
            <a:normAutofit fontScale="90000"/>
          </a:bodyPr>
          <a:lstStyle/>
          <a:p>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The tuples in a relation need not have any  particular order.</a:t>
            </a:r>
            <a:br>
              <a:rPr lang="en-IN" dirty="0">
                <a:latin typeface="Times New Roman" panose="02020603050405020304" pitchFamily="18" charset="0"/>
                <a:cs typeface="Times New Roman" panose="02020603050405020304" pitchFamily="18" charset="0"/>
              </a:rPr>
            </a:br>
            <a:endParaRPr lang="en-IN" dirty="0"/>
          </a:p>
        </p:txBody>
      </p:sp>
      <p:pic>
        <p:nvPicPr>
          <p:cNvPr id="12" name="Picture 11">
            <a:extLst>
              <a:ext uri="{FF2B5EF4-FFF2-40B4-BE49-F238E27FC236}">
                <a16:creationId xmlns:a16="http://schemas.microsoft.com/office/drawing/2014/main" id="{AB198DC7-7BBD-90B4-AF39-691CEF5171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6021" y="1690688"/>
            <a:ext cx="6040016" cy="5034491"/>
          </a:xfrm>
          <a:prstGeom prst="rect">
            <a:avLst/>
          </a:prstGeom>
        </p:spPr>
      </p:pic>
      <p:pic>
        <p:nvPicPr>
          <p:cNvPr id="18" name="Picture 17">
            <a:extLst>
              <a:ext uri="{FF2B5EF4-FFF2-40B4-BE49-F238E27FC236}">
                <a16:creationId xmlns:a16="http://schemas.microsoft.com/office/drawing/2014/main" id="{4A23F19F-7439-09D7-A5EF-817C2464FA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690688"/>
            <a:ext cx="5980059" cy="5034491"/>
          </a:xfrm>
          <a:prstGeom prst="rect">
            <a:avLst/>
          </a:prstGeom>
        </p:spPr>
      </p:pic>
    </p:spTree>
    <p:extLst>
      <p:ext uri="{BB962C8B-B14F-4D97-AF65-F5344CB8AC3E}">
        <p14:creationId xmlns:p14="http://schemas.microsoft.com/office/powerpoint/2010/main" val="3743115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2F56A4C3-55DB-02D5-6373-40B8CD254668}"/>
              </a:ext>
            </a:extLst>
          </p:cNvPr>
          <p:cNvSpPr>
            <a:spLocks noGrp="1"/>
          </p:cNvSpPr>
          <p:nvPr>
            <p:ph idx="1"/>
          </p:nvPr>
        </p:nvSpPr>
        <p:spPr>
          <a:xfrm>
            <a:off x="838200" y="931333"/>
            <a:ext cx="10515600" cy="5245630"/>
          </a:xfrm>
        </p:spPr>
        <p:txBody>
          <a:bodyPr/>
          <a:lstStyle/>
          <a:p>
            <a:pPr>
              <a:lnSpc>
                <a:spcPct val="150000"/>
              </a:lnSpc>
            </a:pPr>
            <a:r>
              <a:rPr lang="en-IN" sz="3200" dirty="0">
                <a:latin typeface="Times New Roman" panose="02020603050405020304" pitchFamily="18" charset="0"/>
                <a:cs typeface="Times New Roman" panose="02020603050405020304" pitchFamily="18" charset="0"/>
              </a:rPr>
              <a:t>But when it comes to files all the records are physically stored on disk or in the memory and since its physically stored it would be good to have an order among the record like first record second record so on. This help in searching and retrieving records faster.</a:t>
            </a:r>
          </a:p>
          <a:p>
            <a:endParaRPr lang="en-IN" dirty="0"/>
          </a:p>
        </p:txBody>
      </p:sp>
    </p:spTree>
    <p:extLst>
      <p:ext uri="{BB962C8B-B14F-4D97-AF65-F5344CB8AC3E}">
        <p14:creationId xmlns:p14="http://schemas.microsoft.com/office/powerpoint/2010/main" val="2288025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C6C26-EFA5-2E32-38F4-F3EA62CB5627}"/>
              </a:ext>
            </a:extLst>
          </p:cNvPr>
          <p:cNvSpPr>
            <a:spLocks noGrp="1"/>
          </p:cNvSpPr>
          <p:nvPr>
            <p:ph type="title"/>
          </p:nvPr>
        </p:nvSpPr>
        <p:spPr>
          <a:xfrm>
            <a:off x="370703" y="1"/>
            <a:ext cx="10983097" cy="914400"/>
          </a:xfrm>
        </p:spPr>
        <p:txBody>
          <a:bodyPr>
            <a:normAutofit/>
          </a:bodyPr>
          <a:lstStyle/>
          <a:p>
            <a:r>
              <a:rPr lang="en-IN" sz="4800" b="1" dirty="0">
                <a:latin typeface="Times New Roman" panose="02020603050405020304" pitchFamily="18" charset="0"/>
                <a:cs typeface="Times New Roman" panose="02020603050405020304" pitchFamily="18" charset="0"/>
              </a:rPr>
              <a:t>Ordering of values within a Tuple</a:t>
            </a:r>
          </a:p>
        </p:txBody>
      </p:sp>
      <p:sp>
        <p:nvSpPr>
          <p:cNvPr id="3" name="Content Placeholder 2">
            <a:extLst>
              <a:ext uri="{FF2B5EF4-FFF2-40B4-BE49-F238E27FC236}">
                <a16:creationId xmlns:a16="http://schemas.microsoft.com/office/drawing/2014/main" id="{06590CB9-3F05-B5A7-EEDC-072DE93D063C}"/>
              </a:ext>
            </a:extLst>
          </p:cNvPr>
          <p:cNvSpPr>
            <a:spLocks noGrp="1"/>
          </p:cNvSpPr>
          <p:nvPr>
            <p:ph idx="1"/>
          </p:nvPr>
        </p:nvSpPr>
        <p:spPr>
          <a:xfrm>
            <a:off x="0" y="795867"/>
            <a:ext cx="12192000" cy="6485466"/>
          </a:xfrm>
        </p:spPr>
        <p:txBody>
          <a:bodyPr>
            <a:normAutofit/>
          </a:bodyPr>
          <a:lstStyle/>
          <a:p>
            <a:pPr algn="just">
              <a:lnSpc>
                <a:spcPct val="150000"/>
              </a:lnSpc>
            </a:pPr>
            <a:r>
              <a:rPr lang="en-IN" sz="4000" dirty="0">
                <a:latin typeface="Times New Roman" panose="02020603050405020304" pitchFamily="18" charset="0"/>
                <a:cs typeface="Times New Roman" panose="02020603050405020304" pitchFamily="18" charset="0"/>
              </a:rPr>
              <a:t>An </a:t>
            </a:r>
            <a:r>
              <a:rPr lang="en-IN" sz="4000" b="1" dirty="0">
                <a:latin typeface="Times New Roman" panose="02020603050405020304" pitchFamily="18" charset="0"/>
                <a:cs typeface="Times New Roman" panose="02020603050405020304" pitchFamily="18" charset="0"/>
              </a:rPr>
              <a:t>n-tuple</a:t>
            </a:r>
            <a:r>
              <a:rPr lang="en-IN" sz="4000" dirty="0">
                <a:latin typeface="Times New Roman" panose="02020603050405020304" pitchFamily="18" charset="0"/>
                <a:cs typeface="Times New Roman" panose="02020603050405020304" pitchFamily="18" charset="0"/>
              </a:rPr>
              <a:t> is an ordered list of n values, so ordering of values in a tuple is important.</a:t>
            </a:r>
          </a:p>
          <a:p>
            <a:pPr algn="just">
              <a:lnSpc>
                <a:spcPct val="150000"/>
              </a:lnSpc>
            </a:pPr>
            <a:endParaRPr lang="en-IN" dirty="0">
              <a:latin typeface="Times New Roman" panose="02020603050405020304" pitchFamily="18" charset="0"/>
              <a:cs typeface="Times New Roman" panose="02020603050405020304" pitchFamily="18" charset="0"/>
            </a:endParaRPr>
          </a:p>
          <a:p>
            <a:endParaRPr lang="en-IN" dirty="0"/>
          </a:p>
        </p:txBody>
      </p:sp>
      <p:pic>
        <p:nvPicPr>
          <p:cNvPr id="8" name="Picture 7">
            <a:extLst>
              <a:ext uri="{FF2B5EF4-FFF2-40B4-BE49-F238E27FC236}">
                <a16:creationId xmlns:a16="http://schemas.microsoft.com/office/drawing/2014/main" id="{B5123AAB-EF12-8A74-BC83-940719D647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2800" y="2943754"/>
            <a:ext cx="9516533" cy="3914246"/>
          </a:xfrm>
          <a:prstGeom prst="rect">
            <a:avLst/>
          </a:prstGeom>
        </p:spPr>
      </p:pic>
    </p:spTree>
    <p:extLst>
      <p:ext uri="{BB962C8B-B14F-4D97-AF65-F5344CB8AC3E}">
        <p14:creationId xmlns:p14="http://schemas.microsoft.com/office/powerpoint/2010/main" val="19337357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BCCD16-5B27-1BB4-4B69-30A1B7A544E4}"/>
              </a:ext>
            </a:extLst>
          </p:cNvPr>
          <p:cNvSpPr>
            <a:spLocks noGrp="1"/>
          </p:cNvSpPr>
          <p:nvPr>
            <p:ph idx="1"/>
          </p:nvPr>
        </p:nvSpPr>
        <p:spPr>
          <a:xfrm>
            <a:off x="-1" y="0"/>
            <a:ext cx="12191999" cy="6176963"/>
          </a:xfrm>
        </p:spPr>
        <p:txBody>
          <a:bodyPr>
            <a:normAutofit/>
          </a:bodyPr>
          <a:lstStyle/>
          <a:p>
            <a:pPr algn="just">
              <a:lnSpc>
                <a:spcPct val="150000"/>
              </a:lnSpc>
            </a:pPr>
            <a:r>
              <a:rPr lang="en-IN" sz="3200" dirty="0">
                <a:latin typeface="Times New Roman" panose="02020603050405020304" pitchFamily="18" charset="0"/>
                <a:cs typeface="Times New Roman" panose="02020603050405020304" pitchFamily="18" charset="0"/>
              </a:rPr>
              <a:t>With an alternative definition of relation, ordering of values in a tuple is unnecessary.</a:t>
            </a:r>
          </a:p>
          <a:p>
            <a:pPr algn="just">
              <a:lnSpc>
                <a:spcPct val="150000"/>
              </a:lnSpc>
            </a:pPr>
            <a:r>
              <a:rPr lang="en-IN" sz="3200" dirty="0">
                <a:latin typeface="Times New Roman" panose="02020603050405020304" pitchFamily="18" charset="0"/>
                <a:cs typeface="Times New Roman" panose="02020603050405020304" pitchFamily="18" charset="0"/>
              </a:rPr>
              <a:t>A tuple is defined as a set of (&lt;attributes&gt;,&lt;values&gt;) pair, then ordering of attribute is not important because the attribute name and the corresponding values is mention together .</a:t>
            </a:r>
          </a:p>
          <a:p>
            <a:pPr algn="just">
              <a:lnSpc>
                <a:spcPct val="150000"/>
              </a:lnSpc>
            </a:pPr>
            <a:endParaRPr lang="en-IN" dirty="0">
              <a:latin typeface="Times New Roman" panose="02020603050405020304" pitchFamily="18"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1954D8D6-FEC1-CC63-146B-4BE4052897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332" y="4233333"/>
            <a:ext cx="11819467" cy="2335747"/>
          </a:xfrm>
          <a:prstGeom prst="rect">
            <a:avLst/>
          </a:prstGeom>
        </p:spPr>
      </p:pic>
    </p:spTree>
    <p:extLst>
      <p:ext uri="{BB962C8B-B14F-4D97-AF65-F5344CB8AC3E}">
        <p14:creationId xmlns:p14="http://schemas.microsoft.com/office/powerpoint/2010/main" val="29071112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132DD1-FB58-7582-6649-22BF69576252}"/>
              </a:ext>
            </a:extLst>
          </p:cNvPr>
          <p:cNvSpPr>
            <a:spLocks noGrp="1"/>
          </p:cNvSpPr>
          <p:nvPr>
            <p:ph idx="1"/>
          </p:nvPr>
        </p:nvSpPr>
        <p:spPr>
          <a:xfrm>
            <a:off x="270934" y="287867"/>
            <a:ext cx="11650132" cy="5889096"/>
          </a:xfrm>
        </p:spPr>
        <p:txBody>
          <a:bodyPr/>
          <a:lstStyle/>
          <a:p>
            <a:pPr algn="just">
              <a:lnSpc>
                <a:spcPct val="150000"/>
              </a:lnSpc>
            </a:pPr>
            <a:r>
              <a:rPr lang="en-IN" sz="3600" dirty="0">
                <a:latin typeface="Times New Roman" panose="02020603050405020304" pitchFamily="18" charset="0"/>
                <a:cs typeface="Times New Roman" panose="02020603050405020304" pitchFamily="18" charset="0"/>
              </a:rPr>
              <a:t>Even if we will change the order of these pairs as given over here the meaning will not change.</a:t>
            </a:r>
          </a:p>
          <a:p>
            <a:pPr algn="just">
              <a:lnSpc>
                <a:spcPct val="150000"/>
              </a:lnSpc>
            </a:pPr>
            <a:r>
              <a:rPr lang="en-IN" sz="3600" dirty="0">
                <a:latin typeface="Times New Roman" panose="02020603050405020304" pitchFamily="18" charset="0"/>
                <a:cs typeface="Times New Roman" panose="02020603050405020304" pitchFamily="18" charset="0"/>
              </a:rPr>
              <a:t>But in RDBMS we use relation or table to store the data ordering of values within a tuple is important.</a:t>
            </a:r>
          </a:p>
          <a:p>
            <a:endParaRPr lang="en-IN" dirty="0"/>
          </a:p>
        </p:txBody>
      </p:sp>
      <p:pic>
        <p:nvPicPr>
          <p:cNvPr id="7" name="Picture 6">
            <a:extLst>
              <a:ext uri="{FF2B5EF4-FFF2-40B4-BE49-F238E27FC236}">
                <a16:creationId xmlns:a16="http://schemas.microsoft.com/office/drawing/2014/main" id="{DD8DE6C3-A478-ECAF-A414-5F859FCE38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934" y="4095876"/>
            <a:ext cx="11650132" cy="2338791"/>
          </a:xfrm>
          <a:prstGeom prst="rect">
            <a:avLst/>
          </a:prstGeom>
        </p:spPr>
      </p:pic>
    </p:spTree>
    <p:extLst>
      <p:ext uri="{BB962C8B-B14F-4D97-AF65-F5344CB8AC3E}">
        <p14:creationId xmlns:p14="http://schemas.microsoft.com/office/powerpoint/2010/main" val="4620763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3D9C4-711A-E2DF-3374-0D28D81996B4}"/>
              </a:ext>
            </a:extLst>
          </p:cNvPr>
          <p:cNvSpPr>
            <a:spLocks noGrp="1"/>
          </p:cNvSpPr>
          <p:nvPr>
            <p:ph type="title"/>
          </p:nvPr>
        </p:nvSpPr>
        <p:spPr>
          <a:xfrm>
            <a:off x="338667" y="0"/>
            <a:ext cx="11015133" cy="1161536"/>
          </a:xfrm>
        </p:spPr>
        <p:txBody>
          <a:bodyPr/>
          <a:lstStyle/>
          <a:p>
            <a:r>
              <a:rPr lang="en-IN" b="1" dirty="0">
                <a:latin typeface="Times New Roman" panose="02020603050405020304" pitchFamily="18" charset="0"/>
                <a:cs typeface="Times New Roman" panose="02020603050405020304" pitchFamily="18" charset="0"/>
              </a:rPr>
              <a:t>Values and Null in Tuple</a:t>
            </a:r>
          </a:p>
        </p:txBody>
      </p:sp>
      <p:sp>
        <p:nvSpPr>
          <p:cNvPr id="3" name="Content Placeholder 2">
            <a:extLst>
              <a:ext uri="{FF2B5EF4-FFF2-40B4-BE49-F238E27FC236}">
                <a16:creationId xmlns:a16="http://schemas.microsoft.com/office/drawing/2014/main" id="{C39A0804-9979-3B09-A737-F2C5DB8B323A}"/>
              </a:ext>
            </a:extLst>
          </p:cNvPr>
          <p:cNvSpPr>
            <a:spLocks noGrp="1"/>
          </p:cNvSpPr>
          <p:nvPr>
            <p:ph idx="1"/>
          </p:nvPr>
        </p:nvSpPr>
        <p:spPr>
          <a:xfrm>
            <a:off x="338666" y="1161536"/>
            <a:ext cx="11362267" cy="5696464"/>
          </a:xfrm>
        </p:spPr>
        <p:txBody>
          <a:bodyPr>
            <a:normAutofit/>
          </a:bodyPr>
          <a:lstStyle/>
          <a:p>
            <a:pPr algn="just">
              <a:lnSpc>
                <a:spcPct val="150000"/>
              </a:lnSpc>
            </a:pPr>
            <a:r>
              <a:rPr lang="en-IN" sz="3200" dirty="0">
                <a:latin typeface="Times New Roman" panose="02020603050405020304" pitchFamily="18" charset="0"/>
                <a:cs typeface="Times New Roman" panose="02020603050405020304" pitchFamily="18" charset="0"/>
              </a:rPr>
              <a:t>Each value in tuple is a </a:t>
            </a:r>
            <a:r>
              <a:rPr lang="en-IN" sz="3200" b="1" dirty="0">
                <a:latin typeface="Times New Roman" panose="02020603050405020304" pitchFamily="18" charset="0"/>
                <a:cs typeface="Times New Roman" panose="02020603050405020304" pitchFamily="18" charset="0"/>
              </a:rPr>
              <a:t>atomic value</a:t>
            </a:r>
            <a:r>
              <a:rPr lang="en-IN" sz="3200" dirty="0">
                <a:latin typeface="Times New Roman" panose="02020603050405020304" pitchFamily="18" charset="0"/>
                <a:cs typeface="Times New Roman" panose="02020603050405020304" pitchFamily="18" charset="0"/>
              </a:rPr>
              <a:t>(that is it has to be a value that cannot be divided further).</a:t>
            </a:r>
          </a:p>
          <a:p>
            <a:pPr algn="just">
              <a:lnSpc>
                <a:spcPct val="150000"/>
              </a:lnSpc>
            </a:pPr>
            <a:r>
              <a:rPr lang="en-IN" sz="3200" dirty="0">
                <a:latin typeface="Times New Roman" panose="02020603050405020304" pitchFamily="18" charset="0"/>
                <a:cs typeface="Times New Roman" panose="02020603050405020304" pitchFamily="18" charset="0"/>
              </a:rPr>
              <a:t> Since the values has to be atomic we cannot  have composite  or multivalued attribute in RDBMS and because of that it is called as </a:t>
            </a:r>
            <a:r>
              <a:rPr lang="en-IN" sz="3200" b="1" dirty="0">
                <a:latin typeface="Times New Roman" panose="02020603050405020304" pitchFamily="18" charset="0"/>
                <a:cs typeface="Times New Roman" panose="02020603050405020304" pitchFamily="18" charset="0"/>
              </a:rPr>
              <a:t>flat relation model.</a:t>
            </a:r>
          </a:p>
          <a:p>
            <a:pPr algn="just">
              <a:lnSpc>
                <a:spcPct val="150000"/>
              </a:lnSpc>
            </a:pPr>
            <a:endParaRPr lang="en-IN" dirty="0"/>
          </a:p>
        </p:txBody>
      </p:sp>
    </p:spTree>
    <p:extLst>
      <p:ext uri="{BB962C8B-B14F-4D97-AF65-F5344CB8AC3E}">
        <p14:creationId xmlns:p14="http://schemas.microsoft.com/office/powerpoint/2010/main" val="2123327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1487C5-F867-C163-547A-5659559D4BBC}"/>
              </a:ext>
            </a:extLst>
          </p:cNvPr>
          <p:cNvSpPr>
            <a:spLocks noGrp="1"/>
          </p:cNvSpPr>
          <p:nvPr>
            <p:ph idx="1"/>
          </p:nvPr>
        </p:nvSpPr>
        <p:spPr>
          <a:xfrm>
            <a:off x="0" y="0"/>
            <a:ext cx="12192000" cy="6176963"/>
          </a:xfrm>
        </p:spPr>
        <p:txBody>
          <a:bodyPr>
            <a:normAutofit/>
          </a:bodyPr>
          <a:lstStyle/>
          <a:p>
            <a:pPr algn="just">
              <a:lnSpc>
                <a:spcPct val="150000"/>
              </a:lnSpc>
            </a:pPr>
            <a:r>
              <a:rPr lang="en-IN" sz="3600" dirty="0">
                <a:latin typeface="Times New Roman" panose="02020603050405020304" pitchFamily="18" charset="0"/>
                <a:cs typeface="Times New Roman" panose="02020603050405020304" pitchFamily="18" charset="0"/>
              </a:rPr>
              <a:t>In RDBMS or in relational databases these multivalued attribute should be represented by separate relations or separate tables .</a:t>
            </a:r>
          </a:p>
          <a:p>
            <a:endParaRPr lang="en-IN" dirty="0"/>
          </a:p>
        </p:txBody>
      </p:sp>
      <p:pic>
        <p:nvPicPr>
          <p:cNvPr id="5" name="Picture 4">
            <a:extLst>
              <a:ext uri="{FF2B5EF4-FFF2-40B4-BE49-F238E27FC236}">
                <a16:creationId xmlns:a16="http://schemas.microsoft.com/office/drawing/2014/main" id="{68670AD9-8C9B-71A3-187F-0F83D53246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067" y="1803400"/>
            <a:ext cx="11734800" cy="2159000"/>
          </a:xfrm>
          <a:prstGeom prst="rect">
            <a:avLst/>
          </a:prstGeom>
        </p:spPr>
      </p:pic>
      <p:pic>
        <p:nvPicPr>
          <p:cNvPr id="7" name="Picture 6">
            <a:extLst>
              <a:ext uri="{FF2B5EF4-FFF2-40B4-BE49-F238E27FC236}">
                <a16:creationId xmlns:a16="http://schemas.microsoft.com/office/drawing/2014/main" id="{E410829B-606F-E9DF-D9FF-F4DE85B86A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067" y="4250268"/>
            <a:ext cx="11734800" cy="2438400"/>
          </a:xfrm>
          <a:prstGeom prst="rect">
            <a:avLst/>
          </a:prstGeom>
        </p:spPr>
      </p:pic>
    </p:spTree>
    <p:extLst>
      <p:ext uri="{BB962C8B-B14F-4D97-AF65-F5344CB8AC3E}">
        <p14:creationId xmlns:p14="http://schemas.microsoft.com/office/powerpoint/2010/main" val="9883886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E112BE-4254-4909-2A10-11BAE96341E8}"/>
              </a:ext>
            </a:extLst>
          </p:cNvPr>
          <p:cNvSpPr>
            <a:spLocks noGrp="1"/>
          </p:cNvSpPr>
          <p:nvPr>
            <p:ph idx="1"/>
          </p:nvPr>
        </p:nvSpPr>
        <p:spPr>
          <a:xfrm>
            <a:off x="457199" y="186268"/>
            <a:ext cx="11345333" cy="5990696"/>
          </a:xfrm>
        </p:spPr>
        <p:txBody>
          <a:bodyPr/>
          <a:lstStyle/>
          <a:p>
            <a:pPr>
              <a:lnSpc>
                <a:spcPct val="150000"/>
              </a:lnSpc>
            </a:pPr>
            <a:r>
              <a:rPr lang="en-IN" sz="3200" dirty="0">
                <a:latin typeface="Times New Roman" panose="02020603050405020304" pitchFamily="18" charset="0"/>
                <a:cs typeface="Times New Roman" panose="02020603050405020304" pitchFamily="18" charset="0"/>
              </a:rPr>
              <a:t>Null values can be used when the values are unknow  or when the value exists but it is not available or when the value is not applicable to that particular tuple.</a:t>
            </a:r>
          </a:p>
          <a:p>
            <a:endParaRPr lang="en-IN" dirty="0"/>
          </a:p>
        </p:txBody>
      </p:sp>
      <p:pic>
        <p:nvPicPr>
          <p:cNvPr id="5" name="Picture 4">
            <a:extLst>
              <a:ext uri="{FF2B5EF4-FFF2-40B4-BE49-F238E27FC236}">
                <a16:creationId xmlns:a16="http://schemas.microsoft.com/office/drawing/2014/main" id="{161C7FF7-3EEC-B1DB-751D-2BFEFFDAAC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468" y="2692400"/>
            <a:ext cx="11175999" cy="3979333"/>
          </a:xfrm>
          <a:prstGeom prst="rect">
            <a:avLst/>
          </a:prstGeom>
        </p:spPr>
      </p:pic>
    </p:spTree>
    <p:extLst>
      <p:ext uri="{BB962C8B-B14F-4D97-AF65-F5344CB8AC3E}">
        <p14:creationId xmlns:p14="http://schemas.microsoft.com/office/powerpoint/2010/main" val="11676611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8A6ED-45A1-7D34-9DDA-87C003673A7F}"/>
              </a:ext>
            </a:extLst>
          </p:cNvPr>
          <p:cNvSpPr>
            <a:spLocks noGrp="1"/>
          </p:cNvSpPr>
          <p:nvPr>
            <p:ph type="title"/>
          </p:nvPr>
        </p:nvSpPr>
        <p:spPr>
          <a:xfrm>
            <a:off x="271849" y="1"/>
            <a:ext cx="11081951" cy="1253066"/>
          </a:xfrm>
        </p:spPr>
        <p:txBody>
          <a:bodyPr/>
          <a:lstStyle/>
          <a:p>
            <a:r>
              <a:rPr lang="en-IN" b="1" dirty="0">
                <a:latin typeface="Times New Roman" panose="02020603050405020304" pitchFamily="18" charset="0"/>
                <a:cs typeface="Times New Roman" panose="02020603050405020304" pitchFamily="18" charset="0"/>
              </a:rPr>
              <a:t>Interpretation of a relation</a:t>
            </a:r>
          </a:p>
        </p:txBody>
      </p:sp>
      <p:sp>
        <p:nvSpPr>
          <p:cNvPr id="3" name="Content Placeholder 2">
            <a:extLst>
              <a:ext uri="{FF2B5EF4-FFF2-40B4-BE49-F238E27FC236}">
                <a16:creationId xmlns:a16="http://schemas.microsoft.com/office/drawing/2014/main" id="{78E3E53C-DEFB-3C19-480C-8BB5D9EC3742}"/>
              </a:ext>
            </a:extLst>
          </p:cNvPr>
          <p:cNvSpPr>
            <a:spLocks noGrp="1"/>
          </p:cNvSpPr>
          <p:nvPr>
            <p:ph idx="1"/>
          </p:nvPr>
        </p:nvSpPr>
        <p:spPr>
          <a:xfrm>
            <a:off x="383059" y="1025612"/>
            <a:ext cx="11470274" cy="5832388"/>
          </a:xfrm>
        </p:spPr>
        <p:txBody>
          <a:bodyPr>
            <a:normAutofit/>
          </a:bodyPr>
          <a:lstStyle/>
          <a:p>
            <a:pPr algn="just">
              <a:lnSpc>
                <a:spcPct val="150000"/>
              </a:lnSpc>
            </a:pPr>
            <a:r>
              <a:rPr lang="en-IN" sz="3200">
                <a:latin typeface="Times New Roman" panose="02020603050405020304" pitchFamily="18" charset="0"/>
                <a:cs typeface="Times New Roman" panose="02020603050405020304" pitchFamily="18" charset="0"/>
              </a:rPr>
              <a:t>The </a:t>
            </a:r>
            <a:r>
              <a:rPr lang="en-IN" sz="3200" dirty="0">
                <a:latin typeface="Times New Roman" panose="02020603050405020304" pitchFamily="18" charset="0"/>
                <a:cs typeface="Times New Roman" panose="02020603050405020304" pitchFamily="18" charset="0"/>
              </a:rPr>
              <a:t>Relation schema can be represented as a </a:t>
            </a:r>
            <a:r>
              <a:rPr lang="en-IN" sz="3200" b="1" dirty="0">
                <a:latin typeface="Times New Roman" panose="02020603050405020304" pitchFamily="18" charset="0"/>
                <a:cs typeface="Times New Roman" panose="02020603050405020304" pitchFamily="18" charset="0"/>
              </a:rPr>
              <a:t>declaration or assertion.</a:t>
            </a:r>
          </a:p>
          <a:p>
            <a:pPr algn="just">
              <a:lnSpc>
                <a:spcPct val="150000"/>
              </a:lnSpc>
            </a:pPr>
            <a:r>
              <a:rPr lang="en-IN" sz="3200" dirty="0">
                <a:latin typeface="Times New Roman" panose="02020603050405020304" pitchFamily="18" charset="0"/>
                <a:cs typeface="Times New Roman" panose="02020603050405020304" pitchFamily="18" charset="0"/>
              </a:rPr>
              <a:t>These relation schema declares or asserts that each student entity has a roll number, name ,age and a mobile number.</a:t>
            </a:r>
          </a:p>
          <a:p>
            <a:pPr algn="just">
              <a:lnSpc>
                <a:spcPct val="150000"/>
              </a:lnSpc>
            </a:pPr>
            <a:endParaRPr lang="en-IN" sz="3200" dirty="0">
              <a:latin typeface="Times New Roman" panose="02020603050405020304" pitchFamily="18" charset="0"/>
              <a:cs typeface="Times New Roman" panose="02020603050405020304" pitchFamily="18" charset="0"/>
            </a:endParaRPr>
          </a:p>
          <a:p>
            <a:endParaRPr lang="en-IN" dirty="0"/>
          </a:p>
          <a:p>
            <a:endParaRPr lang="en-IN" dirty="0"/>
          </a:p>
        </p:txBody>
      </p:sp>
      <p:pic>
        <p:nvPicPr>
          <p:cNvPr id="8" name="Content Placeholder 7">
            <a:extLst>
              <a:ext uri="{FF2B5EF4-FFF2-40B4-BE49-F238E27FC236}">
                <a16:creationId xmlns:a16="http://schemas.microsoft.com/office/drawing/2014/main" id="{685F12D4-50E8-EC2B-5DCB-A68EA2C1C664}"/>
              </a:ext>
            </a:extLst>
          </p:cNvPr>
          <p:cNvPicPr>
            <a:picLocks noChangeAspect="1"/>
          </p:cNvPicPr>
          <p:nvPr/>
        </p:nvPicPr>
        <p:blipFill>
          <a:blip r:embed="rId2"/>
          <a:stretch>
            <a:fillRect/>
          </a:stretch>
        </p:blipFill>
        <p:spPr>
          <a:xfrm>
            <a:off x="694267" y="4545454"/>
            <a:ext cx="10905066" cy="1659467"/>
          </a:xfrm>
          <a:prstGeom prst="rect">
            <a:avLst/>
          </a:prstGeom>
        </p:spPr>
      </p:pic>
    </p:spTree>
    <p:extLst>
      <p:ext uri="{BB962C8B-B14F-4D97-AF65-F5344CB8AC3E}">
        <p14:creationId xmlns:p14="http://schemas.microsoft.com/office/powerpoint/2010/main" val="3327964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12696CE-17AF-EF75-2DBF-3ACF1C3A7601}"/>
              </a:ext>
            </a:extLst>
          </p:cNvPr>
          <p:cNvPicPr>
            <a:picLocks noChangeAspect="1"/>
          </p:cNvPicPr>
          <p:nvPr/>
        </p:nvPicPr>
        <p:blipFill>
          <a:blip r:embed="rId2"/>
          <a:stretch>
            <a:fillRect/>
          </a:stretch>
        </p:blipFill>
        <p:spPr>
          <a:xfrm>
            <a:off x="1591733" y="3793067"/>
            <a:ext cx="9008534" cy="2950761"/>
          </a:xfrm>
          <a:prstGeom prst="rect">
            <a:avLst/>
          </a:prstGeom>
        </p:spPr>
      </p:pic>
      <p:sp>
        <p:nvSpPr>
          <p:cNvPr id="12" name="TextBox 11">
            <a:extLst>
              <a:ext uri="{FF2B5EF4-FFF2-40B4-BE49-F238E27FC236}">
                <a16:creationId xmlns:a16="http://schemas.microsoft.com/office/drawing/2014/main" id="{E17C4873-1308-3D4A-4CCD-44F6EB644376}"/>
              </a:ext>
            </a:extLst>
          </p:cNvPr>
          <p:cNvSpPr txBox="1"/>
          <p:nvPr/>
        </p:nvSpPr>
        <p:spPr>
          <a:xfrm>
            <a:off x="253999" y="114172"/>
            <a:ext cx="11717867" cy="3480825"/>
          </a:xfrm>
          <a:prstGeom prst="rect">
            <a:avLst/>
          </a:prstGeom>
          <a:noFill/>
        </p:spPr>
        <p:txBody>
          <a:bodyPr wrap="square">
            <a:spAutoFit/>
          </a:bodyPr>
          <a:lstStyle/>
          <a:p>
            <a:pPr algn="just">
              <a:lnSpc>
                <a:spcPct val="150000"/>
              </a:lnSpc>
            </a:pPr>
            <a:r>
              <a:rPr lang="en-IN" dirty="0">
                <a:latin typeface="Times New Roman" panose="02020603050405020304" pitchFamily="18" charset="0"/>
                <a:cs typeface="Times New Roman" panose="02020603050405020304" pitchFamily="18" charset="0"/>
              </a:rPr>
              <a:t> </a:t>
            </a:r>
            <a:r>
              <a:rPr lang="en-IN" sz="3000" dirty="0">
                <a:latin typeface="Times New Roman" panose="02020603050405020304" pitchFamily="18" charset="0"/>
                <a:cs typeface="Times New Roman" panose="02020603050405020304" pitchFamily="18" charset="0"/>
              </a:rPr>
              <a:t>Each tuple in relation trying to declare something about the student and each tuple can be </a:t>
            </a:r>
            <a:r>
              <a:rPr lang="en-IN" sz="3000" b="1" dirty="0">
                <a:latin typeface="Times New Roman" panose="02020603050405020304" pitchFamily="18" charset="0"/>
                <a:cs typeface="Times New Roman" panose="02020603050405020304" pitchFamily="18" charset="0"/>
              </a:rPr>
              <a:t>interpreted  as a fact .</a:t>
            </a:r>
          </a:p>
          <a:p>
            <a:pPr algn="just">
              <a:lnSpc>
                <a:spcPct val="150000"/>
              </a:lnSpc>
            </a:pPr>
            <a:r>
              <a:rPr lang="en-IN" sz="3000" dirty="0">
                <a:latin typeface="Times New Roman" panose="02020603050405020304" pitchFamily="18" charset="0"/>
                <a:cs typeface="Times New Roman" panose="02020603050405020304" pitchFamily="18" charset="0"/>
              </a:rPr>
              <a:t>for example the first tuple in the relation student declares a fact that a student named harry whose roll number is  1 age is 19. </a:t>
            </a:r>
          </a:p>
          <a:p>
            <a:pPr algn="just">
              <a:lnSpc>
                <a:spcPct val="150000"/>
              </a:lnSpc>
            </a:pPr>
            <a:r>
              <a:rPr lang="en-IN" sz="3000" dirty="0">
                <a:latin typeface="Times New Roman" panose="02020603050405020304" pitchFamily="18" charset="0"/>
                <a:cs typeface="Times New Roman" panose="02020603050405020304" pitchFamily="18" charset="0"/>
              </a:rPr>
              <a:t>Relation represent facts about entities and relationship.</a:t>
            </a:r>
            <a:endParaRPr lang="en-IN" sz="3000" dirty="0"/>
          </a:p>
        </p:txBody>
      </p:sp>
    </p:spTree>
    <p:extLst>
      <p:ext uri="{BB962C8B-B14F-4D97-AF65-F5344CB8AC3E}">
        <p14:creationId xmlns:p14="http://schemas.microsoft.com/office/powerpoint/2010/main" val="18732424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757D9B6-9794-B7EC-1019-E73F50E5314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80533" y="728133"/>
            <a:ext cx="10123487" cy="5689600"/>
          </a:xfrm>
        </p:spPr>
      </p:pic>
    </p:spTree>
    <p:extLst>
      <p:ext uri="{BB962C8B-B14F-4D97-AF65-F5344CB8AC3E}">
        <p14:creationId xmlns:p14="http://schemas.microsoft.com/office/powerpoint/2010/main" val="19800904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BEEB01-6180-AA9C-D378-1993B57F54E1}"/>
              </a:ext>
            </a:extLst>
          </p:cNvPr>
          <p:cNvSpPr>
            <a:spLocks noGrp="1"/>
          </p:cNvSpPr>
          <p:nvPr>
            <p:ph idx="1"/>
          </p:nvPr>
        </p:nvSpPr>
        <p:spPr>
          <a:xfrm>
            <a:off x="440266" y="203200"/>
            <a:ext cx="11328401" cy="6654799"/>
          </a:xfrm>
        </p:spPr>
        <p:txBody>
          <a:bodyPr>
            <a:normAutofit fontScale="92500"/>
          </a:bodyPr>
          <a:lstStyle/>
          <a:p>
            <a:pPr marL="0" indent="0" algn="l">
              <a:buNone/>
            </a:pPr>
            <a:r>
              <a:rPr lang="en-IN" sz="4000" b="1" i="0" u="none" strike="noStrike" baseline="0" dirty="0">
                <a:latin typeface="Times New Roman" panose="02020603050405020304" pitchFamily="18" charset="0"/>
                <a:cs typeface="Times New Roman" panose="02020603050405020304" pitchFamily="18" charset="0"/>
              </a:rPr>
              <a:t>Relational Model Notation</a:t>
            </a:r>
          </a:p>
          <a:p>
            <a:pPr algn="just">
              <a:lnSpc>
                <a:spcPct val="150000"/>
              </a:lnSpc>
            </a:pPr>
            <a:r>
              <a:rPr lang="en-US" b="0" i="0" u="none" strike="noStrike" baseline="0" dirty="0">
                <a:latin typeface="Times New Roman" panose="02020603050405020304" pitchFamily="18" charset="0"/>
                <a:cs typeface="Times New Roman" panose="02020603050405020304" pitchFamily="18" charset="0"/>
              </a:rPr>
              <a:t>Relation schema R of degree n is denoted by </a:t>
            </a:r>
            <a:r>
              <a:rPr lang="en-US" b="0" i="0" u="none" strike="noStrike" baseline="0" dirty="0" err="1">
                <a:latin typeface="Times New Roman" panose="02020603050405020304" pitchFamily="18" charset="0"/>
                <a:cs typeface="Times New Roman" panose="02020603050405020304" pitchFamily="18" charset="0"/>
              </a:rPr>
              <a:t>by</a:t>
            </a:r>
            <a:r>
              <a:rPr lang="en-US" b="0" i="0" u="none" strike="noStrike" baseline="0" dirty="0">
                <a:latin typeface="Times New Roman" panose="02020603050405020304" pitchFamily="18" charset="0"/>
                <a:cs typeface="Times New Roman" panose="02020603050405020304" pitchFamily="18" charset="0"/>
              </a:rPr>
              <a:t> R(A1, A2, ...,An)</a:t>
            </a:r>
          </a:p>
          <a:p>
            <a:pPr algn="just">
              <a:lnSpc>
                <a:spcPct val="150000"/>
              </a:lnSpc>
            </a:pPr>
            <a:r>
              <a:rPr lang="en-IN" b="0" i="0" u="none" strike="noStrike" baseline="0" dirty="0">
                <a:latin typeface="Times New Roman" panose="02020603050405020304" pitchFamily="18" charset="0"/>
                <a:cs typeface="Times New Roman" panose="02020603050405020304" pitchFamily="18" charset="0"/>
              </a:rPr>
              <a:t>Uppercase letters Q, R, S denote relation names</a:t>
            </a:r>
          </a:p>
          <a:p>
            <a:pPr algn="just">
              <a:lnSpc>
                <a:spcPct val="150000"/>
              </a:lnSpc>
            </a:pPr>
            <a:r>
              <a:rPr lang="en-US" b="0" i="0" u="none" strike="noStrike" baseline="0" dirty="0">
                <a:latin typeface="Times New Roman" panose="02020603050405020304" pitchFamily="18" charset="0"/>
                <a:cs typeface="Times New Roman" panose="02020603050405020304" pitchFamily="18" charset="0"/>
              </a:rPr>
              <a:t>Lowercase letters q, r, s denote relation states</a:t>
            </a:r>
          </a:p>
          <a:p>
            <a:pPr algn="just">
              <a:lnSpc>
                <a:spcPct val="150000"/>
              </a:lnSpc>
            </a:pPr>
            <a:r>
              <a:rPr lang="fr-FR" b="0" i="0" u="none" strike="noStrike" baseline="0" dirty="0">
                <a:latin typeface="Times New Roman" panose="02020603050405020304" pitchFamily="18" charset="0"/>
                <a:cs typeface="Times New Roman" panose="02020603050405020304" pitchFamily="18" charset="0"/>
              </a:rPr>
              <a:t>Letters  t, u, v dénote tuples</a:t>
            </a:r>
          </a:p>
          <a:p>
            <a:pPr algn="just">
              <a:lnSpc>
                <a:spcPct val="150000"/>
              </a:lnSpc>
            </a:pPr>
            <a:r>
              <a:rPr lang="en-US" b="0" i="0" u="none" strike="noStrike" baseline="0" dirty="0">
                <a:latin typeface="Times New Roman" panose="02020603050405020304" pitchFamily="18" charset="0"/>
                <a:cs typeface="Times New Roman" panose="02020603050405020304" pitchFamily="18" charset="0"/>
              </a:rPr>
              <a:t>In general, the name of a relation schema such as STUDENT also indicates the current set of </a:t>
            </a:r>
            <a:r>
              <a:rPr lang="en-IN" b="0" i="0" u="none" strike="noStrike" baseline="0" dirty="0">
                <a:latin typeface="Times New Roman" panose="02020603050405020304" pitchFamily="18" charset="0"/>
                <a:cs typeface="Times New Roman" panose="02020603050405020304" pitchFamily="18" charset="0"/>
              </a:rPr>
              <a:t>tuples in that relation</a:t>
            </a:r>
          </a:p>
          <a:p>
            <a:pPr algn="just">
              <a:lnSpc>
                <a:spcPct val="150000"/>
              </a:lnSpc>
            </a:pPr>
            <a:r>
              <a:rPr lang="en-US" b="0" i="0" u="none" strike="noStrike" baseline="0" dirty="0">
                <a:latin typeface="Times New Roman" panose="02020603050405020304" pitchFamily="18" charset="0"/>
                <a:cs typeface="Times New Roman" panose="02020603050405020304" pitchFamily="18" charset="0"/>
              </a:rPr>
              <a:t>An attribute A can be qualified with the relation name R to which it belongs by using the dot notation R.A for example, </a:t>
            </a:r>
            <a:r>
              <a:rPr lang="en-US" b="0" i="0" u="none" strike="noStrike" baseline="0" dirty="0" err="1">
                <a:latin typeface="Times New Roman" panose="02020603050405020304" pitchFamily="18" charset="0"/>
                <a:cs typeface="Times New Roman" panose="02020603050405020304" pitchFamily="18" charset="0"/>
              </a:rPr>
              <a:t>STUDENT.Name</a:t>
            </a:r>
            <a:r>
              <a:rPr lang="en-US" b="0" i="0" u="none" strike="noStrike" baseline="0" dirty="0">
                <a:latin typeface="Times New Roman" panose="02020603050405020304" pitchFamily="18" charset="0"/>
                <a:cs typeface="Times New Roman" panose="02020603050405020304" pitchFamily="18" charset="0"/>
              </a:rPr>
              <a:t> or </a:t>
            </a:r>
            <a:r>
              <a:rPr lang="en-US" b="0" i="0" u="none" strike="noStrike" baseline="0" dirty="0" err="1">
                <a:latin typeface="Times New Roman" panose="02020603050405020304" pitchFamily="18" charset="0"/>
                <a:cs typeface="Times New Roman" panose="02020603050405020304" pitchFamily="18" charset="0"/>
              </a:rPr>
              <a:t>STUDENT.Age</a:t>
            </a:r>
            <a:r>
              <a:rPr lang="en-US" b="0" i="0" u="none" strike="noStrike" baseline="0" dirty="0">
                <a:latin typeface="Times New Roman" panose="02020603050405020304" pitchFamily="18" charset="0"/>
                <a:cs typeface="Times New Roman" panose="02020603050405020304" pitchFamily="18" charset="0"/>
              </a:rPr>
              <a:t>.</a:t>
            </a:r>
          </a:p>
          <a:p>
            <a:pPr algn="just">
              <a:lnSpc>
                <a:spcPct val="150000"/>
              </a:lnSpc>
            </a:pPr>
            <a:endParaRPr lang="en-IN" b="0" i="0" u="none" strike="noStrike" baseline="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26625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5F332E-55F0-6F79-09B7-DDE23A8F6B1F}"/>
              </a:ext>
            </a:extLst>
          </p:cNvPr>
          <p:cNvSpPr>
            <a:spLocks noGrp="1"/>
          </p:cNvSpPr>
          <p:nvPr>
            <p:ph idx="1"/>
          </p:nvPr>
        </p:nvSpPr>
        <p:spPr>
          <a:xfrm>
            <a:off x="220133" y="0"/>
            <a:ext cx="11531600" cy="6857999"/>
          </a:xfrm>
        </p:spPr>
        <p:txBody>
          <a:bodyPr>
            <a:normAutofit fontScale="92500"/>
          </a:bodyPr>
          <a:lstStyle/>
          <a:p>
            <a:pPr marL="0" indent="0">
              <a:buNone/>
            </a:pPr>
            <a:r>
              <a:rPr lang="en-IN" sz="4400" b="1" i="0" u="none" strike="noStrike" baseline="0" dirty="0">
                <a:latin typeface="Times New Roman" panose="02020603050405020304" pitchFamily="18" charset="0"/>
                <a:cs typeface="Times New Roman" panose="02020603050405020304" pitchFamily="18" charset="0"/>
              </a:rPr>
              <a:t>Relational Model Notation</a:t>
            </a:r>
          </a:p>
          <a:p>
            <a:pPr algn="just">
              <a:lnSpc>
                <a:spcPct val="160000"/>
              </a:lnSpc>
            </a:pPr>
            <a:r>
              <a:rPr lang="en-US" b="0" i="0" u="none" strike="noStrike" baseline="0" dirty="0">
                <a:latin typeface="Times New Roman" panose="02020603050405020304" pitchFamily="18" charset="0"/>
                <a:cs typeface="Times New Roman" panose="02020603050405020304" pitchFamily="18" charset="0"/>
              </a:rPr>
              <a:t>An n-tuple t in a relation r(R) is denoted by t = &lt;v1, v2, ..., </a:t>
            </a:r>
            <a:r>
              <a:rPr lang="en-US" b="0" i="0" u="none" strike="noStrike" baseline="0" dirty="0" err="1">
                <a:latin typeface="Times New Roman" panose="02020603050405020304" pitchFamily="18" charset="0"/>
                <a:cs typeface="Times New Roman" panose="02020603050405020304" pitchFamily="18" charset="0"/>
              </a:rPr>
              <a:t>vn</a:t>
            </a:r>
            <a:r>
              <a:rPr lang="en-US" b="0" i="0" u="none" strike="noStrike" baseline="0" dirty="0">
                <a:latin typeface="Times New Roman" panose="02020603050405020304" pitchFamily="18" charset="0"/>
                <a:cs typeface="Times New Roman" panose="02020603050405020304" pitchFamily="18" charset="0"/>
              </a:rPr>
              <a:t>&gt;, where vi is the value corresponding to attribute Ai. The following notation refers to component values of tuples:</a:t>
            </a:r>
          </a:p>
          <a:p>
            <a:pPr algn="just">
              <a:lnSpc>
                <a:spcPct val="160000"/>
              </a:lnSpc>
            </a:pPr>
            <a:r>
              <a:rPr lang="en-US" b="0" i="0" u="none" strike="noStrike" baseline="0" dirty="0">
                <a:latin typeface="Times New Roman" panose="02020603050405020304" pitchFamily="18" charset="0"/>
                <a:cs typeface="Times New Roman" panose="02020603050405020304" pitchFamily="18" charset="0"/>
              </a:rPr>
              <a:t>Both t[Ai] and </a:t>
            </a:r>
            <a:r>
              <a:rPr lang="en-US" b="0" i="0" u="none" strike="noStrike" baseline="0" dirty="0" err="1">
                <a:latin typeface="Times New Roman" panose="02020603050405020304" pitchFamily="18" charset="0"/>
                <a:cs typeface="Times New Roman" panose="02020603050405020304" pitchFamily="18" charset="0"/>
              </a:rPr>
              <a:t>t.Ai</a:t>
            </a:r>
            <a:r>
              <a:rPr lang="en-US" b="0" i="0" u="none" strike="noStrike" baseline="0" dirty="0">
                <a:latin typeface="Times New Roman" panose="02020603050405020304" pitchFamily="18" charset="0"/>
                <a:cs typeface="Times New Roman" panose="02020603050405020304" pitchFamily="18" charset="0"/>
              </a:rPr>
              <a:t> (and sometimes t[</a:t>
            </a:r>
            <a:r>
              <a:rPr lang="en-US" b="0" i="0" u="none" strike="noStrike" baseline="0" dirty="0" err="1">
                <a:latin typeface="Times New Roman" panose="02020603050405020304" pitchFamily="18" charset="0"/>
                <a:cs typeface="Times New Roman" panose="02020603050405020304" pitchFamily="18" charset="0"/>
              </a:rPr>
              <a:t>i</a:t>
            </a:r>
            <a:r>
              <a:rPr lang="en-US" b="0" i="0" u="none" strike="noStrike" baseline="0" dirty="0">
                <a:latin typeface="Times New Roman" panose="02020603050405020304" pitchFamily="18" charset="0"/>
                <a:cs typeface="Times New Roman" panose="02020603050405020304" pitchFamily="18" charset="0"/>
              </a:rPr>
              <a:t>]) refer to the value vi in t for attribute Ai.</a:t>
            </a:r>
          </a:p>
          <a:p>
            <a:pPr algn="just">
              <a:lnSpc>
                <a:spcPct val="160000"/>
              </a:lnSpc>
            </a:pPr>
            <a:r>
              <a:rPr lang="en-US" b="0" i="0" u="none" strike="noStrike" baseline="0" dirty="0">
                <a:latin typeface="Times New Roman" panose="02020603050405020304" pitchFamily="18" charset="0"/>
                <a:cs typeface="Times New Roman" panose="02020603050405020304" pitchFamily="18" charset="0"/>
              </a:rPr>
              <a:t>Both t[Au, Aw, ..., Az] and t.(Au, Aw, ..., Az), where Au, Aw, ..., Az is a list of attributes from R,</a:t>
            </a:r>
          </a:p>
          <a:p>
            <a:pPr algn="just">
              <a:lnSpc>
                <a:spcPct val="160000"/>
              </a:lnSpc>
            </a:pPr>
            <a:r>
              <a:rPr lang="en-US" b="0" i="0" u="none" strike="noStrike" baseline="0" dirty="0">
                <a:latin typeface="Times New Roman" panose="02020603050405020304" pitchFamily="18" charset="0"/>
                <a:cs typeface="Times New Roman" panose="02020603050405020304" pitchFamily="18" charset="0"/>
              </a:rPr>
              <a:t>refer to the sub tuple of values &lt;vu, </a:t>
            </a:r>
            <a:r>
              <a:rPr lang="en-US" b="0" i="0" u="none" strike="noStrike" baseline="0" dirty="0" err="1">
                <a:latin typeface="Times New Roman" panose="02020603050405020304" pitchFamily="18" charset="0"/>
                <a:cs typeface="Times New Roman" panose="02020603050405020304" pitchFamily="18" charset="0"/>
              </a:rPr>
              <a:t>vw</a:t>
            </a:r>
            <a:r>
              <a:rPr lang="en-US" b="0" i="0" u="none" strike="noStrike" baseline="0" dirty="0">
                <a:latin typeface="Times New Roman" panose="02020603050405020304" pitchFamily="18" charset="0"/>
                <a:cs typeface="Times New Roman" panose="02020603050405020304" pitchFamily="18" charset="0"/>
              </a:rPr>
              <a:t>, ..., </a:t>
            </a:r>
            <a:r>
              <a:rPr lang="en-US" b="0" i="0" u="none" strike="noStrike" baseline="0" dirty="0" err="1">
                <a:latin typeface="Times New Roman" panose="02020603050405020304" pitchFamily="18" charset="0"/>
                <a:cs typeface="Times New Roman" panose="02020603050405020304" pitchFamily="18" charset="0"/>
              </a:rPr>
              <a:t>vz</a:t>
            </a:r>
            <a:r>
              <a:rPr lang="en-US" b="0" i="0" u="none" strike="noStrike" baseline="0" dirty="0">
                <a:latin typeface="Times New Roman" panose="02020603050405020304" pitchFamily="18" charset="0"/>
                <a:cs typeface="Times New Roman" panose="02020603050405020304" pitchFamily="18" charset="0"/>
              </a:rPr>
              <a:t>&gt; from t corresponding to the attributes specified </a:t>
            </a:r>
            <a:r>
              <a:rPr lang="en-IN" b="0" i="0" u="none" strike="noStrike" baseline="0" dirty="0">
                <a:latin typeface="Times New Roman" panose="02020603050405020304" pitchFamily="18" charset="0"/>
                <a:cs typeface="Times New Roman" panose="02020603050405020304" pitchFamily="18" charset="0"/>
              </a:rPr>
              <a:t>in the list</a:t>
            </a:r>
            <a:r>
              <a:rPr lang="en-IN" b="0" i="0" u="none" strike="noStrike" baseline="0" dirty="0">
                <a:latin typeface="CIDFont+F2"/>
              </a:rPr>
              <a:t>.</a:t>
            </a:r>
            <a:endParaRPr lang="en-IN" dirty="0"/>
          </a:p>
          <a:p>
            <a:endParaRPr lang="en-IN" dirty="0"/>
          </a:p>
        </p:txBody>
      </p:sp>
    </p:spTree>
    <p:extLst>
      <p:ext uri="{BB962C8B-B14F-4D97-AF65-F5344CB8AC3E}">
        <p14:creationId xmlns:p14="http://schemas.microsoft.com/office/powerpoint/2010/main" val="4497374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0CCBD-09A3-EC9F-A2AB-4D125921A334}"/>
              </a:ext>
            </a:extLst>
          </p:cNvPr>
          <p:cNvSpPr>
            <a:spLocks noGrp="1"/>
          </p:cNvSpPr>
          <p:nvPr>
            <p:ph type="title"/>
          </p:nvPr>
        </p:nvSpPr>
        <p:spPr>
          <a:xfrm>
            <a:off x="160256" y="1"/>
            <a:ext cx="11193544" cy="923826"/>
          </a:xfrm>
        </p:spPr>
        <p:txBody>
          <a:bodyPr>
            <a:normAutofit/>
          </a:bodyPr>
          <a:lstStyle/>
          <a:p>
            <a:r>
              <a:rPr lang="en-IN" sz="4000" b="1" dirty="0">
                <a:latin typeface="Times New Roman" panose="02020603050405020304" pitchFamily="18" charset="0"/>
                <a:cs typeface="Times New Roman" panose="02020603050405020304" pitchFamily="18" charset="0"/>
              </a:rPr>
              <a:t>Relational Model Constraints</a:t>
            </a:r>
          </a:p>
        </p:txBody>
      </p:sp>
      <p:sp>
        <p:nvSpPr>
          <p:cNvPr id="3" name="Content Placeholder 2">
            <a:extLst>
              <a:ext uri="{FF2B5EF4-FFF2-40B4-BE49-F238E27FC236}">
                <a16:creationId xmlns:a16="http://schemas.microsoft.com/office/drawing/2014/main" id="{C9BE2F95-82AD-6801-9D21-E36D5A758030}"/>
              </a:ext>
            </a:extLst>
          </p:cNvPr>
          <p:cNvSpPr>
            <a:spLocks noGrp="1"/>
          </p:cNvSpPr>
          <p:nvPr>
            <p:ph idx="1"/>
          </p:nvPr>
        </p:nvSpPr>
        <p:spPr>
          <a:xfrm>
            <a:off x="424206" y="923827"/>
            <a:ext cx="11406434" cy="5656082"/>
          </a:xfrm>
        </p:spPr>
        <p:txBody>
          <a:bodyPr>
            <a:noAutofit/>
          </a:bodyPr>
          <a:lstStyle/>
          <a:p>
            <a:pPr algn="l">
              <a:lnSpc>
                <a:spcPct val="150000"/>
              </a:lnSpc>
            </a:pPr>
            <a:r>
              <a:rPr lang="en-US" b="0" i="0" u="none" strike="noStrike" baseline="0" dirty="0">
                <a:latin typeface="Times New Roman" panose="02020603050405020304" pitchFamily="18" charset="0"/>
                <a:cs typeface="Times New Roman" panose="02020603050405020304" pitchFamily="18" charset="0"/>
              </a:rPr>
              <a:t>Constraints are restrictions on the actual values in a database state. </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 Constraints on databases can generally be divided into three main categories:</a:t>
            </a:r>
          </a:p>
          <a:p>
            <a:pPr marL="342900" indent="-342900" algn="l">
              <a:lnSpc>
                <a:spcPct val="150000"/>
              </a:lnSpc>
              <a:buAutoNum type="arabicPeriod"/>
            </a:pPr>
            <a:r>
              <a:rPr lang="en-IN" b="1" i="0" u="none" strike="noStrike" baseline="0" dirty="0">
                <a:latin typeface="Times New Roman" panose="02020603050405020304" pitchFamily="18" charset="0"/>
                <a:cs typeface="Times New Roman" panose="02020603050405020304" pitchFamily="18" charset="0"/>
              </a:rPr>
              <a:t>Inherent model-based constraints or implicit constraints</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Constraints that are inherent in the data model.(this constraint are inherent or already exits in the data model.)</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For example, the constraint that a relation cannot have duplicate tuples is an inherent constraint.</a:t>
            </a:r>
          </a:p>
        </p:txBody>
      </p:sp>
    </p:spTree>
    <p:extLst>
      <p:ext uri="{BB962C8B-B14F-4D97-AF65-F5344CB8AC3E}">
        <p14:creationId xmlns:p14="http://schemas.microsoft.com/office/powerpoint/2010/main" val="36190668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B9976F-57FC-12CC-66F6-11792CC06375}"/>
              </a:ext>
            </a:extLst>
          </p:cNvPr>
          <p:cNvSpPr>
            <a:spLocks noGrp="1"/>
          </p:cNvSpPr>
          <p:nvPr>
            <p:ph idx="1"/>
          </p:nvPr>
        </p:nvSpPr>
        <p:spPr>
          <a:xfrm>
            <a:off x="452487" y="169682"/>
            <a:ext cx="11170762" cy="6551629"/>
          </a:xfrm>
        </p:spPr>
        <p:txBody>
          <a:bodyPr>
            <a:normAutofit fontScale="70000" lnSpcReduction="20000"/>
          </a:bodyPr>
          <a:lstStyle/>
          <a:p>
            <a:pPr marL="0" indent="0" algn="l">
              <a:lnSpc>
                <a:spcPct val="150000"/>
              </a:lnSpc>
              <a:buNone/>
            </a:pPr>
            <a:r>
              <a:rPr lang="en-IN" sz="3600" b="1" i="0" u="none" strike="noStrike" baseline="0" dirty="0">
                <a:latin typeface="Times New Roman" panose="02020603050405020304" pitchFamily="18" charset="0"/>
                <a:cs typeface="Times New Roman" panose="02020603050405020304" pitchFamily="18" charset="0"/>
              </a:rPr>
              <a:t>2. Schema-based constraints or explicit constraints</a:t>
            </a:r>
          </a:p>
          <a:p>
            <a:pPr>
              <a:lnSpc>
                <a:spcPct val="150000"/>
              </a:lnSpc>
            </a:pPr>
            <a:r>
              <a:rPr lang="en-IN" sz="3600" i="0" u="none" strike="noStrike" baseline="0" dirty="0">
                <a:latin typeface="Times New Roman" panose="02020603050405020304" pitchFamily="18" charset="0"/>
                <a:cs typeface="Times New Roman" panose="02020603050405020304" pitchFamily="18" charset="0"/>
              </a:rPr>
              <a:t>Defined directly in the schemas of the data model</a:t>
            </a:r>
            <a:r>
              <a:rPr lang="en-US" sz="3600" i="0" u="none" strike="noStrike" baseline="0" dirty="0">
                <a:latin typeface="Times New Roman" panose="02020603050405020304" pitchFamily="18" charset="0"/>
                <a:cs typeface="Times New Roman" panose="02020603050405020304" pitchFamily="18" charset="0"/>
              </a:rPr>
              <a:t>.</a:t>
            </a:r>
          </a:p>
          <a:p>
            <a:pPr>
              <a:lnSpc>
                <a:spcPct val="150000"/>
              </a:lnSpc>
            </a:pPr>
            <a:r>
              <a:rPr lang="en-US" sz="3600" i="0" u="none" strike="noStrike" baseline="0" dirty="0">
                <a:latin typeface="Times New Roman" panose="02020603050405020304" pitchFamily="18" charset="0"/>
                <a:cs typeface="Times New Roman" panose="02020603050405020304" pitchFamily="18" charset="0"/>
              </a:rPr>
              <a:t>Ex: Age of the employee has to be between 22 to 65 years. here age is restricted to be between 22 to 65.</a:t>
            </a:r>
          </a:p>
          <a:p>
            <a:pPr algn="l">
              <a:lnSpc>
                <a:spcPct val="150000"/>
              </a:lnSpc>
            </a:pPr>
            <a:r>
              <a:rPr lang="en-US" sz="3600" i="1" u="none" strike="noStrike" baseline="0" dirty="0">
                <a:latin typeface="Times New Roman" panose="02020603050405020304" pitchFamily="18" charset="0"/>
                <a:cs typeface="Times New Roman" panose="02020603050405020304" pitchFamily="18" charset="0"/>
              </a:rPr>
              <a:t>The schema-based constraints include domain constraints, key constraints, constraints on NULLs, entity integrity constraints, and referential integrity constraints.</a:t>
            </a:r>
          </a:p>
          <a:p>
            <a:pPr marL="0" indent="0" algn="l">
              <a:lnSpc>
                <a:spcPct val="150000"/>
              </a:lnSpc>
              <a:buNone/>
            </a:pPr>
            <a:r>
              <a:rPr lang="en-US" sz="3600" b="1" i="0" u="none" strike="noStrike" baseline="0" dirty="0">
                <a:latin typeface="Times New Roman" panose="02020603050405020304" pitchFamily="18" charset="0"/>
                <a:cs typeface="Times New Roman" panose="02020603050405020304" pitchFamily="18" charset="0"/>
              </a:rPr>
              <a:t>3. Application-based or semantic constraints or business rules</a:t>
            </a:r>
          </a:p>
          <a:p>
            <a:pPr algn="l">
              <a:lnSpc>
                <a:spcPct val="150000"/>
              </a:lnSpc>
            </a:pPr>
            <a:r>
              <a:rPr lang="en-US" sz="3600" dirty="0">
                <a:latin typeface="Times New Roman" panose="02020603050405020304" pitchFamily="18" charset="0"/>
                <a:cs typeface="Times New Roman" panose="02020603050405020304" pitchFamily="18" charset="0"/>
              </a:rPr>
              <a:t>C</a:t>
            </a:r>
            <a:r>
              <a:rPr lang="en-US" sz="3600" b="0" i="0" u="none" strike="noStrike" baseline="0" dirty="0">
                <a:latin typeface="Times New Roman" panose="02020603050405020304" pitchFamily="18" charset="0"/>
                <a:cs typeface="Times New Roman" panose="02020603050405020304" pitchFamily="18" charset="0"/>
              </a:rPr>
              <a:t>annot be directly defined in the schemas of the data model,(that’s why it is difficult to express within the data model)</a:t>
            </a:r>
          </a:p>
          <a:p>
            <a:pPr algn="l">
              <a:lnSpc>
                <a:spcPct val="150000"/>
              </a:lnSpc>
            </a:pPr>
            <a:r>
              <a:rPr lang="en-US" sz="3600" b="0" i="0" u="none" strike="noStrike" baseline="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H</a:t>
            </a:r>
            <a:r>
              <a:rPr lang="en-US" sz="3600" b="0" i="0" u="none" strike="noStrike" baseline="0" dirty="0">
                <a:latin typeface="Times New Roman" panose="02020603050405020304" pitchFamily="18" charset="0"/>
                <a:cs typeface="Times New Roman" panose="02020603050405020304" pitchFamily="18" charset="0"/>
              </a:rPr>
              <a:t>ence must be expressed and enforced by the application programs.</a:t>
            </a:r>
            <a:endParaRPr lang="en-IN" sz="36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9557771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86D38-E3B1-A72E-62C3-AB0546127F06}"/>
              </a:ext>
            </a:extLst>
          </p:cNvPr>
          <p:cNvSpPr>
            <a:spLocks noGrp="1"/>
          </p:cNvSpPr>
          <p:nvPr>
            <p:ph type="title"/>
          </p:nvPr>
        </p:nvSpPr>
        <p:spPr>
          <a:xfrm>
            <a:off x="476835" y="113122"/>
            <a:ext cx="10876965" cy="575035"/>
          </a:xfrm>
        </p:spPr>
        <p:txBody>
          <a:bodyPr>
            <a:normAutofit fontScale="90000"/>
          </a:bodyPr>
          <a:lstStyle/>
          <a:p>
            <a:r>
              <a:rPr lang="en-IN" b="1" dirty="0">
                <a:latin typeface="Times New Roman" panose="02020603050405020304" pitchFamily="18" charset="0"/>
                <a:cs typeface="Times New Roman" panose="02020603050405020304" pitchFamily="18" charset="0"/>
              </a:rPr>
              <a:t>Schema-Based Constraints</a:t>
            </a:r>
          </a:p>
        </p:txBody>
      </p:sp>
      <p:sp>
        <p:nvSpPr>
          <p:cNvPr id="3" name="Content Placeholder 2">
            <a:extLst>
              <a:ext uri="{FF2B5EF4-FFF2-40B4-BE49-F238E27FC236}">
                <a16:creationId xmlns:a16="http://schemas.microsoft.com/office/drawing/2014/main" id="{26B2097D-6AAF-E0B0-251B-DFC879315788}"/>
              </a:ext>
            </a:extLst>
          </p:cNvPr>
          <p:cNvSpPr>
            <a:spLocks noGrp="1"/>
          </p:cNvSpPr>
          <p:nvPr>
            <p:ph idx="1"/>
          </p:nvPr>
        </p:nvSpPr>
        <p:spPr>
          <a:xfrm>
            <a:off x="476836" y="810705"/>
            <a:ext cx="11108705" cy="5712643"/>
          </a:xfrm>
        </p:spPr>
        <p:txBody>
          <a:bodyPr/>
          <a:lstStyle/>
          <a:p>
            <a:pPr marL="0" indent="0">
              <a:lnSpc>
                <a:spcPct val="150000"/>
              </a:lnSpc>
              <a:buNone/>
            </a:pPr>
            <a:r>
              <a:rPr lang="en-IN" b="1" dirty="0">
                <a:latin typeface="Times New Roman" panose="02020603050405020304" pitchFamily="18" charset="0"/>
                <a:cs typeface="Times New Roman" panose="02020603050405020304" pitchFamily="18" charset="0"/>
              </a:rPr>
              <a:t>1) Domain Constraints</a:t>
            </a:r>
          </a:p>
          <a:p>
            <a:pPr>
              <a:lnSpc>
                <a:spcPct val="150000"/>
              </a:lnSpc>
            </a:pPr>
            <a:r>
              <a:rPr lang="en-IN" dirty="0">
                <a:latin typeface="Times New Roman" panose="02020603050405020304" pitchFamily="18" charset="0"/>
                <a:cs typeface="Times New Roman" panose="02020603050405020304" pitchFamily="18" charset="0"/>
              </a:rPr>
              <a:t>Domain Constraints specifies that within each tuple the value of each attribute has to be atomic or indivisible.</a:t>
            </a:r>
          </a:p>
          <a:p>
            <a:pPr>
              <a:lnSpc>
                <a:spcPct val="150000"/>
              </a:lnSpc>
            </a:pPr>
            <a:r>
              <a:rPr lang="en-IN" dirty="0">
                <a:latin typeface="Times New Roman" panose="02020603050405020304" pitchFamily="18" charset="0"/>
                <a:cs typeface="Times New Roman" panose="02020603050405020304" pitchFamily="18" charset="0"/>
              </a:rPr>
              <a:t>This constraint checks the </a:t>
            </a:r>
            <a:r>
              <a:rPr lang="en-IN" b="1" dirty="0">
                <a:latin typeface="Times New Roman" panose="02020603050405020304" pitchFamily="18" charset="0"/>
                <a:cs typeface="Times New Roman" panose="02020603050405020304" pitchFamily="18" charset="0"/>
              </a:rPr>
              <a:t>data type </a:t>
            </a:r>
            <a:r>
              <a:rPr lang="en-IN" dirty="0">
                <a:latin typeface="Times New Roman" panose="02020603050405020304" pitchFamily="18" charset="0"/>
                <a:cs typeface="Times New Roman" panose="02020603050405020304" pitchFamily="18" charset="0"/>
              </a:rPr>
              <a:t>of the values of each attribute .</a:t>
            </a:r>
          </a:p>
          <a:p>
            <a:pPr>
              <a:lnSpc>
                <a:spcPct val="150000"/>
              </a:lnSpc>
            </a:pPr>
            <a:r>
              <a:rPr lang="en-IN" b="1" dirty="0">
                <a:latin typeface="Times New Roman" panose="02020603050405020304" pitchFamily="18" charset="0"/>
                <a:cs typeface="Times New Roman" panose="02020603050405020304" pitchFamily="18" charset="0"/>
              </a:rPr>
              <a:t>Ex: </a:t>
            </a:r>
            <a:r>
              <a:rPr lang="en-IN" dirty="0">
                <a:latin typeface="Times New Roman" panose="02020603050405020304" pitchFamily="18" charset="0"/>
                <a:cs typeface="Times New Roman" panose="02020603050405020304" pitchFamily="18" charset="0"/>
              </a:rPr>
              <a:t>If we  are assigning the data type of the attribute age as int then we cant have any values in that column other than int data type. </a:t>
            </a:r>
            <a:endParaRPr lang="en-IN" dirty="0"/>
          </a:p>
        </p:txBody>
      </p:sp>
    </p:spTree>
    <p:extLst>
      <p:ext uri="{BB962C8B-B14F-4D97-AF65-F5344CB8AC3E}">
        <p14:creationId xmlns:p14="http://schemas.microsoft.com/office/powerpoint/2010/main" val="15598107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7BE90A3-8F7D-B7AF-74B6-196596872F4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650" y="533400"/>
            <a:ext cx="10991850" cy="5643563"/>
          </a:xfrm>
        </p:spPr>
      </p:pic>
    </p:spTree>
    <p:extLst>
      <p:ext uri="{BB962C8B-B14F-4D97-AF65-F5344CB8AC3E}">
        <p14:creationId xmlns:p14="http://schemas.microsoft.com/office/powerpoint/2010/main" val="807403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48762E-5CDB-074D-2457-B432103D363A}"/>
              </a:ext>
            </a:extLst>
          </p:cNvPr>
          <p:cNvSpPr>
            <a:spLocks noGrp="1"/>
          </p:cNvSpPr>
          <p:nvPr>
            <p:ph idx="1"/>
          </p:nvPr>
        </p:nvSpPr>
        <p:spPr>
          <a:xfrm>
            <a:off x="452488" y="1"/>
            <a:ext cx="11227322" cy="6513920"/>
          </a:xfrm>
        </p:spPr>
        <p:txBody>
          <a:bodyPr/>
          <a:lstStyle/>
          <a:p>
            <a:pPr marL="0" indent="0">
              <a:lnSpc>
                <a:spcPct val="150000"/>
              </a:lnSpc>
              <a:buNone/>
            </a:pPr>
            <a:r>
              <a:rPr lang="en-IN" b="1" dirty="0">
                <a:latin typeface="Times New Roman" panose="02020603050405020304" pitchFamily="18" charset="0"/>
                <a:cs typeface="Times New Roman" panose="02020603050405020304" pitchFamily="18" charset="0"/>
              </a:rPr>
              <a:t>2) Key Constraints</a:t>
            </a:r>
          </a:p>
          <a:p>
            <a:pPr marL="0" indent="0">
              <a:lnSpc>
                <a:spcPct val="150000"/>
              </a:lnSpc>
              <a:buNone/>
            </a:pPr>
            <a:r>
              <a:rPr lang="en-IN" dirty="0">
                <a:latin typeface="Times New Roman" panose="02020603050405020304" pitchFamily="18" charset="0"/>
                <a:cs typeface="Times New Roman" panose="02020603050405020304" pitchFamily="18" charset="0"/>
              </a:rPr>
              <a:t>An attribute that can uniquely identify each tuple in a relation is called a </a:t>
            </a:r>
            <a:r>
              <a:rPr lang="en-IN" b="1" dirty="0">
                <a:latin typeface="Times New Roman" panose="02020603050405020304" pitchFamily="18" charset="0"/>
                <a:cs typeface="Times New Roman" panose="02020603050405020304" pitchFamily="18" charset="0"/>
              </a:rPr>
              <a:t>Key.</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pPr marL="0" indent="0">
              <a:buNone/>
            </a:pPr>
            <a:endParaRPr lang="en-IN"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E3636D3-499A-A925-8000-F6349F9444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488" y="1680520"/>
            <a:ext cx="11287024" cy="4833402"/>
          </a:xfrm>
          <a:prstGeom prst="rect">
            <a:avLst/>
          </a:prstGeom>
        </p:spPr>
      </p:pic>
    </p:spTree>
    <p:extLst>
      <p:ext uri="{BB962C8B-B14F-4D97-AF65-F5344CB8AC3E}">
        <p14:creationId xmlns:p14="http://schemas.microsoft.com/office/powerpoint/2010/main" val="2801291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29C0887-132D-BAA6-65F3-A5C7B9F5DD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35944" y="2594918"/>
            <a:ext cx="5883062" cy="4263082"/>
          </a:xfrm>
          <a:prstGeom prst="rect">
            <a:avLst/>
          </a:prstGeom>
        </p:spPr>
      </p:pic>
      <p:pic>
        <p:nvPicPr>
          <p:cNvPr id="9" name="Content Placeholder 8">
            <a:extLst>
              <a:ext uri="{FF2B5EF4-FFF2-40B4-BE49-F238E27FC236}">
                <a16:creationId xmlns:a16="http://schemas.microsoft.com/office/drawing/2014/main" id="{0847DFC3-9F2C-2C9C-E5FB-8B562799B365}"/>
              </a:ext>
            </a:extLst>
          </p:cNvPr>
          <p:cNvPicPr>
            <a:picLocks noGrp="1" noChangeAspect="1"/>
          </p:cNvPicPr>
          <p:nvPr>
            <p:ph sz="half" idx="1"/>
          </p:nvPr>
        </p:nvPicPr>
        <p:blipFill>
          <a:blip r:embed="rId3"/>
          <a:stretch>
            <a:fillRect/>
          </a:stretch>
        </p:blipFill>
        <p:spPr>
          <a:xfrm>
            <a:off x="172994" y="2594918"/>
            <a:ext cx="5696465" cy="4263081"/>
          </a:xfrm>
          <a:prstGeom prst="rect">
            <a:avLst/>
          </a:prstGeom>
        </p:spPr>
      </p:pic>
      <p:sp>
        <p:nvSpPr>
          <p:cNvPr id="7" name="TextBox 6">
            <a:extLst>
              <a:ext uri="{FF2B5EF4-FFF2-40B4-BE49-F238E27FC236}">
                <a16:creationId xmlns:a16="http://schemas.microsoft.com/office/drawing/2014/main" id="{82904D59-99B1-B1C2-84B3-503ADE14B88F}"/>
              </a:ext>
            </a:extLst>
          </p:cNvPr>
          <p:cNvSpPr txBox="1"/>
          <p:nvPr/>
        </p:nvSpPr>
        <p:spPr>
          <a:xfrm>
            <a:off x="-1" y="0"/>
            <a:ext cx="12192001" cy="2421112"/>
          </a:xfrm>
          <a:prstGeom prst="rect">
            <a:avLst/>
          </a:prstGeom>
          <a:noFill/>
        </p:spPr>
        <p:txBody>
          <a:bodyPr wrap="square">
            <a:spAutoFit/>
          </a:bodyPr>
          <a:lstStyle/>
          <a:p>
            <a:pPr>
              <a:lnSpc>
                <a:spcPct val="150000"/>
              </a:lnSpc>
            </a:pPr>
            <a:r>
              <a:rPr lang="en-IN" sz="2600" dirty="0">
                <a:latin typeface="Times New Roman" panose="02020603050405020304" pitchFamily="18" charset="0"/>
                <a:cs typeface="Times New Roman" panose="02020603050405020304" pitchFamily="18" charset="0"/>
              </a:rPr>
              <a:t>A </a:t>
            </a:r>
            <a:r>
              <a:rPr lang="en-IN" sz="2600" b="1" dirty="0">
                <a:latin typeface="Times New Roman" panose="02020603050405020304" pitchFamily="18" charset="0"/>
                <a:cs typeface="Times New Roman" panose="02020603050405020304" pitchFamily="18" charset="0"/>
              </a:rPr>
              <a:t>Super key </a:t>
            </a:r>
            <a:r>
              <a:rPr lang="en-IN" sz="2600" dirty="0">
                <a:latin typeface="Times New Roman" panose="02020603050405020304" pitchFamily="18" charset="0"/>
                <a:cs typeface="Times New Roman" panose="02020603050405020304" pitchFamily="18" charset="0"/>
              </a:rPr>
              <a:t>is set of attribute that can be is identified each tuple in relation uniquely.</a:t>
            </a:r>
          </a:p>
          <a:p>
            <a:pPr>
              <a:lnSpc>
                <a:spcPct val="150000"/>
              </a:lnSpc>
            </a:pPr>
            <a:r>
              <a:rPr lang="en-IN" sz="2600" dirty="0">
                <a:latin typeface="Times New Roman" panose="02020603050405020304" pitchFamily="18" charset="0"/>
                <a:cs typeface="Times New Roman" panose="02020603050405020304" pitchFamily="18" charset="0"/>
              </a:rPr>
              <a:t>A </a:t>
            </a:r>
            <a:r>
              <a:rPr lang="en-IN" sz="2600" b="1" dirty="0">
                <a:latin typeface="Times New Roman" panose="02020603050405020304" pitchFamily="18" charset="0"/>
                <a:cs typeface="Times New Roman" panose="02020603050405020304" pitchFamily="18" charset="0"/>
              </a:rPr>
              <a:t>super key </a:t>
            </a:r>
            <a:r>
              <a:rPr lang="en-IN" sz="2600" dirty="0">
                <a:latin typeface="Times New Roman" panose="02020603050405020304" pitchFamily="18" charset="0"/>
                <a:cs typeface="Times New Roman" panose="02020603050405020304" pitchFamily="18" charset="0"/>
              </a:rPr>
              <a:t>specifies that no two tuples can have the same values.</a:t>
            </a:r>
          </a:p>
          <a:p>
            <a:pPr>
              <a:lnSpc>
                <a:spcPct val="150000"/>
              </a:lnSpc>
            </a:pPr>
            <a:r>
              <a:rPr lang="en-IN" sz="2600" dirty="0">
                <a:latin typeface="Times New Roman" panose="02020603050405020304" pitchFamily="18" charset="0"/>
                <a:cs typeface="Times New Roman" panose="02020603050405020304" pitchFamily="18" charset="0"/>
              </a:rPr>
              <a:t>Every relation has at least one super key by default and that super key is a set of all attributes.</a:t>
            </a:r>
          </a:p>
        </p:txBody>
      </p:sp>
    </p:spTree>
    <p:extLst>
      <p:ext uri="{BB962C8B-B14F-4D97-AF65-F5344CB8AC3E}">
        <p14:creationId xmlns:p14="http://schemas.microsoft.com/office/powerpoint/2010/main" val="10220772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F49F3F5B-7E00-0B2D-4724-ECD9FCFF20A8}"/>
              </a:ext>
            </a:extLst>
          </p:cNvPr>
          <p:cNvSpPr>
            <a:spLocks noGrp="1"/>
          </p:cNvSpPr>
          <p:nvPr>
            <p:ph idx="1"/>
          </p:nvPr>
        </p:nvSpPr>
        <p:spPr>
          <a:xfrm>
            <a:off x="65988" y="-98854"/>
            <a:ext cx="12000321" cy="6275817"/>
          </a:xfrm>
        </p:spPr>
        <p:txBody>
          <a:bodyPr/>
          <a:lstStyle/>
          <a:p>
            <a:pPr>
              <a:lnSpc>
                <a:spcPct val="150000"/>
              </a:lnSpc>
            </a:pPr>
            <a:r>
              <a:rPr lang="en-IN" sz="2400" dirty="0">
                <a:latin typeface="Times New Roman" panose="02020603050405020304" pitchFamily="18" charset="0"/>
                <a:cs typeface="Times New Roman" panose="02020603050405020304" pitchFamily="18" charset="0"/>
              </a:rPr>
              <a:t>A key satisfies 2 constraints.</a:t>
            </a:r>
          </a:p>
          <a:p>
            <a:pPr marL="514350" indent="-514350">
              <a:lnSpc>
                <a:spcPct val="150000"/>
              </a:lnSpc>
              <a:buAutoNum type="arabicParenR"/>
            </a:pPr>
            <a:r>
              <a:rPr lang="en-IN" sz="2400" dirty="0">
                <a:latin typeface="Times New Roman" panose="02020603050405020304" pitchFamily="18" charset="0"/>
                <a:cs typeface="Times New Roman" panose="02020603050405020304" pitchFamily="18" charset="0"/>
              </a:rPr>
              <a:t>Two tuples cannot have identical values for all the attributers in the key.</a:t>
            </a:r>
          </a:p>
          <a:p>
            <a:pPr marL="514350" indent="-514350">
              <a:lnSpc>
                <a:spcPct val="150000"/>
              </a:lnSpc>
              <a:buAutoNum type="arabicParenR"/>
            </a:pPr>
            <a:r>
              <a:rPr lang="en-IN" sz="2400" dirty="0">
                <a:latin typeface="Times New Roman" panose="02020603050405020304" pitchFamily="18" charset="0"/>
                <a:cs typeface="Times New Roman" panose="02020603050405020304" pitchFamily="18" charset="0"/>
              </a:rPr>
              <a:t>It has to be a </a:t>
            </a:r>
            <a:r>
              <a:rPr lang="en-IN" sz="2400" b="1" dirty="0">
                <a:latin typeface="Times New Roman" panose="02020603050405020304" pitchFamily="18" charset="0"/>
                <a:cs typeface="Times New Roman" panose="02020603050405020304" pitchFamily="18" charset="0"/>
              </a:rPr>
              <a:t>minimum super key </a:t>
            </a:r>
          </a:p>
          <a:p>
            <a:pPr marL="0" indent="0">
              <a:lnSpc>
                <a:spcPct val="150000"/>
              </a:lnSpc>
              <a:buNone/>
            </a:pPr>
            <a:r>
              <a:rPr lang="en-IN" sz="2400" dirty="0">
                <a:latin typeface="Times New Roman" panose="02020603050405020304" pitchFamily="18" charset="0"/>
                <a:cs typeface="Times New Roman" panose="02020603050405020304" pitchFamily="18" charset="0"/>
              </a:rPr>
              <a:t>First condition is for both key and super key and second condition is only for keys</a:t>
            </a:r>
            <a:r>
              <a:rPr lang="en-IN" dirty="0">
                <a:latin typeface="Times New Roman" panose="02020603050405020304" pitchFamily="18" charset="0"/>
                <a:cs typeface="Times New Roman" panose="02020603050405020304" pitchFamily="18" charset="0"/>
              </a:rPr>
              <a:t>.</a:t>
            </a:r>
          </a:p>
          <a:p>
            <a:endParaRPr lang="en-IN" dirty="0"/>
          </a:p>
        </p:txBody>
      </p:sp>
      <p:pic>
        <p:nvPicPr>
          <p:cNvPr id="9" name="Picture 8">
            <a:extLst>
              <a:ext uri="{FF2B5EF4-FFF2-40B4-BE49-F238E27FC236}">
                <a16:creationId xmlns:a16="http://schemas.microsoft.com/office/drawing/2014/main" id="{D070AD96-58DF-F59B-600F-D396A5BA25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2681" y="2767914"/>
            <a:ext cx="10132541" cy="4005245"/>
          </a:xfrm>
          <a:prstGeom prst="rect">
            <a:avLst/>
          </a:prstGeom>
        </p:spPr>
      </p:pic>
    </p:spTree>
    <p:extLst>
      <p:ext uri="{BB962C8B-B14F-4D97-AF65-F5344CB8AC3E}">
        <p14:creationId xmlns:p14="http://schemas.microsoft.com/office/powerpoint/2010/main" val="23022790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4B976D-473B-D4AF-8448-1195700E9CE5}"/>
              </a:ext>
            </a:extLst>
          </p:cNvPr>
          <p:cNvSpPr>
            <a:spLocks noGrp="1"/>
          </p:cNvSpPr>
          <p:nvPr>
            <p:ph idx="1"/>
          </p:nvPr>
        </p:nvSpPr>
        <p:spPr>
          <a:xfrm>
            <a:off x="369455" y="138545"/>
            <a:ext cx="11333018" cy="6474691"/>
          </a:xfrm>
        </p:spPr>
        <p:txBody>
          <a:bodyPr>
            <a:normAutofit lnSpcReduction="10000"/>
          </a:bodyPr>
          <a:lstStyle/>
          <a:p>
            <a:pPr marL="0" indent="0">
              <a:lnSpc>
                <a:spcPct val="150000"/>
              </a:lnSpc>
              <a:buNone/>
            </a:pPr>
            <a:r>
              <a:rPr lang="en-IN" dirty="0">
                <a:latin typeface="Times New Roman" panose="02020603050405020304" pitchFamily="18" charset="0"/>
                <a:cs typeface="Times New Roman" panose="02020603050405020304" pitchFamily="18" charset="0"/>
              </a:rPr>
              <a:t>Now the relation schema can have more then one key in that case each of key is called candidate key.</a:t>
            </a:r>
          </a:p>
          <a:p>
            <a:pPr marL="0" indent="0">
              <a:lnSpc>
                <a:spcPct val="150000"/>
              </a:lnSpc>
              <a:buNone/>
            </a:pPr>
            <a:r>
              <a:rPr lang="en-IN" b="1" dirty="0">
                <a:latin typeface="Times New Roman" panose="02020603050405020304" pitchFamily="18" charset="0"/>
                <a:cs typeface="Times New Roman" panose="02020603050405020304" pitchFamily="18" charset="0"/>
              </a:rPr>
              <a:t>Candidate Key: </a:t>
            </a:r>
            <a:r>
              <a:rPr lang="en-IN" dirty="0">
                <a:latin typeface="Times New Roman" panose="02020603050405020304" pitchFamily="18" charset="0"/>
                <a:cs typeface="Times New Roman" panose="02020603050405020304" pitchFamily="18" charset="0"/>
              </a:rPr>
              <a:t>It is a set of attributes that uniquely identify the tuples in a relation.</a:t>
            </a:r>
          </a:p>
          <a:p>
            <a:pPr marL="0" indent="0">
              <a:lnSpc>
                <a:spcPct val="150000"/>
              </a:lnSpc>
              <a:buNone/>
            </a:pPr>
            <a:r>
              <a:rPr lang="en-IN" b="1" dirty="0">
                <a:latin typeface="Times New Roman" panose="02020603050405020304" pitchFamily="18" charset="0"/>
                <a:cs typeface="Times New Roman" panose="02020603050405020304" pitchFamily="18" charset="0"/>
              </a:rPr>
              <a:t>Ex: </a:t>
            </a:r>
            <a:r>
              <a:rPr lang="en-IN" dirty="0">
                <a:latin typeface="Times New Roman" panose="02020603050405020304" pitchFamily="18" charset="0"/>
                <a:cs typeface="Times New Roman" panose="02020603050405020304" pitchFamily="18" charset="0"/>
              </a:rPr>
              <a:t>In this relation we have 2 candidate key </a:t>
            </a:r>
          </a:p>
          <a:p>
            <a:pPr marL="0" indent="0">
              <a:lnSpc>
                <a:spcPct val="150000"/>
              </a:lnSpc>
              <a:buNone/>
            </a:pPr>
            <a:r>
              <a:rPr lang="en-IN" dirty="0">
                <a:latin typeface="Times New Roman" panose="02020603050405020304" pitchFamily="18" charset="0"/>
                <a:cs typeface="Times New Roman" panose="02020603050405020304" pitchFamily="18" charset="0"/>
              </a:rPr>
              <a:t>	roll number.</a:t>
            </a:r>
          </a:p>
          <a:p>
            <a:pPr marL="0" indent="0">
              <a:lnSpc>
                <a:spcPct val="150000"/>
              </a:lnSpc>
              <a:buNone/>
            </a:pPr>
            <a:r>
              <a:rPr lang="en-IN" dirty="0">
                <a:latin typeface="Times New Roman" panose="02020603050405020304" pitchFamily="18" charset="0"/>
                <a:cs typeface="Times New Roman" panose="02020603050405020304" pitchFamily="18" charset="0"/>
              </a:rPr>
              <a:t> 	email.</a:t>
            </a:r>
          </a:p>
          <a:p>
            <a:pPr marL="0" indent="0">
              <a:lnSpc>
                <a:spcPct val="150000"/>
              </a:lnSpc>
              <a:buNone/>
            </a:pPr>
            <a:r>
              <a:rPr lang="en-IN" dirty="0">
                <a:latin typeface="Times New Roman" panose="02020603050405020304" pitchFamily="18" charset="0"/>
                <a:cs typeface="Times New Roman" panose="02020603050405020304" pitchFamily="18" charset="0"/>
              </a:rPr>
              <a:t>We can have any number of candidate key in the relation but we designate only one of the candidate key as the </a:t>
            </a:r>
            <a:r>
              <a:rPr lang="en-IN" b="1" dirty="0">
                <a:latin typeface="Times New Roman" panose="02020603050405020304" pitchFamily="18" charset="0"/>
                <a:cs typeface="Times New Roman" panose="02020603050405020304" pitchFamily="18" charset="0"/>
              </a:rPr>
              <a:t>primary key </a:t>
            </a:r>
            <a:r>
              <a:rPr lang="en-IN" dirty="0">
                <a:latin typeface="Times New Roman" panose="02020603050405020304" pitchFamily="18" charset="0"/>
                <a:cs typeface="Times New Roman" panose="02020603050405020304" pitchFamily="18" charset="0"/>
              </a:rPr>
              <a:t>of that relation.</a:t>
            </a:r>
          </a:p>
          <a:p>
            <a:pPr marL="0" indent="0">
              <a:buNone/>
            </a:pPr>
            <a:endParaRPr lang="en-IN" dirty="0">
              <a:latin typeface="Times New Roman" panose="02020603050405020304" pitchFamily="18" charset="0"/>
              <a:cs typeface="Times New Roman" panose="02020603050405020304" pitchFamily="18" charset="0"/>
            </a:endParaRPr>
          </a:p>
        </p:txBody>
      </p:sp>
      <p:pic>
        <p:nvPicPr>
          <p:cNvPr id="2" name="Content Placeholder 8">
            <a:extLst>
              <a:ext uri="{FF2B5EF4-FFF2-40B4-BE49-F238E27FC236}">
                <a16:creationId xmlns:a16="http://schemas.microsoft.com/office/drawing/2014/main" id="{6B6412EC-8191-3C29-8ABF-24B8AC1BB468}"/>
              </a:ext>
            </a:extLst>
          </p:cNvPr>
          <p:cNvPicPr>
            <a:picLocks noChangeAspect="1"/>
          </p:cNvPicPr>
          <p:nvPr/>
        </p:nvPicPr>
        <p:blipFill>
          <a:blip r:embed="rId3"/>
          <a:stretch>
            <a:fillRect/>
          </a:stretch>
        </p:blipFill>
        <p:spPr>
          <a:xfrm>
            <a:off x="7055708" y="2125362"/>
            <a:ext cx="4736757" cy="2879125"/>
          </a:xfrm>
          <a:prstGeom prst="rect">
            <a:avLst/>
          </a:prstGeom>
        </p:spPr>
      </p:pic>
    </p:spTree>
    <p:extLst>
      <p:ext uri="{BB962C8B-B14F-4D97-AF65-F5344CB8AC3E}">
        <p14:creationId xmlns:p14="http://schemas.microsoft.com/office/powerpoint/2010/main" val="36197267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73CAAA-FDF1-BDDF-9B8D-A19173F818F9}"/>
              </a:ext>
            </a:extLst>
          </p:cNvPr>
          <p:cNvSpPr>
            <a:spLocks noGrp="1"/>
          </p:cNvSpPr>
          <p:nvPr>
            <p:ph sz="half" idx="1"/>
          </p:nvPr>
        </p:nvSpPr>
        <p:spPr>
          <a:xfrm>
            <a:off x="0" y="0"/>
            <a:ext cx="5918886" cy="6759146"/>
          </a:xfrm>
        </p:spPr>
        <p:txBody>
          <a:bodyPr>
            <a:normAutofit/>
          </a:bodyPr>
          <a:lstStyle/>
          <a:p>
            <a:pPr marL="0" indent="0">
              <a:lnSpc>
                <a:spcPct val="150000"/>
              </a:lnSpc>
              <a:buNone/>
            </a:pPr>
            <a:r>
              <a:rPr lang="en-IN" b="1" dirty="0">
                <a:latin typeface="Times New Roman" panose="02020603050405020304" pitchFamily="18" charset="0"/>
                <a:cs typeface="Times New Roman" panose="02020603050405020304" pitchFamily="18" charset="0"/>
              </a:rPr>
              <a:t>3) Constraint on Null values:</a:t>
            </a:r>
          </a:p>
          <a:p>
            <a:pPr marL="0" indent="0">
              <a:lnSpc>
                <a:spcPct val="150000"/>
              </a:lnSpc>
              <a:buNone/>
            </a:pPr>
            <a:r>
              <a:rPr lang="en-IN" dirty="0">
                <a:latin typeface="Times New Roman" panose="02020603050405020304" pitchFamily="18" charset="0"/>
                <a:cs typeface="Times New Roman" panose="02020603050405020304" pitchFamily="18" charset="0"/>
              </a:rPr>
              <a:t>Specifies whether null values are permitted or not</a:t>
            </a:r>
            <a:r>
              <a:rPr lang="en-IN" b="1" dirty="0">
                <a:latin typeface="Times New Roman" panose="02020603050405020304" pitchFamily="18" charset="0"/>
                <a:cs typeface="Times New Roman" panose="02020603050405020304" pitchFamily="18" charset="0"/>
              </a:rPr>
              <a:t>(NOT NULL</a:t>
            </a:r>
            <a:r>
              <a:rPr lang="en-IN" dirty="0">
                <a:latin typeface="Times New Roman" panose="02020603050405020304" pitchFamily="18" charset="0"/>
                <a:cs typeface="Times New Roman" panose="02020603050405020304" pitchFamily="18" charset="0"/>
              </a:rPr>
              <a:t>).</a:t>
            </a:r>
          </a:p>
          <a:p>
            <a:pPr marL="0" indent="0">
              <a:lnSpc>
                <a:spcPct val="150000"/>
              </a:lnSpc>
              <a:buNone/>
            </a:pPr>
            <a:r>
              <a:rPr lang="en-IN" dirty="0">
                <a:latin typeface="Times New Roman" panose="02020603050405020304" pitchFamily="18" charset="0"/>
                <a:cs typeface="Times New Roman" panose="02020603050405020304" pitchFamily="18" charset="0"/>
              </a:rPr>
              <a:t>If we are giving NOT NULL constraint to any of the attribute then value of that attribute cannot be null. </a:t>
            </a:r>
          </a:p>
          <a:p>
            <a:pPr marL="0" indent="0">
              <a:lnSpc>
                <a:spcPct val="150000"/>
              </a:lnSpc>
              <a:buNone/>
            </a:pPr>
            <a:r>
              <a:rPr lang="en-IN" b="1" dirty="0">
                <a:latin typeface="Times New Roman" panose="02020603050405020304" pitchFamily="18" charset="0"/>
                <a:cs typeface="Times New Roman" panose="02020603050405020304" pitchFamily="18" charset="0"/>
              </a:rPr>
              <a:t>4) Entity Integrity Constraint: </a:t>
            </a:r>
          </a:p>
          <a:p>
            <a:pPr marL="0" indent="0">
              <a:lnSpc>
                <a:spcPct val="150000"/>
              </a:lnSpc>
              <a:buNone/>
            </a:pPr>
            <a:r>
              <a:rPr lang="en-IN" dirty="0">
                <a:latin typeface="Times New Roman" panose="02020603050405020304" pitchFamily="18" charset="0"/>
                <a:cs typeface="Times New Roman" panose="02020603050405020304" pitchFamily="18" charset="0"/>
              </a:rPr>
              <a:t>States that no </a:t>
            </a:r>
            <a:r>
              <a:rPr lang="en-IN" b="1" dirty="0">
                <a:latin typeface="Times New Roman" panose="02020603050405020304" pitchFamily="18" charset="0"/>
                <a:cs typeface="Times New Roman" panose="02020603050405020304" pitchFamily="18" charset="0"/>
              </a:rPr>
              <a:t>primary key value can be null.</a:t>
            </a:r>
          </a:p>
        </p:txBody>
      </p:sp>
      <p:pic>
        <p:nvPicPr>
          <p:cNvPr id="4" name="Picture 3">
            <a:extLst>
              <a:ext uri="{FF2B5EF4-FFF2-40B4-BE49-F238E27FC236}">
                <a16:creationId xmlns:a16="http://schemas.microsoft.com/office/drawing/2014/main" id="{6F0C7C34-A2DB-0E0A-5C38-31C9E87A50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4879" y="2678636"/>
            <a:ext cx="5826209" cy="4080510"/>
          </a:xfrm>
          <a:prstGeom prst="rect">
            <a:avLst/>
          </a:prstGeom>
        </p:spPr>
      </p:pic>
    </p:spTree>
    <p:extLst>
      <p:ext uri="{BB962C8B-B14F-4D97-AF65-F5344CB8AC3E}">
        <p14:creationId xmlns:p14="http://schemas.microsoft.com/office/powerpoint/2010/main" val="7531190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A060E4-2542-3987-D6FC-770843BB96E1}"/>
              </a:ext>
            </a:extLst>
          </p:cNvPr>
          <p:cNvSpPr>
            <a:spLocks noGrp="1"/>
          </p:cNvSpPr>
          <p:nvPr>
            <p:ph sz="half" idx="1"/>
          </p:nvPr>
        </p:nvSpPr>
        <p:spPr>
          <a:xfrm>
            <a:off x="98854" y="86496"/>
            <a:ext cx="5997146" cy="6771503"/>
          </a:xfrm>
        </p:spPr>
        <p:txBody>
          <a:bodyPr>
            <a:normAutofit/>
          </a:bodyPr>
          <a:lstStyle/>
          <a:p>
            <a:pPr marL="0" indent="0">
              <a:lnSpc>
                <a:spcPct val="150000"/>
              </a:lnSpc>
              <a:buNone/>
            </a:pPr>
            <a:r>
              <a:rPr lang="en-IN" b="1" dirty="0">
                <a:latin typeface="Times New Roman" panose="02020603050405020304" pitchFamily="18" charset="0"/>
                <a:cs typeface="Times New Roman" panose="02020603050405020304" pitchFamily="18" charset="0"/>
              </a:rPr>
              <a:t>5) Referential integrity Constraint</a:t>
            </a:r>
          </a:p>
          <a:p>
            <a:pPr marL="0" indent="0">
              <a:lnSpc>
                <a:spcPct val="150000"/>
              </a:lnSpc>
              <a:buNone/>
            </a:pPr>
            <a:r>
              <a:rPr lang="en-IN" dirty="0">
                <a:latin typeface="Times New Roman" panose="02020603050405020304" pitchFamily="18" charset="0"/>
                <a:cs typeface="Times New Roman" panose="02020603050405020304" pitchFamily="18" charset="0"/>
              </a:rPr>
              <a:t>A key constraint and entity integrity constraint are specified on a single relation or a single table whereas </a:t>
            </a:r>
            <a:r>
              <a:rPr lang="en-IN" b="1" dirty="0">
                <a:latin typeface="Times New Roman" panose="02020603050405020304" pitchFamily="18" charset="0"/>
                <a:cs typeface="Times New Roman" panose="02020603050405020304" pitchFamily="18" charset="0"/>
              </a:rPr>
              <a:t>referential integrity </a:t>
            </a:r>
            <a:r>
              <a:rPr lang="en-IN" dirty="0">
                <a:latin typeface="Times New Roman" panose="02020603050405020304" pitchFamily="18" charset="0"/>
                <a:cs typeface="Times New Roman" panose="02020603050405020304" pitchFamily="18" charset="0"/>
              </a:rPr>
              <a:t>constraints is specified between two relation or two table.</a:t>
            </a:r>
          </a:p>
          <a:p>
            <a:pPr marL="0" indent="0">
              <a:lnSpc>
                <a:spcPct val="150000"/>
              </a:lnSpc>
              <a:buNone/>
            </a:pPr>
            <a:r>
              <a:rPr lang="en-IN" dirty="0">
                <a:latin typeface="Times New Roman" panose="02020603050405020304" pitchFamily="18" charset="0"/>
                <a:cs typeface="Times New Roman" panose="02020603050405020304" pitchFamily="18" charset="0"/>
              </a:rPr>
              <a:t>It states that refers to another relation must refer to an existing tuple in that relation.</a:t>
            </a:r>
          </a:p>
          <a:p>
            <a:pPr marL="0" indent="0">
              <a:lnSpc>
                <a:spcPct val="150000"/>
              </a:lnSpc>
              <a:buNone/>
            </a:pPr>
            <a:endParaRPr lang="en-IN" dirty="0">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88049192-01DC-E419-2CE7-8BDC248ADC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7103" y="43247"/>
            <a:ext cx="6236043" cy="6728257"/>
          </a:xfrm>
          <a:prstGeom prst="rect">
            <a:avLst/>
          </a:prstGeom>
        </p:spPr>
      </p:pic>
    </p:spTree>
    <p:extLst>
      <p:ext uri="{BB962C8B-B14F-4D97-AF65-F5344CB8AC3E}">
        <p14:creationId xmlns:p14="http://schemas.microsoft.com/office/powerpoint/2010/main" val="17282033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6549D9-4FAD-3DE9-97C7-1BCFE13EE58D}"/>
              </a:ext>
            </a:extLst>
          </p:cNvPr>
          <p:cNvSpPr>
            <a:spLocks noGrp="1"/>
          </p:cNvSpPr>
          <p:nvPr>
            <p:ph sz="half" idx="1"/>
          </p:nvPr>
        </p:nvSpPr>
        <p:spPr>
          <a:xfrm>
            <a:off x="-1" y="0"/>
            <a:ext cx="6635577" cy="6858000"/>
          </a:xfrm>
        </p:spPr>
        <p:txBody>
          <a:bodyPr>
            <a:normAutofit/>
          </a:bodyPr>
          <a:lstStyle/>
          <a:p>
            <a:pPr marL="0" indent="0">
              <a:lnSpc>
                <a:spcPct val="150000"/>
              </a:lnSpc>
              <a:buNone/>
            </a:pPr>
            <a:r>
              <a:rPr lang="en-IN" dirty="0">
                <a:latin typeface="Times New Roman" panose="02020603050405020304" pitchFamily="18" charset="0"/>
                <a:cs typeface="Times New Roman" panose="02020603050405020304" pitchFamily="18" charset="0"/>
              </a:rPr>
              <a:t>The attribute of one relation that refers to the primary key of another relation is called the </a:t>
            </a:r>
            <a:r>
              <a:rPr lang="en-IN" b="1" dirty="0">
                <a:latin typeface="Times New Roman" panose="02020603050405020304" pitchFamily="18" charset="0"/>
                <a:cs typeface="Times New Roman" panose="02020603050405020304" pitchFamily="18" charset="0"/>
              </a:rPr>
              <a:t>foreign key</a:t>
            </a:r>
            <a:r>
              <a:rPr lang="en-IN" dirty="0">
                <a:latin typeface="Times New Roman" panose="02020603050405020304" pitchFamily="18" charset="0"/>
                <a:cs typeface="Times New Roman" panose="02020603050405020304" pitchFamily="18" charset="0"/>
              </a:rPr>
              <a:t>.</a:t>
            </a:r>
          </a:p>
          <a:p>
            <a:pPr marL="0" indent="0">
              <a:lnSpc>
                <a:spcPct val="150000"/>
              </a:lnSpc>
              <a:buNone/>
            </a:pPr>
            <a:r>
              <a:rPr lang="en-IN" b="1" dirty="0">
                <a:latin typeface="Times New Roman" panose="02020603050405020304" pitchFamily="18" charset="0"/>
                <a:cs typeface="Times New Roman" panose="02020603050405020304" pitchFamily="18" charset="0"/>
              </a:rPr>
              <a:t>Foreign key must satisfy the following:</a:t>
            </a:r>
          </a:p>
          <a:p>
            <a:pPr marL="0" indent="0">
              <a:lnSpc>
                <a:spcPct val="150000"/>
              </a:lnSpc>
              <a:buNone/>
            </a:pPr>
            <a:r>
              <a:rPr lang="en-IN" dirty="0">
                <a:latin typeface="Times New Roman" panose="02020603050405020304" pitchFamily="18" charset="0"/>
                <a:cs typeface="Times New Roman" panose="02020603050405020304" pitchFamily="18" charset="0"/>
              </a:rPr>
              <a:t>1)It has to be a same domain as the attributes it refer to.</a:t>
            </a:r>
          </a:p>
          <a:p>
            <a:pPr marL="0" indent="0">
              <a:lnSpc>
                <a:spcPct val="150000"/>
              </a:lnSpc>
              <a:buNone/>
            </a:pPr>
            <a:r>
              <a:rPr lang="en-IN" dirty="0">
                <a:latin typeface="Times New Roman" panose="02020603050405020304" pitchFamily="18" charset="0"/>
                <a:cs typeface="Times New Roman" panose="02020603050405020304" pitchFamily="18" charset="0"/>
              </a:rPr>
              <a:t>2)Value of foreign key in a tuple either occurs as a value of Primary key </a:t>
            </a:r>
            <a:r>
              <a:rPr lang="en-IN" dirty="0" err="1">
                <a:latin typeface="Times New Roman" panose="02020603050405020304" pitchFamily="18" charset="0"/>
                <a:cs typeface="Times New Roman" panose="02020603050405020304" pitchFamily="18" charset="0"/>
              </a:rPr>
              <a:t>i.e</a:t>
            </a:r>
            <a:r>
              <a:rPr lang="en-IN" dirty="0">
                <a:latin typeface="Times New Roman" panose="02020603050405020304" pitchFamily="18" charset="0"/>
                <a:cs typeface="Times New Roman" panose="02020603050405020304" pitchFamily="18" charset="0"/>
              </a:rPr>
              <a:t> </a:t>
            </a:r>
          </a:p>
          <a:p>
            <a:pPr marL="0" indent="0">
              <a:buNone/>
            </a:pPr>
            <a:endParaRPr lang="en-IN" dirty="0"/>
          </a:p>
        </p:txBody>
      </p:sp>
      <p:pic>
        <p:nvPicPr>
          <p:cNvPr id="4" name="Picture 3">
            <a:extLst>
              <a:ext uri="{FF2B5EF4-FFF2-40B4-BE49-F238E27FC236}">
                <a16:creationId xmlns:a16="http://schemas.microsoft.com/office/drawing/2014/main" id="{3BE2D678-0E47-9BE8-A695-32B1490B4D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5577" y="0"/>
            <a:ext cx="5556423" cy="6858000"/>
          </a:xfrm>
          <a:prstGeom prst="rect">
            <a:avLst/>
          </a:prstGeom>
        </p:spPr>
      </p:pic>
      <p:pic>
        <p:nvPicPr>
          <p:cNvPr id="8" name="Picture 7">
            <a:extLst>
              <a:ext uri="{FF2B5EF4-FFF2-40B4-BE49-F238E27FC236}">
                <a16:creationId xmlns:a16="http://schemas.microsoft.com/office/drawing/2014/main" id="{86C88ABA-2322-0797-CA51-58605BC348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671751"/>
            <a:ext cx="6413157" cy="1186249"/>
          </a:xfrm>
          <a:prstGeom prst="rect">
            <a:avLst/>
          </a:prstGeom>
        </p:spPr>
      </p:pic>
    </p:spTree>
    <p:extLst>
      <p:ext uri="{BB962C8B-B14F-4D97-AF65-F5344CB8AC3E}">
        <p14:creationId xmlns:p14="http://schemas.microsoft.com/office/powerpoint/2010/main" val="28415044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51CF14-85E9-7991-BE1C-7225EF03F4EE}"/>
              </a:ext>
            </a:extLst>
          </p:cNvPr>
          <p:cNvSpPr>
            <a:spLocks noGrp="1"/>
          </p:cNvSpPr>
          <p:nvPr>
            <p:ph idx="1"/>
          </p:nvPr>
        </p:nvSpPr>
        <p:spPr>
          <a:xfrm>
            <a:off x="480291" y="267856"/>
            <a:ext cx="10873509" cy="6234544"/>
          </a:xfrm>
        </p:spPr>
        <p:txBody>
          <a:bodyPr>
            <a:normAutofit/>
          </a:bodyPr>
          <a:lstStyle/>
          <a:p>
            <a:pPr algn="l">
              <a:lnSpc>
                <a:spcPct val="150000"/>
              </a:lnSpc>
            </a:pPr>
            <a:r>
              <a:rPr lang="en-US" b="0" i="0" u="none" strike="noStrike" baseline="0" dirty="0">
                <a:latin typeface="Times New Roman" panose="02020603050405020304" pitchFamily="18" charset="0"/>
                <a:cs typeface="Times New Roman" panose="02020603050405020304" pitchFamily="18" charset="0"/>
              </a:rPr>
              <a:t>The operations of the relational model can be categorized into </a:t>
            </a:r>
            <a:r>
              <a:rPr lang="en-US" b="1" i="0" u="none" strike="noStrike" baseline="0" dirty="0">
                <a:latin typeface="Times New Roman" panose="02020603050405020304" pitchFamily="18" charset="0"/>
                <a:cs typeface="Times New Roman" panose="02020603050405020304" pitchFamily="18" charset="0"/>
              </a:rPr>
              <a:t>retrievals and updates</a:t>
            </a:r>
          </a:p>
          <a:p>
            <a:pPr algn="l">
              <a:lnSpc>
                <a:spcPct val="150000"/>
              </a:lnSpc>
            </a:pPr>
            <a:r>
              <a:rPr lang="en-US" b="0" i="0" u="none" strike="noStrike" baseline="0" dirty="0">
                <a:latin typeface="Times New Roman" panose="02020603050405020304" pitchFamily="18" charset="0"/>
                <a:cs typeface="Times New Roman" panose="02020603050405020304" pitchFamily="18" charset="0"/>
              </a:rPr>
              <a:t>There are three basic </a:t>
            </a:r>
            <a:r>
              <a:rPr lang="en-US" b="1" i="0" u="none" strike="noStrike" baseline="0" dirty="0">
                <a:latin typeface="Times New Roman" panose="02020603050405020304" pitchFamily="18" charset="0"/>
                <a:cs typeface="Times New Roman" panose="02020603050405020304" pitchFamily="18" charset="0"/>
              </a:rPr>
              <a:t>update operations </a:t>
            </a:r>
            <a:r>
              <a:rPr lang="en-US" b="0" i="0" u="none" strike="noStrike" baseline="0" dirty="0">
                <a:latin typeface="Times New Roman" panose="02020603050405020304" pitchFamily="18" charset="0"/>
                <a:cs typeface="Times New Roman" panose="02020603050405020304" pitchFamily="18" charset="0"/>
              </a:rPr>
              <a:t>that can change the states of relations in the database:</a:t>
            </a:r>
          </a:p>
          <a:p>
            <a:pPr marL="0" indent="0" algn="l">
              <a:lnSpc>
                <a:spcPct val="150000"/>
              </a:lnSpc>
              <a:buNone/>
            </a:pPr>
            <a:r>
              <a:rPr lang="en-US" b="1" i="0" u="none" strike="noStrike" baseline="0" dirty="0">
                <a:latin typeface="Times New Roman" panose="02020603050405020304" pitchFamily="18" charset="0"/>
                <a:cs typeface="Times New Roman" panose="02020603050405020304" pitchFamily="18" charset="0"/>
              </a:rPr>
              <a:t>1. Insert - </a:t>
            </a:r>
            <a:r>
              <a:rPr lang="en-US" b="0" i="0" u="none" strike="noStrike" baseline="0" dirty="0">
                <a:latin typeface="Times New Roman" panose="02020603050405020304" pitchFamily="18" charset="0"/>
                <a:cs typeface="Times New Roman" panose="02020603050405020304" pitchFamily="18" charset="0"/>
              </a:rPr>
              <a:t>used to insert one or more new tuples in a relation</a:t>
            </a:r>
          </a:p>
          <a:p>
            <a:pPr marL="0" indent="0" algn="l">
              <a:lnSpc>
                <a:spcPct val="150000"/>
              </a:lnSpc>
              <a:buNone/>
            </a:pPr>
            <a:r>
              <a:rPr lang="en-US" b="1" i="0" u="none" strike="noStrike" baseline="0" dirty="0">
                <a:latin typeface="Times New Roman" panose="02020603050405020304" pitchFamily="18" charset="0"/>
                <a:cs typeface="Times New Roman" panose="02020603050405020304" pitchFamily="18" charset="0"/>
              </a:rPr>
              <a:t>2. Delete- </a:t>
            </a:r>
            <a:r>
              <a:rPr lang="en-US" b="0" i="0" u="none" strike="noStrike" baseline="0" dirty="0">
                <a:latin typeface="Times New Roman" panose="02020603050405020304" pitchFamily="18" charset="0"/>
                <a:cs typeface="Times New Roman" panose="02020603050405020304" pitchFamily="18" charset="0"/>
              </a:rPr>
              <a:t>used to delete tuples</a:t>
            </a:r>
          </a:p>
          <a:p>
            <a:pPr marL="0" indent="0" algn="l">
              <a:lnSpc>
                <a:spcPct val="150000"/>
              </a:lnSpc>
              <a:buNone/>
            </a:pPr>
            <a:r>
              <a:rPr lang="en-US" b="1" i="0" u="none" strike="noStrike" baseline="0" dirty="0">
                <a:latin typeface="Times New Roman" panose="02020603050405020304" pitchFamily="18" charset="0"/>
                <a:cs typeface="Times New Roman" panose="02020603050405020304" pitchFamily="18" charset="0"/>
              </a:rPr>
              <a:t>3. Update (or Modify)- </a:t>
            </a:r>
            <a:r>
              <a:rPr lang="en-US" b="0" i="0" u="none" strike="noStrike" baseline="0" dirty="0">
                <a:latin typeface="Times New Roman" panose="02020603050405020304" pitchFamily="18" charset="0"/>
                <a:cs typeface="Times New Roman" panose="02020603050405020304" pitchFamily="18" charset="0"/>
              </a:rPr>
              <a:t>used to change the values of some attributes in existing tuples.</a:t>
            </a:r>
          </a:p>
        </p:txBody>
      </p:sp>
    </p:spTree>
    <p:extLst>
      <p:ext uri="{BB962C8B-B14F-4D97-AF65-F5344CB8AC3E}">
        <p14:creationId xmlns:p14="http://schemas.microsoft.com/office/powerpoint/2010/main" val="38316764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1540</TotalTime>
  <Words>2022</Words>
  <Application>Microsoft Office PowerPoint</Application>
  <PresentationFormat>Widescreen</PresentationFormat>
  <Paragraphs>136</Paragraphs>
  <Slides>38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Calibri Light</vt:lpstr>
      <vt:lpstr>CIDFont+F2</vt:lpstr>
      <vt:lpstr>Times New Roman</vt:lpstr>
      <vt:lpstr>Office Theme</vt:lpstr>
      <vt:lpstr>Module 2</vt:lpstr>
      <vt:lpstr>History of Relational data Model</vt:lpstr>
      <vt:lpstr>Relational Model Concepts</vt:lpstr>
      <vt:lpstr>PowerPoint Presentation</vt:lpstr>
      <vt:lpstr>Domain</vt:lpstr>
      <vt:lpstr>PowerPoint Presentation</vt:lpstr>
      <vt:lpstr>PowerPoint Presentation</vt:lpstr>
      <vt:lpstr>Relation schema</vt:lpstr>
      <vt:lpstr>Degree ( or arity) of a Relation</vt:lpstr>
      <vt:lpstr>PowerPoint Presentation</vt:lpstr>
      <vt:lpstr>Relational database schema</vt:lpstr>
      <vt:lpstr>PowerPoint Presentation</vt:lpstr>
      <vt:lpstr>Characteristics of relations</vt:lpstr>
      <vt:lpstr> The tuples in a relation need not have any  particular order. </vt:lpstr>
      <vt:lpstr>PowerPoint Presentation</vt:lpstr>
      <vt:lpstr>Ordering of values within a Tuple</vt:lpstr>
      <vt:lpstr>PowerPoint Presentation</vt:lpstr>
      <vt:lpstr>PowerPoint Presentation</vt:lpstr>
      <vt:lpstr>Values and Null in Tuple</vt:lpstr>
      <vt:lpstr>PowerPoint Presentation</vt:lpstr>
      <vt:lpstr>PowerPoint Presentation</vt:lpstr>
      <vt:lpstr>Interpretation of a relation</vt:lpstr>
      <vt:lpstr>PowerPoint Presentation</vt:lpstr>
      <vt:lpstr>PowerPoint Presentation</vt:lpstr>
      <vt:lpstr>PowerPoint Presentation</vt:lpstr>
      <vt:lpstr>PowerPoint Presentation</vt:lpstr>
      <vt:lpstr>Relational Model Constraints</vt:lpstr>
      <vt:lpstr>PowerPoint Presentation</vt:lpstr>
      <vt:lpstr>Schema-Based Constraints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Vinutha muniraju</dc:creator>
  <cp:lastModifiedBy>Hi</cp:lastModifiedBy>
  <cp:revision>102</cp:revision>
  <dcterms:created xsi:type="dcterms:W3CDTF">2025-03-09T15:15:48Z</dcterms:created>
  <dcterms:modified xsi:type="dcterms:W3CDTF">2026-04-13T05:41:52Z</dcterms:modified>
</cp:coreProperties>
</file>