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350" r:id="rId3"/>
    <p:sldId id="403" r:id="rId4"/>
    <p:sldId id="404" r:id="rId5"/>
    <p:sldId id="279" r:id="rId6"/>
    <p:sldId id="299" r:id="rId7"/>
    <p:sldId id="300" r:id="rId8"/>
    <p:sldId id="303" r:id="rId9"/>
    <p:sldId id="280" r:id="rId10"/>
    <p:sldId id="304" r:id="rId11"/>
    <p:sldId id="305" r:id="rId12"/>
    <p:sldId id="301" r:id="rId13"/>
    <p:sldId id="296" r:id="rId14"/>
    <p:sldId id="306" r:id="rId15"/>
    <p:sldId id="307" r:id="rId16"/>
    <p:sldId id="308" r:id="rId17"/>
    <p:sldId id="309" r:id="rId18"/>
    <p:sldId id="310" r:id="rId19"/>
    <p:sldId id="311" r:id="rId20"/>
    <p:sldId id="313" r:id="rId21"/>
    <p:sldId id="314" r:id="rId22"/>
    <p:sldId id="323" r:id="rId23"/>
    <p:sldId id="315" r:id="rId24"/>
    <p:sldId id="316" r:id="rId25"/>
    <p:sldId id="317" r:id="rId26"/>
    <p:sldId id="321" r:id="rId27"/>
    <p:sldId id="318" r:id="rId28"/>
    <p:sldId id="319" r:id="rId29"/>
    <p:sldId id="320" r:id="rId30"/>
    <p:sldId id="322" r:id="rId31"/>
    <p:sldId id="324" r:id="rId32"/>
    <p:sldId id="325" r:id="rId33"/>
    <p:sldId id="326" r:id="rId34"/>
    <p:sldId id="327" r:id="rId35"/>
    <p:sldId id="40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3969" autoAdjust="0"/>
  </p:normalViewPr>
  <p:slideViewPr>
    <p:cSldViewPr snapToGrid="0">
      <p:cViewPr varScale="1">
        <p:scale>
          <a:sx n="61" d="100"/>
          <a:sy n="61" d="100"/>
        </p:scale>
        <p:origin x="10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BD3988-C247-4BA4-988F-0E5E6AE5C290}"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EDB18A-8D02-4744-9374-56AB349B4B2D}" type="slidenum">
              <a:rPr lang="en-IN" smtClean="0"/>
              <a:t>‹#›</a:t>
            </a:fld>
            <a:endParaRPr lang="en-IN"/>
          </a:p>
        </p:txBody>
      </p:sp>
    </p:spTree>
    <p:extLst>
      <p:ext uri="{BB962C8B-B14F-4D97-AF65-F5344CB8AC3E}">
        <p14:creationId xmlns:p14="http://schemas.microsoft.com/office/powerpoint/2010/main" val="2834112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DB18A-8D02-4744-9374-56AB349B4B2D}" type="slidenum">
              <a:rPr lang="en-IN" smtClean="0"/>
              <a:t>10</a:t>
            </a:fld>
            <a:endParaRPr lang="en-IN"/>
          </a:p>
        </p:txBody>
      </p:sp>
    </p:spTree>
    <p:extLst>
      <p:ext uri="{BB962C8B-B14F-4D97-AF65-F5344CB8AC3E}">
        <p14:creationId xmlns:p14="http://schemas.microsoft.com/office/powerpoint/2010/main" val="3856457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DB18A-8D02-4744-9374-56AB349B4B2D}" type="slidenum">
              <a:rPr lang="en-IN" smtClean="0"/>
              <a:t>16</a:t>
            </a:fld>
            <a:endParaRPr lang="en-IN"/>
          </a:p>
        </p:txBody>
      </p:sp>
    </p:spTree>
    <p:extLst>
      <p:ext uri="{BB962C8B-B14F-4D97-AF65-F5344CB8AC3E}">
        <p14:creationId xmlns:p14="http://schemas.microsoft.com/office/powerpoint/2010/main" val="3106023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DB18A-8D02-4744-9374-56AB349B4B2D}" type="slidenum">
              <a:rPr lang="en-IN" smtClean="0"/>
              <a:t>25</a:t>
            </a:fld>
            <a:endParaRPr lang="en-IN"/>
          </a:p>
        </p:txBody>
      </p:sp>
    </p:spTree>
    <p:extLst>
      <p:ext uri="{BB962C8B-B14F-4D97-AF65-F5344CB8AC3E}">
        <p14:creationId xmlns:p14="http://schemas.microsoft.com/office/powerpoint/2010/main" val="3271664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721F-FF4A-868C-916D-EBDC556316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CC439C-B9B4-4DC2-3AA6-C2E50038A5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A5FCFE-3774-C013-74E5-36BAE1C6486F}"/>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C105F334-75A5-8AB5-0100-957F4E6C6F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32E1DD-94FA-4B05-EDF1-8CFD1E016902}"/>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4194622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C1B85-974C-79D1-B6E9-19B7CEB846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634F0-5C31-0AE9-DCF2-BC6DA666A8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BE0A02-E1BF-1D81-CC9B-728CDFC0619B}"/>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A5C9536B-8498-589F-931D-7FF57EAB7C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647D21-E5AF-7C17-41B9-8A5BC14EAD30}"/>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1728810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7F50-9302-6831-3521-09B4CC2949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E7986B-6110-5663-027B-6D52F83613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67A986-C8B5-B706-0174-E9A3E937BF32}"/>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2F9F571E-895F-3FA3-41E6-14AF286281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C30D04-3458-A9F9-080D-3A90C780B8EA}"/>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2617810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FC037-7A88-D497-A399-80B01EF5DC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530C2C-5C18-ED49-733E-3DA503C8B2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B5F675-2F48-A46E-5029-D646BB5EE9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2E7C4E-73EC-1A07-CAC1-0C6068E22225}"/>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6" name="Footer Placeholder 5">
            <a:extLst>
              <a:ext uri="{FF2B5EF4-FFF2-40B4-BE49-F238E27FC236}">
                <a16:creationId xmlns:a16="http://schemas.microsoft.com/office/drawing/2014/main" id="{A6152A64-5EC6-9694-ADCD-FCC3C314DD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6A074B-7B54-3420-22B6-6008D118208B}"/>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4288144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990E-C1FA-9CD3-7F64-1D89EDED62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A26C0F-D7D7-9C27-8F8F-E23CBE4A7D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D0375F-6810-CE1F-B161-1BB8ADECF5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28F3D9-AC87-600C-AF1E-BCA24E63A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8AC57C-8B23-B3DF-B57B-0A4D1CCE7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DD8E7C-9767-3675-51EA-5FD691F52705}"/>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8" name="Footer Placeholder 7">
            <a:extLst>
              <a:ext uri="{FF2B5EF4-FFF2-40B4-BE49-F238E27FC236}">
                <a16:creationId xmlns:a16="http://schemas.microsoft.com/office/drawing/2014/main" id="{3D39A4B1-8391-5090-BF11-FAC0823896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30B9CF-453D-0035-9DFE-FB2E0A98C732}"/>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73396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1A88-F407-5AEF-3671-9870C06EFF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616EE5-2569-61BA-F415-5DD71C95E00A}"/>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4" name="Footer Placeholder 3">
            <a:extLst>
              <a:ext uri="{FF2B5EF4-FFF2-40B4-BE49-F238E27FC236}">
                <a16:creationId xmlns:a16="http://schemas.microsoft.com/office/drawing/2014/main" id="{19521C35-FD24-7B1C-DE98-66EFB4724D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39BA34-EA9D-4EF2-5F3A-5AAD02CEBCD5}"/>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754250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EC2841-348C-FD14-72FE-6CB2D8C2E0AB}"/>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3" name="Footer Placeholder 2">
            <a:extLst>
              <a:ext uri="{FF2B5EF4-FFF2-40B4-BE49-F238E27FC236}">
                <a16:creationId xmlns:a16="http://schemas.microsoft.com/office/drawing/2014/main" id="{DE5B46BE-C7B5-6075-6D62-CC16EE7F99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A8DD14-F501-A3DC-1AD1-CF63E429F356}"/>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1524348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4498-D5AC-BE03-5800-89C6AA0156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1658B2-4039-92F3-D381-1BABB2F303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E27061-68E6-A97D-AE94-A8E78526B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9DDE36-1C52-A747-07CE-E190678A9DA5}"/>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6" name="Footer Placeholder 5">
            <a:extLst>
              <a:ext uri="{FF2B5EF4-FFF2-40B4-BE49-F238E27FC236}">
                <a16:creationId xmlns:a16="http://schemas.microsoft.com/office/drawing/2014/main" id="{8A058F43-7481-5D77-E513-6EE22BFF45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1A0ED1-03B9-AA33-7B7D-054C89249898}"/>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263906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16A27-2CC3-9546-8852-04DBF9585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7C9025-C54E-E7CB-8A40-2ED16CF0AF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932E29-2C3C-B507-2C19-2EB6C6DC1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80580-B270-AB27-7401-E6BCFE89A323}"/>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6" name="Footer Placeholder 5">
            <a:extLst>
              <a:ext uri="{FF2B5EF4-FFF2-40B4-BE49-F238E27FC236}">
                <a16:creationId xmlns:a16="http://schemas.microsoft.com/office/drawing/2014/main" id="{3FB50070-A703-06FF-8B72-592A61A558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7DDE06-9FE3-CF7B-ACB3-27E6330880BA}"/>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3873518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0F5D0-EECB-487C-AD72-5527E33F83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03FD81-4E13-57F5-3B22-4578828ADB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FAD9E-BEF8-2047-0620-9133167BD9C9}"/>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12D11AEE-79B1-2941-4041-7F8EA5740F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4E1478-BF81-8D09-5B40-2F92808F9394}"/>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533830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73EA3A-3D9B-6F20-D560-B3E818DEF3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FA7451-C79D-B76F-1908-2D13BAFD8A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F1FA4E-AAE4-FB78-66EA-BFA6B8C6A5F7}"/>
              </a:ext>
            </a:extLst>
          </p:cNvPr>
          <p:cNvSpPr>
            <a:spLocks noGrp="1"/>
          </p:cNvSpPr>
          <p:nvPr>
            <p:ph type="dt" sz="half" idx="10"/>
          </p:nvPr>
        </p:nvSpPr>
        <p:spPr/>
        <p:txBody>
          <a:body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B1C3BBC7-2B31-C6D0-6AEB-6F238CC3E9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623515-4991-8FCF-CFE1-64A1AE4DCD3F}"/>
              </a:ext>
            </a:extLst>
          </p:cNvPr>
          <p:cNvSpPr>
            <a:spLocks noGrp="1"/>
          </p:cNvSpPr>
          <p:nvPr>
            <p:ph type="sldNum" sz="quarter" idx="12"/>
          </p:nvPr>
        </p:nvSpPr>
        <p:spPr/>
        <p:txBody>
          <a:bodyPr/>
          <a:lstStyle/>
          <a:p>
            <a:fld id="{31980DE6-FB52-446C-BD3B-B325EF8D2D36}" type="slidenum">
              <a:rPr lang="en-IN" smtClean="0"/>
              <a:t>‹#›</a:t>
            </a:fld>
            <a:endParaRPr lang="en-IN"/>
          </a:p>
        </p:txBody>
      </p:sp>
    </p:spTree>
    <p:extLst>
      <p:ext uri="{BB962C8B-B14F-4D97-AF65-F5344CB8AC3E}">
        <p14:creationId xmlns:p14="http://schemas.microsoft.com/office/powerpoint/2010/main" val="1778363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DFC540-943E-41A4-56C0-D7A589FE75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4ECA0D-415C-0B92-70EF-39D6F1E99C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209F31-6692-D6B8-9339-9DC9E8BFA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484AE-58FB-4039-B4A2-B0D3E1327B63}" type="datetimeFigureOut">
              <a:rPr lang="en-IN" smtClean="0"/>
              <a:t>25-08-2026</a:t>
            </a:fld>
            <a:endParaRPr lang="en-IN"/>
          </a:p>
        </p:txBody>
      </p:sp>
      <p:sp>
        <p:nvSpPr>
          <p:cNvPr id="5" name="Footer Placeholder 4">
            <a:extLst>
              <a:ext uri="{FF2B5EF4-FFF2-40B4-BE49-F238E27FC236}">
                <a16:creationId xmlns:a16="http://schemas.microsoft.com/office/drawing/2014/main" id="{38BE9119-4BBE-6509-CCF5-2520E7DDC0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A83E77-CCD3-3499-35D7-030B63D56C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980DE6-FB52-446C-BD3B-B325EF8D2D36}" type="slidenum">
              <a:rPr lang="en-IN" smtClean="0"/>
              <a:t>‹#›</a:t>
            </a:fld>
            <a:endParaRPr lang="en-IN"/>
          </a:p>
        </p:txBody>
      </p:sp>
    </p:spTree>
    <p:extLst>
      <p:ext uri="{BB962C8B-B14F-4D97-AF65-F5344CB8AC3E}">
        <p14:creationId xmlns:p14="http://schemas.microsoft.com/office/powerpoint/2010/main" val="2020310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microsoft.com/office/2007/relationships/hdphoto" Target="../media/hdphoto3.wdp"/></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C7F3-7445-8CC9-8A15-FC972CE8343A}"/>
              </a:ext>
            </a:extLst>
          </p:cNvPr>
          <p:cNvSpPr>
            <a:spLocks noGrp="1"/>
          </p:cNvSpPr>
          <p:nvPr>
            <p:ph type="ctrTitle"/>
          </p:nvPr>
        </p:nvSpPr>
        <p:spPr>
          <a:xfrm>
            <a:off x="1524000" y="1122363"/>
            <a:ext cx="9144000" cy="2731180"/>
          </a:xfrm>
        </p:spPr>
        <p:txBody>
          <a:bodyPr>
            <a:normAutofit/>
          </a:bodyPr>
          <a:lstStyle/>
          <a:p>
            <a:pPr>
              <a:lnSpc>
                <a:spcPct val="150000"/>
              </a:lnSpc>
            </a:pPr>
            <a:r>
              <a:rPr lang="en-IN" sz="3200" b="1" i="0" u="none" strike="noStrike" baseline="0" dirty="0">
                <a:latin typeface="Times New Roman" panose="02020603050405020304" pitchFamily="18" charset="0"/>
                <a:cs typeface="Times New Roman" panose="02020603050405020304" pitchFamily="18" charset="0"/>
              </a:rPr>
              <a:t>Module 1 </a:t>
            </a:r>
            <a:br>
              <a:rPr lang="en-IN" sz="3200" b="1" i="0" u="none" strike="noStrike" baseline="0" dirty="0">
                <a:latin typeface="Times New Roman" panose="02020603050405020304" pitchFamily="18" charset="0"/>
                <a:cs typeface="Times New Roman" panose="02020603050405020304" pitchFamily="18" charset="0"/>
              </a:rPr>
            </a:br>
            <a:r>
              <a:rPr lang="en-IN" sz="3200" b="1" i="0" u="none" strike="noStrike" baseline="0" dirty="0">
                <a:latin typeface="Times New Roman" panose="02020603050405020304" pitchFamily="18" charset="0"/>
                <a:cs typeface="Times New Roman" panose="02020603050405020304" pitchFamily="18" charset="0"/>
              </a:rPr>
              <a:t>Introduction to Databases </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733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A751-9E37-C1CD-CF3F-4416E7430D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173851-1A2B-B0CB-7B47-240E8BA764ED}"/>
              </a:ext>
            </a:extLst>
          </p:cNvPr>
          <p:cNvSpPr>
            <a:spLocks noGrp="1"/>
          </p:cNvSpPr>
          <p:nvPr>
            <p:ph idx="1"/>
          </p:nvPr>
        </p:nvSpPr>
        <p:spPr>
          <a:xfrm>
            <a:off x="489857" y="1701478"/>
            <a:ext cx="10911206" cy="3243055"/>
          </a:xfrm>
        </p:spPr>
        <p:txBody>
          <a:bodyPr>
            <a:noAutofit/>
          </a:bodyPr>
          <a:lstStyle/>
          <a:p>
            <a:pPr marL="0" indent="0">
              <a:lnSpc>
                <a:spcPct val="150000"/>
              </a:lnSpc>
              <a:buNone/>
            </a:pPr>
            <a:r>
              <a:rPr lang="en-US" sz="4000" b="0" i="0" u="none" strike="noStrike" baseline="0" dirty="0">
                <a:latin typeface="Times New Roman" panose="02020603050405020304" pitchFamily="18" charset="0"/>
                <a:cs typeface="Times New Roman" panose="02020603050405020304" pitchFamily="18" charset="0"/>
              </a:rPr>
              <a:t>				</a:t>
            </a:r>
            <a:r>
              <a:rPr lang="en-US" sz="4000" b="1" i="0" u="none" strike="noStrike" baseline="0" dirty="0">
                <a:latin typeface="Times New Roman" panose="02020603050405020304" pitchFamily="18" charset="0"/>
                <a:cs typeface="Times New Roman" panose="02020603050405020304" pitchFamily="18" charset="0"/>
              </a:rPr>
              <a:t>Chapter 2:</a:t>
            </a:r>
          </a:p>
          <a:p>
            <a:pPr marL="0" indent="0">
              <a:lnSpc>
                <a:spcPct val="150000"/>
              </a:lnSpc>
              <a:buNone/>
            </a:pPr>
            <a:r>
              <a:rPr lang="en-US" sz="3800" b="1" i="0" u="none" strike="noStrike" baseline="0" dirty="0">
                <a:latin typeface="Times New Roman" panose="02020603050405020304" pitchFamily="18" charset="0"/>
                <a:cs typeface="Times New Roman" panose="02020603050405020304" pitchFamily="18" charset="0"/>
              </a:rPr>
              <a:t>Overview of Database Languages and Architectures</a:t>
            </a:r>
            <a:endParaRPr lang="en-IN" sz="3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892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BC0F-CDAC-4268-17EF-80DF46DB989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4EA7C74-D773-11F0-BCE0-70139677B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654" y="813896"/>
            <a:ext cx="7068863" cy="604410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D77DCED-617E-F284-87C1-FF6876CBE227}"/>
              </a:ext>
            </a:extLst>
          </p:cNvPr>
          <p:cNvSpPr>
            <a:spLocks noGrp="1"/>
          </p:cNvSpPr>
          <p:nvPr>
            <p:ph type="title"/>
          </p:nvPr>
        </p:nvSpPr>
        <p:spPr>
          <a:xfrm>
            <a:off x="838200" y="0"/>
            <a:ext cx="10515600" cy="1049868"/>
          </a:xfrm>
        </p:spPr>
        <p:txBody>
          <a:bodyPr>
            <a:normAutofit/>
          </a:bodyPr>
          <a:lstStyle/>
          <a:p>
            <a:r>
              <a:rPr lang="en-IN" sz="4400" b="0" i="0" u="none" strike="noStrike" baseline="0" dirty="0">
                <a:latin typeface="CIDFont+F1"/>
              </a:rPr>
              <a:t>Database Languages</a:t>
            </a:r>
            <a:endParaRPr lang="en-IN" dirty="0"/>
          </a:p>
        </p:txBody>
      </p:sp>
    </p:spTree>
    <p:extLst>
      <p:ext uri="{BB962C8B-B14F-4D97-AF65-F5344CB8AC3E}">
        <p14:creationId xmlns:p14="http://schemas.microsoft.com/office/powerpoint/2010/main" val="53656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4BF03-B13C-9DA6-9261-99EEF862422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CC52A36-9C8D-F967-F78C-B6E6875D1C36}"/>
              </a:ext>
            </a:extLst>
          </p:cNvPr>
          <p:cNvSpPr>
            <a:spLocks noGrp="1"/>
          </p:cNvSpPr>
          <p:nvPr>
            <p:ph type="title"/>
          </p:nvPr>
        </p:nvSpPr>
        <p:spPr>
          <a:xfrm>
            <a:off x="838200" y="0"/>
            <a:ext cx="10515600" cy="1049868"/>
          </a:xfrm>
        </p:spPr>
        <p:txBody>
          <a:bodyPr>
            <a:normAutofit/>
          </a:bodyPr>
          <a:lstStyle/>
          <a:p>
            <a:r>
              <a:rPr lang="en-IN" sz="4400" b="0" i="0" u="none" strike="noStrike" baseline="0" dirty="0">
                <a:latin typeface="CIDFont+F1"/>
              </a:rPr>
              <a:t>Database Languages</a:t>
            </a:r>
            <a:endParaRPr lang="en-IN" dirty="0"/>
          </a:p>
        </p:txBody>
      </p:sp>
      <p:pic>
        <p:nvPicPr>
          <p:cNvPr id="2050" name="Picture 2" descr="What is Database Languages? DDL &amp; DML - Binary Terms">
            <a:extLst>
              <a:ext uri="{FF2B5EF4-FFF2-40B4-BE49-F238E27FC236}">
                <a16:creationId xmlns:a16="http://schemas.microsoft.com/office/drawing/2014/main" id="{566C6B0B-19EE-43EC-60E1-94AE54E34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4670" y="1588705"/>
            <a:ext cx="5375385" cy="4750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94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E3A24-EDA6-8E10-11A7-D4F99FAF5A13}"/>
              </a:ext>
            </a:extLst>
          </p:cNvPr>
          <p:cNvSpPr>
            <a:spLocks noGrp="1"/>
          </p:cNvSpPr>
          <p:nvPr>
            <p:ph type="title"/>
          </p:nvPr>
        </p:nvSpPr>
        <p:spPr>
          <a:xfrm>
            <a:off x="838200" y="0"/>
            <a:ext cx="10515600" cy="1049868"/>
          </a:xfrm>
        </p:spPr>
        <p:txBody>
          <a:bodyPr>
            <a:normAutofit fontScale="90000"/>
          </a:bodyPr>
          <a:lstStyle/>
          <a:p>
            <a:br>
              <a:rPr lang="en-IN" sz="4400" b="0" i="0" u="none" strike="noStrike" baseline="0" dirty="0">
                <a:latin typeface="CIDFont+F1"/>
              </a:rPr>
            </a:br>
            <a:r>
              <a:rPr lang="en-IN" sz="4400" b="1" i="0" u="none" strike="noStrike" baseline="0" dirty="0">
                <a:latin typeface="Times New Roman" panose="02020603050405020304" pitchFamily="18" charset="0"/>
                <a:cs typeface="Times New Roman" panose="02020603050405020304" pitchFamily="18" charset="0"/>
              </a:rPr>
              <a:t>Data Model</a:t>
            </a:r>
            <a:br>
              <a:rPr lang="en-IN" sz="4400" b="0" i="0" u="none" strike="noStrike" baseline="0" dirty="0">
                <a:latin typeface="CIDFont+F1"/>
              </a:rPr>
            </a:br>
            <a:endParaRPr lang="en-IN" dirty="0"/>
          </a:p>
        </p:txBody>
      </p:sp>
      <p:sp>
        <p:nvSpPr>
          <p:cNvPr id="3" name="Content Placeholder 2">
            <a:extLst>
              <a:ext uri="{FF2B5EF4-FFF2-40B4-BE49-F238E27FC236}">
                <a16:creationId xmlns:a16="http://schemas.microsoft.com/office/drawing/2014/main" id="{2C0ED039-535D-A2AB-85E8-F28093177335}"/>
              </a:ext>
            </a:extLst>
          </p:cNvPr>
          <p:cNvSpPr>
            <a:spLocks noGrp="1"/>
          </p:cNvSpPr>
          <p:nvPr>
            <p:ph idx="1"/>
          </p:nvPr>
        </p:nvSpPr>
        <p:spPr>
          <a:xfrm>
            <a:off x="838199" y="949124"/>
            <a:ext cx="11268919" cy="5995686"/>
          </a:xfrm>
        </p:spPr>
        <p:txBody>
          <a:bodyPr>
            <a:normAutofit fontScale="92500" lnSpcReduction="10000"/>
          </a:bodyPr>
          <a:lstStyle/>
          <a:p>
            <a:pPr>
              <a:lnSpc>
                <a:spcPct val="150000"/>
              </a:lnSpc>
            </a:pPr>
            <a:r>
              <a:rPr lang="en-US" b="0" i="0" u="none" strike="noStrike" baseline="0" dirty="0">
                <a:latin typeface="Times New Roman" panose="02020603050405020304" pitchFamily="18" charset="0"/>
                <a:cs typeface="Times New Roman" panose="02020603050405020304" pitchFamily="18" charset="0"/>
              </a:rPr>
              <a:t>Data modeling in DBMS is the process of representing data in a database management system (DBMS). </a:t>
            </a:r>
          </a:p>
          <a:p>
            <a:pPr>
              <a:lnSpc>
                <a:spcPct val="150000"/>
              </a:lnSpc>
            </a:pPr>
            <a:r>
              <a:rPr lang="en-US" b="0" i="0" u="none" strike="noStrike" baseline="0" dirty="0">
                <a:latin typeface="Times New Roman" panose="02020603050405020304" pitchFamily="18" charset="0"/>
                <a:cs typeface="Times New Roman" panose="02020603050405020304" pitchFamily="18" charset="0"/>
              </a:rPr>
              <a:t>It helps to organize data, identify relationships, and ensure data security.</a:t>
            </a:r>
          </a:p>
          <a:p>
            <a:pPr>
              <a:lnSpc>
                <a:spcPct val="150000"/>
              </a:lnSpc>
            </a:pPr>
            <a:r>
              <a:rPr lang="en-US" b="0" i="0" u="none" strike="noStrike" baseline="0" dirty="0">
                <a:latin typeface="Times New Roman" panose="02020603050405020304" pitchFamily="18" charset="0"/>
                <a:cs typeface="Times New Roman" panose="02020603050405020304" pitchFamily="18" charset="0"/>
              </a:rPr>
              <a:t>It is a framework that defines how data is organized and connected.</a:t>
            </a:r>
          </a:p>
          <a:p>
            <a:pPr>
              <a:lnSpc>
                <a:spcPct val="150000"/>
              </a:lnSpc>
            </a:pPr>
            <a:r>
              <a:rPr lang="en-US" b="0" i="0" u="none" strike="noStrike" baseline="0" dirty="0">
                <a:latin typeface="Times New Roman" panose="02020603050405020304" pitchFamily="18" charset="0"/>
                <a:cs typeface="Times New Roman" panose="02020603050405020304" pitchFamily="18" charset="0"/>
              </a:rPr>
              <a:t>Its like architecture of a building that ensures data is organized.</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A data model is a collection of concepts that can be used to describe the structure of a database.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By structure of a database, we mean the data types, relationships and constraints that apply to the data.</a:t>
            </a:r>
          </a:p>
        </p:txBody>
      </p:sp>
    </p:spTree>
    <p:extLst>
      <p:ext uri="{BB962C8B-B14F-4D97-AF65-F5344CB8AC3E}">
        <p14:creationId xmlns:p14="http://schemas.microsoft.com/office/powerpoint/2010/main" val="2347451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36D398-FE9E-E0E3-6432-41D7050F8776}"/>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86" r="2684"/>
          <a:stretch/>
        </p:blipFill>
        <p:spPr>
          <a:xfrm>
            <a:off x="1119351" y="333072"/>
            <a:ext cx="9490841" cy="5173883"/>
          </a:xfrm>
        </p:spPr>
      </p:pic>
    </p:spTree>
    <p:extLst>
      <p:ext uri="{BB962C8B-B14F-4D97-AF65-F5344CB8AC3E}">
        <p14:creationId xmlns:p14="http://schemas.microsoft.com/office/powerpoint/2010/main" val="219108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FA77B4-55A2-A28C-B5B7-7F4993CEE54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1612" t="9734" r="1468" b="4112"/>
          <a:stretch/>
        </p:blipFill>
        <p:spPr>
          <a:xfrm>
            <a:off x="835572" y="788276"/>
            <a:ext cx="9995337" cy="4477407"/>
          </a:xfrm>
          <a:noFill/>
        </p:spPr>
      </p:pic>
    </p:spTree>
    <p:extLst>
      <p:ext uri="{BB962C8B-B14F-4D97-AF65-F5344CB8AC3E}">
        <p14:creationId xmlns:p14="http://schemas.microsoft.com/office/powerpoint/2010/main" val="392224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D0250-19B1-49AA-3209-9894A9CAEFD4}"/>
              </a:ext>
            </a:extLst>
          </p:cNvPr>
          <p:cNvSpPr>
            <a:spLocks noGrp="1"/>
          </p:cNvSpPr>
          <p:nvPr>
            <p:ph idx="1"/>
          </p:nvPr>
        </p:nvSpPr>
        <p:spPr>
          <a:xfrm>
            <a:off x="536028" y="352697"/>
            <a:ext cx="11366938" cy="6253055"/>
          </a:xfrm>
        </p:spPr>
        <p:txBody>
          <a:bodyPr>
            <a:no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Conceptual Data Model: </a:t>
            </a:r>
            <a:r>
              <a:rPr lang="en-US" sz="2400" dirty="0">
                <a:latin typeface="Times New Roman" panose="02020603050405020304" pitchFamily="18" charset="0"/>
                <a:cs typeface="Times New Roman" panose="02020603050405020304" pitchFamily="18" charset="0"/>
              </a:rPr>
              <a:t>To represent the high-level structure of the data without worrying about how it will be physically implemented. </a:t>
            </a:r>
          </a:p>
          <a:p>
            <a:pPr marL="0" indent="0">
              <a:lnSpc>
                <a:spcPct val="150000"/>
              </a:lnSpc>
              <a:buNone/>
            </a:pPr>
            <a:r>
              <a:rPr lang="en-US" sz="2400" dirty="0">
                <a:latin typeface="Times New Roman" panose="02020603050405020304" pitchFamily="18" charset="0"/>
                <a:cs typeface="Times New Roman" panose="02020603050405020304" pitchFamily="18" charset="0"/>
              </a:rPr>
              <a:t>It focuses on </a:t>
            </a:r>
            <a:r>
              <a:rPr lang="en-US" sz="2400" b="1" dirty="0">
                <a:latin typeface="Times New Roman" panose="02020603050405020304" pitchFamily="18" charset="0"/>
                <a:cs typeface="Times New Roman" panose="02020603050405020304" pitchFamily="18" charset="0"/>
              </a:rPr>
              <a:t>what</a:t>
            </a:r>
            <a:r>
              <a:rPr lang="en-US" sz="2400" dirty="0">
                <a:latin typeface="Times New Roman" panose="02020603050405020304" pitchFamily="18" charset="0"/>
                <a:cs typeface="Times New Roman" panose="02020603050405020304" pitchFamily="18" charset="0"/>
              </a:rPr>
              <a:t> data is important and the relationships between different data entities.</a:t>
            </a:r>
          </a:p>
          <a:p>
            <a:pPr marL="0" indent="0">
              <a:lnSpc>
                <a:spcPct val="150000"/>
              </a:lnSpc>
              <a:buNone/>
            </a:pPr>
            <a:r>
              <a:rPr lang="en-US" sz="2400" b="1" dirty="0">
                <a:latin typeface="Times New Roman" panose="02020603050405020304" pitchFamily="18" charset="0"/>
                <a:cs typeface="Times New Roman" panose="02020603050405020304" pitchFamily="18" charset="0"/>
              </a:rPr>
              <a:t>Representational Data Model (Logical Data Model): </a:t>
            </a:r>
            <a:r>
              <a:rPr lang="en-US" sz="2400" dirty="0">
                <a:latin typeface="Times New Roman" panose="02020603050405020304" pitchFamily="18" charset="0"/>
                <a:cs typeface="Times New Roman" panose="02020603050405020304" pitchFamily="18" charset="0"/>
              </a:rPr>
              <a:t>It serves as a bridge between the conceptual model and the physical model, providing a more detailed structure of the data.</a:t>
            </a:r>
          </a:p>
          <a:p>
            <a:pPr marL="0" indent="0">
              <a:lnSpc>
                <a:spcPct val="150000"/>
              </a:lnSpc>
              <a:buNone/>
            </a:pPr>
            <a:r>
              <a:rPr lang="en-US" sz="2400" dirty="0">
                <a:latin typeface="Times New Roman" panose="02020603050405020304" pitchFamily="18" charset="0"/>
                <a:cs typeface="Times New Roman" panose="02020603050405020304" pitchFamily="18" charset="0"/>
              </a:rPr>
              <a:t> It outlines how data will be represented and organized in the database without specifying physical storage details.</a:t>
            </a:r>
          </a:p>
          <a:p>
            <a:pPr marL="0" indent="0">
              <a:lnSpc>
                <a:spcPct val="150000"/>
              </a:lnSpc>
              <a:buNone/>
            </a:pPr>
            <a:r>
              <a:rPr lang="en-US" sz="2400" b="1" dirty="0">
                <a:latin typeface="Times New Roman" panose="02020603050405020304" pitchFamily="18" charset="0"/>
                <a:cs typeface="Times New Roman" panose="02020603050405020304" pitchFamily="18" charset="0"/>
              </a:rPr>
              <a:t>Physical data Model: </a:t>
            </a:r>
            <a:r>
              <a:rPr lang="en-US" sz="2400" dirty="0">
                <a:latin typeface="Times New Roman" panose="02020603050405020304" pitchFamily="18" charset="0"/>
                <a:cs typeface="Times New Roman" panose="02020603050405020304" pitchFamily="18" charset="0"/>
              </a:rPr>
              <a:t>This model describes how the data will be physically stored in the database. It is concerned with performance, optimization, and efficient storage, considering the specific database system and hardware in use.</a:t>
            </a:r>
          </a:p>
        </p:txBody>
      </p:sp>
    </p:spTree>
    <p:extLst>
      <p:ext uri="{BB962C8B-B14F-4D97-AF65-F5344CB8AC3E}">
        <p14:creationId xmlns:p14="http://schemas.microsoft.com/office/powerpoint/2010/main" val="208793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4F20-867C-C5C9-2FE0-BF5923788EDA}"/>
              </a:ext>
            </a:extLst>
          </p:cNvPr>
          <p:cNvSpPr>
            <a:spLocks noGrp="1"/>
          </p:cNvSpPr>
          <p:nvPr>
            <p:ph type="title"/>
          </p:nvPr>
        </p:nvSpPr>
        <p:spPr>
          <a:xfrm>
            <a:off x="558800" y="237480"/>
            <a:ext cx="10795000" cy="960700"/>
          </a:xfrm>
        </p:spPr>
        <p:txBody>
          <a:bodyPr>
            <a:normAutofit fontScale="90000"/>
          </a:bodyPr>
          <a:lstStyle/>
          <a:p>
            <a:br>
              <a:rPr lang="en-IN" sz="4400" b="1" i="0" u="none" strike="noStrike" baseline="0" dirty="0">
                <a:latin typeface="Times New Roman" panose="02020603050405020304" pitchFamily="18" charset="0"/>
                <a:cs typeface="Times New Roman" panose="02020603050405020304" pitchFamily="18" charset="0"/>
              </a:rPr>
            </a:br>
            <a:r>
              <a:rPr lang="en-IN" sz="4400" b="1" i="0" u="none" strike="noStrike" baseline="0" dirty="0">
                <a:latin typeface="Times New Roman" panose="02020603050405020304" pitchFamily="18" charset="0"/>
                <a:cs typeface="Times New Roman" panose="02020603050405020304" pitchFamily="18" charset="0"/>
              </a:rPr>
              <a:t>Categories of Data Models</a:t>
            </a:r>
            <a:br>
              <a:rPr lang="en-IN" sz="4400" b="0" i="0" u="none" strike="noStrike" baseline="0" dirty="0">
                <a:latin typeface="CIDFont+F1"/>
              </a:rPr>
            </a:br>
            <a:endParaRPr lang="en-IN" dirty="0"/>
          </a:p>
        </p:txBody>
      </p:sp>
      <p:sp>
        <p:nvSpPr>
          <p:cNvPr id="3" name="Content Placeholder 2">
            <a:extLst>
              <a:ext uri="{FF2B5EF4-FFF2-40B4-BE49-F238E27FC236}">
                <a16:creationId xmlns:a16="http://schemas.microsoft.com/office/drawing/2014/main" id="{18E8DA3B-E481-16DD-979F-DBE0F213D890}"/>
              </a:ext>
            </a:extLst>
          </p:cNvPr>
          <p:cNvSpPr>
            <a:spLocks noGrp="1"/>
          </p:cNvSpPr>
          <p:nvPr>
            <p:ph idx="1"/>
          </p:nvPr>
        </p:nvSpPr>
        <p:spPr>
          <a:xfrm>
            <a:off x="558800" y="1426682"/>
            <a:ext cx="11171766" cy="4280435"/>
          </a:xfrm>
        </p:spPr>
        <p:txBody>
          <a:bodyPr>
            <a:normAutofit/>
          </a:bodyPr>
          <a:lstStyle/>
          <a:p>
            <a:pPr marL="514350" indent="-514350" algn="l">
              <a:lnSpc>
                <a:spcPct val="150000"/>
              </a:lnSpc>
              <a:buAutoNum type="arabicPeriod"/>
            </a:pPr>
            <a:r>
              <a:rPr lang="en-US" sz="2400" b="1" i="0" u="none" strike="noStrike" baseline="0" dirty="0">
                <a:latin typeface="Times New Roman" panose="02020603050405020304" pitchFamily="18" charset="0"/>
                <a:cs typeface="Times New Roman" panose="02020603050405020304" pitchFamily="18" charset="0"/>
              </a:rPr>
              <a:t>High-level or conceptual data models: </a:t>
            </a:r>
            <a:r>
              <a:rPr lang="en-US" sz="2400" i="0" u="none" strike="noStrike" baseline="0" dirty="0">
                <a:latin typeface="Times New Roman" panose="02020603050405020304" pitchFamily="18" charset="0"/>
                <a:cs typeface="Times New Roman" panose="02020603050405020304" pitchFamily="18" charset="0"/>
              </a:rPr>
              <a:t>The Conceptual data model describes the database at a very high level and is useful to understand the </a:t>
            </a:r>
            <a:r>
              <a:rPr lang="en-US" sz="2400" b="1" i="0" u="none" strike="noStrike" baseline="0" dirty="0">
                <a:latin typeface="Times New Roman" panose="02020603050405020304" pitchFamily="18" charset="0"/>
                <a:cs typeface="Times New Roman" panose="02020603050405020304" pitchFamily="18" charset="0"/>
              </a:rPr>
              <a:t>needs or requirements </a:t>
            </a:r>
            <a:r>
              <a:rPr lang="en-US" sz="2400" i="0" u="none" strike="noStrike" baseline="0" dirty="0">
                <a:latin typeface="Times New Roman" panose="02020603050405020304" pitchFamily="18" charset="0"/>
                <a:cs typeface="Times New Roman" panose="02020603050405020304" pitchFamily="18" charset="0"/>
              </a:rPr>
              <a:t>of the database.</a:t>
            </a:r>
          </a:p>
          <a:p>
            <a:pPr>
              <a:lnSpc>
                <a:spcPct val="150000"/>
              </a:lnSpc>
            </a:pPr>
            <a:r>
              <a:rPr lang="en-US" sz="2400" dirty="0">
                <a:latin typeface="Times New Roman" panose="02020603050405020304" pitchFamily="18" charset="0"/>
                <a:cs typeface="Times New Roman" panose="02020603050405020304" pitchFamily="18" charset="0"/>
              </a:rPr>
              <a:t>It is used in the requirement gathering process.</a:t>
            </a:r>
            <a:endParaRPr lang="en-US" sz="2400" i="0" u="none" strike="noStrike" baseline="0" dirty="0">
              <a:latin typeface="Times New Roman" panose="02020603050405020304" pitchFamily="18" charset="0"/>
              <a:cs typeface="Times New Roman" panose="02020603050405020304" pitchFamily="18" charset="0"/>
            </a:endParaRPr>
          </a:p>
          <a:p>
            <a:pPr>
              <a:lnSpc>
                <a:spcPct val="150000"/>
              </a:lnSpc>
            </a:pPr>
            <a:r>
              <a:rPr lang="en-US" sz="2400" b="0" i="0" u="none" strike="noStrike" baseline="0" dirty="0">
                <a:latin typeface="Times New Roman" panose="02020603050405020304" pitchFamily="18" charset="0"/>
                <a:cs typeface="Times New Roman" panose="02020603050405020304" pitchFamily="18" charset="0"/>
              </a:rPr>
              <a:t>Before the database designer starts making a particular database, Conceptual data models use concepts such as entities, attributes, and </a:t>
            </a:r>
            <a:r>
              <a:rPr lang="en-IN" sz="2400" b="0" i="0" u="none" strike="noStrike" baseline="0" dirty="0">
                <a:latin typeface="Times New Roman" panose="02020603050405020304" pitchFamily="18" charset="0"/>
                <a:cs typeface="Times New Roman" panose="02020603050405020304" pitchFamily="18" charset="0"/>
              </a:rPr>
              <a:t>relationships.</a:t>
            </a:r>
            <a:endParaRPr lang="en-IN" dirty="0"/>
          </a:p>
        </p:txBody>
      </p:sp>
    </p:spTree>
    <p:extLst>
      <p:ext uri="{BB962C8B-B14F-4D97-AF65-F5344CB8AC3E}">
        <p14:creationId xmlns:p14="http://schemas.microsoft.com/office/powerpoint/2010/main" val="2573025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C75992-9367-EBCA-EFCF-221CA80EB446}"/>
              </a:ext>
            </a:extLst>
          </p:cNvPr>
          <p:cNvSpPr>
            <a:spLocks noGrp="1"/>
          </p:cNvSpPr>
          <p:nvPr>
            <p:ph sz="half" idx="1"/>
          </p:nvPr>
        </p:nvSpPr>
        <p:spPr>
          <a:xfrm>
            <a:off x="320708" y="463890"/>
            <a:ext cx="11871291" cy="5930220"/>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Data Entity </a:t>
            </a:r>
            <a:r>
              <a:rPr lang="en-US" dirty="0">
                <a:latin typeface="Times New Roman" panose="02020603050405020304" pitchFamily="18" charset="0"/>
                <a:cs typeface="Times New Roman" panose="02020603050405020304" pitchFamily="18" charset="0"/>
              </a:rPr>
              <a:t>is a structured framework designed to simplify access and management of data within an application or across multiple systems</a:t>
            </a:r>
          </a:p>
          <a:p>
            <a:pPr marL="0" indent="0">
              <a:lnSpc>
                <a:spcPct val="150000"/>
              </a:lnSpc>
              <a:buNone/>
            </a:pPr>
            <a:r>
              <a:rPr lang="en-IN" dirty="0">
                <a:latin typeface="Times New Roman" panose="02020603050405020304" pitchFamily="18" charset="0"/>
                <a:cs typeface="Times New Roman" panose="02020603050405020304" pitchFamily="18" charset="0"/>
              </a:rPr>
              <a:t>A Data Entity is referred as a real-world object .</a:t>
            </a:r>
          </a:p>
          <a:p>
            <a:pPr marL="0" indent="0">
              <a:lnSpc>
                <a:spcPct val="150000"/>
              </a:lnSpc>
              <a:buNone/>
            </a:pPr>
            <a:endParaRPr lang="en-IN" u="sng" dirty="0">
              <a:latin typeface="Times New Roman" panose="02020603050405020304" pitchFamily="18" charset="0"/>
              <a:cs typeface="Times New Roman" panose="02020603050405020304" pitchFamily="18" charset="0"/>
            </a:endParaRPr>
          </a:p>
          <a:p>
            <a:pPr marL="0" indent="0">
              <a:lnSpc>
                <a:spcPct val="150000"/>
              </a:lnSpc>
              <a:buNone/>
            </a:pPr>
            <a:r>
              <a:rPr lang="en-IN" u="sng" dirty="0">
                <a:latin typeface="Times New Roman" panose="02020603050405020304" pitchFamily="18" charset="0"/>
                <a:cs typeface="Times New Roman" panose="02020603050405020304" pitchFamily="18" charset="0"/>
              </a:rPr>
              <a:t>This are represented by a </a:t>
            </a:r>
          </a:p>
          <a:p>
            <a:pPr marL="0" indent="0">
              <a:lnSpc>
                <a:spcPct val="150000"/>
              </a:lnSpc>
              <a:buNone/>
            </a:pPr>
            <a:r>
              <a:rPr lang="en-IN" u="sng" dirty="0">
                <a:latin typeface="Times New Roman" panose="02020603050405020304" pitchFamily="18" charset="0"/>
                <a:cs typeface="Times New Roman" panose="02020603050405020304" pitchFamily="18" charset="0"/>
              </a:rPr>
              <a:t>rectangle in ER Diagram</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marL="0" indent="0" algn="l">
              <a:lnSpc>
                <a:spcPct val="150000"/>
              </a:lnSpc>
              <a:buNone/>
            </a:pPr>
            <a:endParaRPr lang="en-IN" sz="2800" b="0" i="0" u="none" strike="noStrike" baseline="0" dirty="0">
              <a:latin typeface="Times New Roman" panose="02020603050405020304" pitchFamily="18"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0325047B-27AD-28ED-32A1-6446C95EC06A}"/>
              </a:ext>
            </a:extLst>
          </p:cNvPr>
          <p:cNvSpPr/>
          <p:nvPr/>
        </p:nvSpPr>
        <p:spPr>
          <a:xfrm>
            <a:off x="7755003" y="2010799"/>
            <a:ext cx="2213998" cy="7096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pic>
        <p:nvPicPr>
          <p:cNvPr id="15" name="Content Placeholder 6">
            <a:extLst>
              <a:ext uri="{FF2B5EF4-FFF2-40B4-BE49-F238E27FC236}">
                <a16:creationId xmlns:a16="http://schemas.microsoft.com/office/drawing/2014/main" id="{D64BA89D-58DE-972E-602D-1FCDFC1EC62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6308" t="17131" r="5673"/>
          <a:stretch/>
        </p:blipFill>
        <p:spPr>
          <a:xfrm>
            <a:off x="5487315" y="3423804"/>
            <a:ext cx="5832184" cy="3434196"/>
          </a:xfrm>
          <a:prstGeom prst="rect">
            <a:avLst/>
          </a:prstGeom>
        </p:spPr>
      </p:pic>
    </p:spTree>
    <p:extLst>
      <p:ext uri="{BB962C8B-B14F-4D97-AF65-F5344CB8AC3E}">
        <p14:creationId xmlns:p14="http://schemas.microsoft.com/office/powerpoint/2010/main" val="240186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7BAD60-21FE-D112-151F-6DF37B4C5A40}"/>
              </a:ext>
            </a:extLst>
          </p:cNvPr>
          <p:cNvSpPr>
            <a:spLocks noGrp="1"/>
          </p:cNvSpPr>
          <p:nvPr>
            <p:ph sz="half" idx="2"/>
          </p:nvPr>
        </p:nvSpPr>
        <p:spPr>
          <a:xfrm>
            <a:off x="430306" y="509286"/>
            <a:ext cx="5567269" cy="5680377"/>
          </a:xfrm>
        </p:spPr>
        <p:txBody>
          <a:bodyPr>
            <a:normAutofit/>
          </a:bodyPr>
          <a:lstStyle/>
          <a:p>
            <a:pPr>
              <a:lnSpc>
                <a:spcPct val="150000"/>
              </a:lnSpc>
            </a:pPr>
            <a:r>
              <a:rPr lang="en-US" b="1" dirty="0">
                <a:latin typeface="Times New Roman" panose="02020603050405020304" pitchFamily="18" charset="0"/>
                <a:cs typeface="Times New Roman" panose="02020603050405020304" pitchFamily="18" charset="0"/>
              </a:rPr>
              <a:t>Attributes</a:t>
            </a:r>
            <a:r>
              <a:rPr lang="en-US" dirty="0">
                <a:latin typeface="Times New Roman" panose="02020603050405020304" pitchFamily="18" charset="0"/>
                <a:cs typeface="Times New Roman" panose="02020603050405020304" pitchFamily="18" charset="0"/>
              </a:rPr>
              <a:t> can be defined as the description of an entity</a:t>
            </a:r>
          </a:p>
          <a:p>
            <a:pPr>
              <a:lnSpc>
                <a:spcPct val="150000"/>
              </a:lnSpc>
            </a:pPr>
            <a:r>
              <a:rPr lang="en-US" dirty="0">
                <a:latin typeface="Times New Roman" panose="02020603050405020304" pitchFamily="18" charset="0"/>
                <a:cs typeface="Times New Roman" panose="02020603050405020304" pitchFamily="18" charset="0"/>
              </a:rPr>
              <a:t> Attributes are the characteristics that define entities.</a:t>
            </a:r>
          </a:p>
          <a:p>
            <a:pPr>
              <a:lnSpc>
                <a:spcPct val="150000"/>
              </a:lnSpc>
            </a:pPr>
            <a:r>
              <a:rPr lang="en-US" dirty="0">
                <a:latin typeface="Times New Roman" panose="02020603050405020304" pitchFamily="18" charset="0"/>
                <a:cs typeface="Times New Roman" panose="02020603050405020304" pitchFamily="18" charset="0"/>
              </a:rPr>
              <a:t>If </a:t>
            </a:r>
            <a:r>
              <a:rPr lang="en-US" b="1" dirty="0" err="1">
                <a:latin typeface="Times New Roman" panose="02020603050405020304" pitchFamily="18" charset="0"/>
                <a:cs typeface="Times New Roman" panose="02020603050405020304" pitchFamily="18" charset="0"/>
              </a:rPr>
              <a:t>studentname</a:t>
            </a:r>
            <a:r>
              <a:rPr lang="en-US" dirty="0">
                <a:latin typeface="Times New Roman" panose="02020603050405020304" pitchFamily="18" charset="0"/>
                <a:cs typeface="Times New Roman" panose="02020603050405020304" pitchFamily="18" charset="0"/>
              </a:rPr>
              <a:t> is an entity, USN is an attribute</a:t>
            </a:r>
          </a:p>
          <a:p>
            <a:endParaRPr lang="en-IN" dirty="0"/>
          </a:p>
        </p:txBody>
      </p:sp>
      <p:sp>
        <p:nvSpPr>
          <p:cNvPr id="7" name="Content Placeholder 6">
            <a:extLst>
              <a:ext uri="{FF2B5EF4-FFF2-40B4-BE49-F238E27FC236}">
                <a16:creationId xmlns:a16="http://schemas.microsoft.com/office/drawing/2014/main" id="{F003F2DA-7D0F-A08A-7F5D-9C5A67FBF541}"/>
              </a:ext>
            </a:extLst>
          </p:cNvPr>
          <p:cNvSpPr>
            <a:spLocks noGrp="1"/>
          </p:cNvSpPr>
          <p:nvPr>
            <p:ph sz="quarter" idx="4"/>
          </p:nvPr>
        </p:nvSpPr>
        <p:spPr>
          <a:xfrm>
            <a:off x="6172200" y="324091"/>
            <a:ext cx="5786718" cy="5865572"/>
          </a:xfrm>
        </p:spPr>
        <p:txBody>
          <a:bodyPr>
            <a:normAutofit/>
          </a:bodyPr>
          <a:lstStyle/>
          <a:p>
            <a:pPr>
              <a:lnSpc>
                <a:spcPct val="150000"/>
              </a:lnSpc>
            </a:pPr>
            <a:r>
              <a:rPr lang="en-US" sz="2600" b="1" dirty="0">
                <a:latin typeface="Times New Roman" panose="02020603050405020304" pitchFamily="18" charset="0"/>
                <a:cs typeface="Times New Roman" panose="02020603050405020304" pitchFamily="18" charset="0"/>
              </a:rPr>
              <a:t>Relationship</a:t>
            </a:r>
            <a:r>
              <a:rPr lang="en-US" sz="2600" dirty="0">
                <a:latin typeface="Times New Roman" panose="02020603050405020304" pitchFamily="18" charset="0"/>
                <a:cs typeface="Times New Roman" panose="02020603050405020304" pitchFamily="18" charset="0"/>
              </a:rPr>
              <a:t> are used to define relation among different entities.</a:t>
            </a:r>
          </a:p>
          <a:p>
            <a:pPr>
              <a:lnSpc>
                <a:spcPct val="150000"/>
              </a:lnSpc>
            </a:pPr>
            <a:r>
              <a:rPr lang="en-US" sz="2600" dirty="0">
                <a:latin typeface="Times New Roman" panose="02020603050405020304" pitchFamily="18" charset="0"/>
                <a:cs typeface="Times New Roman" panose="02020603050405020304" pitchFamily="18" charset="0"/>
              </a:rPr>
              <a:t>Relationships help organize entities and work with data.</a:t>
            </a:r>
          </a:p>
          <a:p>
            <a:pPr>
              <a:lnSpc>
                <a:spcPct val="150000"/>
              </a:lnSpc>
            </a:pPr>
            <a:r>
              <a:rPr lang="en-US" sz="2600" dirty="0">
                <a:latin typeface="Times New Roman" panose="02020603050405020304" pitchFamily="18" charset="0"/>
                <a:cs typeface="Times New Roman" panose="02020603050405020304" pitchFamily="18" charset="0"/>
              </a:rPr>
              <a:t> For example, in a university database, relationships could connect students to courses they can take.</a:t>
            </a:r>
          </a:p>
          <a:p>
            <a:pPr>
              <a:lnSpc>
                <a:spcPct val="150000"/>
              </a:lnSpc>
            </a:pPr>
            <a:endParaRPr lang="en-US" dirty="0">
              <a:latin typeface="Times New Roman" panose="02020603050405020304" pitchFamily="18" charset="0"/>
              <a:cs typeface="Times New Roman" panose="02020603050405020304" pitchFamily="18" charset="0"/>
            </a:endParaRPr>
          </a:p>
          <a:p>
            <a:endParaRPr lang="en-IN" dirty="0"/>
          </a:p>
        </p:txBody>
      </p:sp>
      <p:sp>
        <p:nvSpPr>
          <p:cNvPr id="8" name="Oval 7">
            <a:extLst>
              <a:ext uri="{FF2B5EF4-FFF2-40B4-BE49-F238E27FC236}">
                <a16:creationId xmlns:a16="http://schemas.microsoft.com/office/drawing/2014/main" id="{5A9ECCB5-7BB1-8062-36E4-4F3724DDF33C}"/>
              </a:ext>
            </a:extLst>
          </p:cNvPr>
          <p:cNvSpPr/>
          <p:nvPr/>
        </p:nvSpPr>
        <p:spPr>
          <a:xfrm>
            <a:off x="1149071" y="5032064"/>
            <a:ext cx="2488557" cy="93184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Diamond 8">
            <a:extLst>
              <a:ext uri="{FF2B5EF4-FFF2-40B4-BE49-F238E27FC236}">
                <a16:creationId xmlns:a16="http://schemas.microsoft.com/office/drawing/2014/main" id="{FCAC4FFA-364D-950B-AE03-38CD28328203}"/>
              </a:ext>
            </a:extLst>
          </p:cNvPr>
          <p:cNvSpPr/>
          <p:nvPr/>
        </p:nvSpPr>
        <p:spPr>
          <a:xfrm>
            <a:off x="7907040" y="4876333"/>
            <a:ext cx="2317037" cy="920086"/>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02695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2617350F-0115-607B-109A-DCFEB3096DF9}"/>
              </a:ext>
            </a:extLst>
          </p:cNvPr>
          <p:cNvSpPr>
            <a:spLocks noGrp="1"/>
          </p:cNvSpPr>
          <p:nvPr>
            <p:ph idx="1"/>
          </p:nvPr>
        </p:nvSpPr>
        <p:spPr/>
        <p:txBody>
          <a:bodyPr/>
          <a:lstStyle/>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endParaRPr lang="en-IN" dirty="0"/>
          </a:p>
        </p:txBody>
      </p:sp>
      <p:pic>
        <p:nvPicPr>
          <p:cNvPr id="3" name="Picture 2">
            <a:extLst>
              <a:ext uri="{FF2B5EF4-FFF2-40B4-BE49-F238E27FC236}">
                <a16:creationId xmlns:a16="http://schemas.microsoft.com/office/drawing/2014/main" id="{D48F44C6-BEA5-0D60-8A83-495B281C1C74}"/>
              </a:ext>
            </a:extLst>
          </p:cNvPr>
          <p:cNvPicPr>
            <a:picLocks noChangeAspect="1"/>
          </p:cNvPicPr>
          <p:nvPr/>
        </p:nvPicPr>
        <p:blipFill>
          <a:blip r:embed="rId2">
            <a:extLst>
              <a:ext uri="{28A0092B-C50C-407E-A947-70E740481C1C}">
                <a14:useLocalDpi xmlns:a14="http://schemas.microsoft.com/office/drawing/2010/main" val="0"/>
              </a:ext>
            </a:extLst>
          </a:blip>
          <a:srcRect b="7136"/>
          <a:stretch/>
        </p:blipFill>
        <p:spPr>
          <a:xfrm>
            <a:off x="1762843" y="1375787"/>
            <a:ext cx="8666313" cy="4106426"/>
          </a:xfrm>
          <a:prstGeom prst="rect">
            <a:avLst/>
          </a:prstGeom>
        </p:spPr>
      </p:pic>
    </p:spTree>
    <p:extLst>
      <p:ext uri="{BB962C8B-B14F-4D97-AF65-F5344CB8AC3E}">
        <p14:creationId xmlns:p14="http://schemas.microsoft.com/office/powerpoint/2010/main" val="2669045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030A1-CC2C-0CD9-876E-AFD684A370F4}"/>
              </a:ext>
            </a:extLst>
          </p:cNvPr>
          <p:cNvSpPr>
            <a:spLocks noGrp="1"/>
          </p:cNvSpPr>
          <p:nvPr>
            <p:ph idx="1"/>
          </p:nvPr>
        </p:nvSpPr>
        <p:spPr>
          <a:xfrm>
            <a:off x="504497" y="197069"/>
            <a:ext cx="11687503" cy="6463862"/>
          </a:xfrm>
        </p:spPr>
        <p:txBody>
          <a:bodyPr>
            <a:normAutofit fontScale="70000" lnSpcReduction="20000"/>
          </a:bodyPr>
          <a:lstStyle/>
          <a:p>
            <a:pPr marL="0" indent="0" algn="l">
              <a:lnSpc>
                <a:spcPct val="150000"/>
              </a:lnSpc>
              <a:buNone/>
            </a:pPr>
            <a:r>
              <a:rPr lang="en-US" sz="3400" b="1" i="0" u="none" strike="noStrike" baseline="0" dirty="0">
                <a:latin typeface="Times New Roman" panose="02020603050405020304" pitchFamily="18" charset="0"/>
                <a:cs typeface="Times New Roman" panose="02020603050405020304" pitchFamily="18" charset="0"/>
              </a:rPr>
              <a:t>2. Representational or implementation data models:</a:t>
            </a:r>
          </a:p>
          <a:p>
            <a:pPr marL="0" indent="0">
              <a:lnSpc>
                <a:spcPct val="150000"/>
              </a:lnSpc>
              <a:buNone/>
            </a:pPr>
            <a:r>
              <a:rPr lang="en-US" sz="3400" dirty="0">
                <a:latin typeface="Times New Roman" panose="02020603050405020304" pitchFamily="18" charset="0"/>
                <a:cs typeface="Times New Roman" panose="02020603050405020304" pitchFamily="18" charset="0"/>
              </a:rPr>
              <a:t>Representational data model is used to represent only the logical part of the data model and does not represent the physical structure of the database.</a:t>
            </a:r>
          </a:p>
          <a:p>
            <a:pPr marL="0" indent="0">
              <a:lnSpc>
                <a:spcPct val="150000"/>
              </a:lnSpc>
              <a:buNone/>
            </a:pPr>
            <a:r>
              <a:rPr lang="en-US" sz="3400" b="1" i="0" u="none" strike="noStrike" baseline="0" dirty="0">
                <a:latin typeface="Times New Roman" panose="02020603050405020304" pitchFamily="18" charset="0"/>
                <a:cs typeface="Times New Roman" panose="02020603050405020304" pitchFamily="18" charset="0"/>
              </a:rPr>
              <a:t>3. Low-level or physical data models: </a:t>
            </a:r>
          </a:p>
          <a:p>
            <a:pPr marL="0" indent="0">
              <a:lnSpc>
                <a:spcPct val="150000"/>
              </a:lnSpc>
              <a:buNone/>
            </a:pPr>
            <a:r>
              <a:rPr lang="en-US" sz="3400" b="0" i="0" u="none" strike="noStrike" baseline="0" dirty="0">
                <a:latin typeface="Times New Roman" panose="02020603050405020304" pitchFamily="18" charset="0"/>
                <a:cs typeface="Times New Roman" panose="02020603050405020304" pitchFamily="18" charset="0"/>
              </a:rPr>
              <a:t>provide concepts that describe the details of how data is stored on the computer storage media, typically magnetic disks.</a:t>
            </a:r>
          </a:p>
          <a:p>
            <a:pPr marL="0" indent="0">
              <a:lnSpc>
                <a:spcPct val="150000"/>
              </a:lnSpc>
              <a:buNone/>
            </a:pPr>
            <a:r>
              <a:rPr lang="en-US" sz="3400" b="0" i="0" u="none" strike="noStrike" baseline="0" dirty="0">
                <a:latin typeface="Times New Roman" panose="02020603050405020304" pitchFamily="18" charset="0"/>
                <a:cs typeface="Times New Roman" panose="02020603050405020304" pitchFamily="18" charset="0"/>
              </a:rPr>
              <a:t> Physical data models describe how data is stored as files in the computer by representing information such  as record formats, record orderings, and access paths.</a:t>
            </a:r>
          </a:p>
          <a:p>
            <a:pPr marL="0" indent="0">
              <a:lnSpc>
                <a:spcPct val="150000"/>
              </a:lnSpc>
              <a:buNone/>
            </a:pPr>
            <a:r>
              <a:rPr lang="en-US" sz="3400" dirty="0">
                <a:latin typeface="Times New Roman" panose="02020603050405020304" pitchFamily="18" charset="0"/>
                <a:cs typeface="Times New Roman" panose="02020603050405020304" pitchFamily="18" charset="0"/>
              </a:rPr>
              <a:t>(</a:t>
            </a:r>
            <a:r>
              <a:rPr lang="en-US" sz="3400" b="1" dirty="0">
                <a:latin typeface="Times New Roman" panose="02020603050405020304" pitchFamily="18" charset="0"/>
                <a:cs typeface="Times New Roman" panose="02020603050405020304" pitchFamily="18" charset="0"/>
              </a:rPr>
              <a:t>Physical storage</a:t>
            </a:r>
            <a:r>
              <a:rPr lang="en-US" sz="3400" dirty="0">
                <a:latin typeface="Times New Roman" panose="02020603050405020304" pitchFamily="18" charset="0"/>
                <a:cs typeface="Times New Roman" panose="02020603050405020304" pitchFamily="18" charset="0"/>
              </a:rPr>
              <a:t>: A 500GB hard drive with specific sectors where data is physically stored. </a:t>
            </a:r>
            <a:r>
              <a:rPr lang="en-US" sz="3400" b="1" dirty="0">
                <a:latin typeface="Times New Roman" panose="02020603050405020304" pitchFamily="18" charset="0"/>
                <a:cs typeface="Times New Roman" panose="02020603050405020304" pitchFamily="18" charset="0"/>
              </a:rPr>
              <a:t>Logical storage: </a:t>
            </a:r>
            <a:r>
              <a:rPr lang="en-US" sz="3400" dirty="0">
                <a:latin typeface="Times New Roman" panose="02020603050405020304" pitchFamily="18" charset="0"/>
                <a:cs typeface="Times New Roman" panose="02020603050405020304" pitchFamily="18" charset="0"/>
              </a:rPr>
              <a:t>A "Documents" folder on your computer which appears as a single location to the user, even though the data is spread across different physical sectors on the hard drive.)</a:t>
            </a: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540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7B0A5-0321-EE6A-0AD9-23DE4A4ACB26}"/>
              </a:ext>
            </a:extLst>
          </p:cNvPr>
          <p:cNvSpPr>
            <a:spLocks noGrp="1"/>
          </p:cNvSpPr>
          <p:nvPr>
            <p:ph idx="1"/>
          </p:nvPr>
        </p:nvSpPr>
        <p:spPr>
          <a:xfrm>
            <a:off x="435278" y="186033"/>
            <a:ext cx="11321443" cy="6151705"/>
          </a:xfrm>
        </p:spPr>
        <p:txBody>
          <a:bodyPr>
            <a:normAutofit fontScale="92500" lnSpcReduction="20000"/>
          </a:bodyPr>
          <a:lstStyle/>
          <a:p>
            <a:pPr marL="0" indent="0" algn="l">
              <a:buNone/>
            </a:pPr>
            <a:r>
              <a:rPr lang="en-IN" sz="4000" b="1" i="0" u="none" strike="noStrike" baseline="0" dirty="0">
                <a:latin typeface="Times New Roman" panose="02020603050405020304" pitchFamily="18" charset="0"/>
                <a:cs typeface="Times New Roman" panose="02020603050405020304" pitchFamily="18" charset="0"/>
              </a:rPr>
              <a:t>Database schema</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description of a database is called the </a:t>
            </a:r>
            <a:r>
              <a:rPr lang="en-US" b="1" i="0" u="none" strike="noStrike" baseline="0" dirty="0">
                <a:latin typeface="Times New Roman" panose="02020603050405020304" pitchFamily="18" charset="0"/>
                <a:cs typeface="Times New Roman" panose="02020603050405020304" pitchFamily="18" charset="0"/>
              </a:rPr>
              <a:t>database schema</a:t>
            </a:r>
            <a:r>
              <a:rPr lang="en-US" b="0" i="0" u="none" strike="noStrike" baseline="0" dirty="0">
                <a:latin typeface="Times New Roman" panose="02020603050405020304" pitchFamily="18" charset="0"/>
                <a:cs typeface="Times New Roman" panose="02020603050405020304" pitchFamily="18" charset="0"/>
              </a:rPr>
              <a:t>, which is specified during database design and is not expected to change frequently.</a:t>
            </a:r>
          </a:p>
          <a:p>
            <a:pPr>
              <a:lnSpc>
                <a:spcPct val="150000"/>
              </a:lnSpc>
            </a:pPr>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"entity</a:t>
            </a:r>
            <a:r>
              <a:rPr lang="en-US" dirty="0">
                <a:latin typeface="Times New Roman" panose="02020603050405020304" pitchFamily="18" charset="0"/>
                <a:cs typeface="Times New Roman" panose="02020603050405020304" pitchFamily="18" charset="0"/>
              </a:rPr>
              <a:t>" represents a real-world object or concept, like a customer or product, while a </a:t>
            </a:r>
            <a:r>
              <a:rPr lang="en-US" b="1" dirty="0">
                <a:latin typeface="Times New Roman" panose="02020603050405020304" pitchFamily="18" charset="0"/>
                <a:cs typeface="Times New Roman" panose="02020603050405020304" pitchFamily="18" charset="0"/>
              </a:rPr>
              <a:t>"schema" </a:t>
            </a:r>
            <a:r>
              <a:rPr lang="en-US" dirty="0">
                <a:latin typeface="Times New Roman" panose="02020603050405020304" pitchFamily="18" charset="0"/>
                <a:cs typeface="Times New Roman" panose="02020603050405020304" pitchFamily="18" charset="0"/>
              </a:rPr>
              <a:t>defines the overall structure of the database, including the tables, columns, data types, and relationships between entities, essentially acting as a blueprint for how data is organized within the database; an entity is a single building block within the schema.</a:t>
            </a:r>
          </a:p>
          <a:p>
            <a:pPr>
              <a:lnSpc>
                <a:spcPct val="150000"/>
              </a:lnSpc>
            </a:pPr>
            <a:r>
              <a:rPr lang="en-US" dirty="0">
                <a:latin typeface="Times New Roman" panose="02020603050405020304" pitchFamily="18" charset="0"/>
                <a:cs typeface="Times New Roman" panose="02020603050405020304" pitchFamily="18" charset="0"/>
              </a:rPr>
              <a:t>It is known as blueprint with the help of which we can explain that how data is organized into tables.</a:t>
            </a:r>
          </a:p>
          <a:p>
            <a:pPr>
              <a:lnSpc>
                <a:spcPct val="150000"/>
              </a:lnSpc>
            </a:pPr>
            <a:r>
              <a:rPr lang="en-US" sz="2800" b="0" i="0" u="none" strike="noStrike" baseline="0" dirty="0">
                <a:latin typeface="Times New Roman" panose="02020603050405020304" pitchFamily="18" charset="0"/>
                <a:cs typeface="Times New Roman" panose="02020603050405020304" pitchFamily="18" charset="0"/>
              </a:rPr>
              <a:t>The data in the database is called </a:t>
            </a:r>
            <a:r>
              <a:rPr lang="en-IN" sz="2800" b="1" i="0" u="none" strike="noStrike" baseline="0" dirty="0">
                <a:latin typeface="Times New Roman" panose="02020603050405020304" pitchFamily="18" charset="0"/>
                <a:cs typeface="Times New Roman" panose="02020603050405020304" pitchFamily="18" charset="0"/>
              </a:rPr>
              <a:t>instances</a:t>
            </a:r>
            <a:r>
              <a:rPr lang="en-IN" sz="2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0" indent="0" algn="l">
              <a:lnSpc>
                <a:spcPct val="150000"/>
              </a:lnSpc>
              <a:buNone/>
            </a:pPr>
            <a:endParaRPr lang="en-US" dirty="0">
              <a:latin typeface="Times New Roman" panose="02020603050405020304" pitchFamily="18" charset="0"/>
              <a:cs typeface="Times New Roman" panose="02020603050405020304" pitchFamily="18" charset="0"/>
            </a:endParaRPr>
          </a:p>
          <a:p>
            <a:pPr marL="0" indent="0" algn="l">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373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3AC02D0-8FF7-67B5-9544-5A50CD45D13E}"/>
              </a:ext>
            </a:extLst>
          </p:cNvPr>
          <p:cNvSpPr>
            <a:spLocks noGrp="1"/>
          </p:cNvSpPr>
          <p:nvPr>
            <p:ph sz="quarter" idx="4"/>
          </p:nvPr>
        </p:nvSpPr>
        <p:spPr>
          <a:xfrm>
            <a:off x="6348548" y="470263"/>
            <a:ext cx="5290457" cy="5719400"/>
          </a:xfrm>
        </p:spPr>
        <p:txBody>
          <a:bodyPr/>
          <a:lstStyle/>
          <a:p>
            <a:pPr marL="0" indent="0" algn="l">
              <a:buNone/>
            </a:pPr>
            <a:r>
              <a:rPr lang="en-IN" sz="4000" b="1" i="0" u="none" strike="noStrike" baseline="0" dirty="0">
                <a:latin typeface="Times New Roman" panose="02020603050405020304" pitchFamily="18" charset="0"/>
                <a:cs typeface="Times New Roman" panose="02020603050405020304" pitchFamily="18" charset="0"/>
              </a:rPr>
              <a:t>Schema diagram</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A displayed schema is called a schema diagram. A schema diagram displays only some aspects of a schema, such as the names of record types and data items, and some types of </a:t>
            </a:r>
            <a:r>
              <a:rPr lang="en-IN" b="0" i="0" u="none" strike="noStrike" baseline="0" dirty="0">
                <a:latin typeface="Times New Roman" panose="02020603050405020304" pitchFamily="18" charset="0"/>
                <a:cs typeface="Times New Roman" panose="02020603050405020304" pitchFamily="18" charset="0"/>
              </a:rPr>
              <a:t>constraints.</a:t>
            </a:r>
          </a:p>
          <a:p>
            <a:endParaRPr lang="en-IN" dirty="0"/>
          </a:p>
        </p:txBody>
      </p:sp>
      <p:pic>
        <p:nvPicPr>
          <p:cNvPr id="11" name="Content Placeholder 10">
            <a:extLst>
              <a:ext uri="{FF2B5EF4-FFF2-40B4-BE49-F238E27FC236}">
                <a16:creationId xmlns:a16="http://schemas.microsoft.com/office/drawing/2014/main" id="{FE8CE654-BE2D-E54E-CF99-BD32C512D0D7}"/>
              </a:ext>
            </a:extLst>
          </p:cNvPr>
          <p:cNvPicPr>
            <a:picLocks noGrp="1" noChangeAspect="1"/>
          </p:cNvPicPr>
          <p:nvPr>
            <p:ph sz="half" idx="2"/>
          </p:nvPr>
        </p:nvPicPr>
        <p:blipFill>
          <a:blip r:embed="rId2"/>
          <a:stretch>
            <a:fillRect/>
          </a:stretch>
        </p:blipFill>
        <p:spPr>
          <a:xfrm>
            <a:off x="418011" y="470263"/>
            <a:ext cx="5677989" cy="5943599"/>
          </a:xfrm>
        </p:spPr>
      </p:pic>
    </p:spTree>
    <p:extLst>
      <p:ext uri="{BB962C8B-B14F-4D97-AF65-F5344CB8AC3E}">
        <p14:creationId xmlns:p14="http://schemas.microsoft.com/office/powerpoint/2010/main" val="389172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E488F61-81BA-78D2-6246-9111AF2F7B97}"/>
              </a:ext>
            </a:extLst>
          </p:cNvPr>
          <p:cNvSpPr>
            <a:spLocks noGrp="1"/>
          </p:cNvSpPr>
          <p:nvPr>
            <p:ph sz="half" idx="1"/>
          </p:nvPr>
        </p:nvSpPr>
        <p:spPr>
          <a:xfrm>
            <a:off x="339634" y="0"/>
            <a:ext cx="5680166" cy="6176963"/>
          </a:xfrm>
        </p:spPr>
        <p:txBody>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Instance</a:t>
            </a:r>
          </a:p>
          <a:p>
            <a:pPr>
              <a:lnSpc>
                <a:spcPct val="150000"/>
              </a:lnSpc>
            </a:pPr>
            <a:r>
              <a:rPr lang="en-IN" dirty="0">
                <a:latin typeface="Times New Roman" panose="02020603050405020304" pitchFamily="18" charset="0"/>
                <a:cs typeface="Times New Roman" panose="02020603050405020304" pitchFamily="18" charset="0"/>
              </a:rPr>
              <a:t>The collection of information stored in the database at particular moment is called Instance.</a:t>
            </a:r>
          </a:p>
          <a:p>
            <a:pPr>
              <a:lnSpc>
                <a:spcPct val="150000"/>
              </a:lnSpc>
            </a:pPr>
            <a:r>
              <a:rPr lang="en-IN" dirty="0">
                <a:latin typeface="Times New Roman" panose="02020603050405020304" pitchFamily="18" charset="0"/>
                <a:cs typeface="Times New Roman" panose="02020603050405020304" pitchFamily="18" charset="0"/>
              </a:rPr>
              <a:t>Instances are changed </a:t>
            </a:r>
            <a:r>
              <a:rPr lang="en-IN" b="1" dirty="0">
                <a:latin typeface="Times New Roman" panose="02020603050405020304" pitchFamily="18" charset="0"/>
                <a:cs typeface="Times New Roman" panose="02020603050405020304" pitchFamily="18" charset="0"/>
              </a:rPr>
              <a:t>frequently.</a:t>
            </a:r>
          </a:p>
        </p:txBody>
      </p:sp>
      <p:sp>
        <p:nvSpPr>
          <p:cNvPr id="6" name="Content Placeholder 5">
            <a:extLst>
              <a:ext uri="{FF2B5EF4-FFF2-40B4-BE49-F238E27FC236}">
                <a16:creationId xmlns:a16="http://schemas.microsoft.com/office/drawing/2014/main" id="{0F2FC1C8-0E6F-5324-A52A-C216189AFD6E}"/>
              </a:ext>
            </a:extLst>
          </p:cNvPr>
          <p:cNvSpPr>
            <a:spLocks noGrp="1"/>
          </p:cNvSpPr>
          <p:nvPr>
            <p:ph sz="half" idx="2"/>
          </p:nvPr>
        </p:nvSpPr>
        <p:spPr>
          <a:xfrm>
            <a:off x="6172199" y="0"/>
            <a:ext cx="5401491" cy="6176963"/>
          </a:xfrm>
        </p:spPr>
        <p:txBody>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Schema</a:t>
            </a:r>
          </a:p>
          <a:p>
            <a:pPr>
              <a:lnSpc>
                <a:spcPct val="150000"/>
              </a:lnSpc>
            </a:pPr>
            <a:r>
              <a:rPr lang="en-IN" dirty="0">
                <a:latin typeface="Times New Roman" panose="02020603050405020304" pitchFamily="18" charset="0"/>
                <a:cs typeface="Times New Roman" panose="02020603050405020304" pitchFamily="18" charset="0"/>
              </a:rPr>
              <a:t>The overall design of database is called database Schema.</a:t>
            </a:r>
          </a:p>
          <a:p>
            <a:pPr>
              <a:lnSpc>
                <a:spcPct val="150000"/>
              </a:lnSpc>
            </a:pPr>
            <a:r>
              <a:rPr lang="en-IN" dirty="0">
                <a:latin typeface="Times New Roman" panose="02020603050405020304" pitchFamily="18" charset="0"/>
                <a:cs typeface="Times New Roman" panose="02020603050405020304" pitchFamily="18" charset="0"/>
              </a:rPr>
              <a:t>Schemas are changed </a:t>
            </a:r>
            <a:r>
              <a:rPr lang="en-IN" b="1" dirty="0">
                <a:latin typeface="Times New Roman" panose="02020603050405020304" pitchFamily="18" charset="0"/>
                <a:cs typeface="Times New Roman" panose="02020603050405020304" pitchFamily="18" charset="0"/>
              </a:rPr>
              <a:t>rarely.</a:t>
            </a:r>
          </a:p>
        </p:txBody>
      </p:sp>
      <p:pic>
        <p:nvPicPr>
          <p:cNvPr id="8" name="Picture 7">
            <a:extLst>
              <a:ext uri="{FF2B5EF4-FFF2-40B4-BE49-F238E27FC236}">
                <a16:creationId xmlns:a16="http://schemas.microsoft.com/office/drawing/2014/main" id="{D6CD8050-7C9A-E7B5-FE78-D432D276F18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 uri="{28A0092B-C50C-407E-A947-70E740481C1C}">
                <a14:useLocalDpi xmlns:a14="http://schemas.microsoft.com/office/drawing/2010/main" val="0"/>
              </a:ext>
            </a:extLst>
          </a:blip>
          <a:stretch>
            <a:fillRect/>
          </a:stretch>
        </p:blipFill>
        <p:spPr>
          <a:xfrm>
            <a:off x="2399661" y="3813823"/>
            <a:ext cx="6321973" cy="2618507"/>
          </a:xfrm>
          <a:prstGeom prst="rect">
            <a:avLst/>
          </a:prstGeom>
        </p:spPr>
      </p:pic>
    </p:spTree>
    <p:extLst>
      <p:ext uri="{BB962C8B-B14F-4D97-AF65-F5344CB8AC3E}">
        <p14:creationId xmlns:p14="http://schemas.microsoft.com/office/powerpoint/2010/main" val="245103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8FCB90-0A4E-A252-7BC5-B7DAFE481415}"/>
              </a:ext>
            </a:extLst>
          </p:cNvPr>
          <p:cNvSpPr>
            <a:spLocks noGrp="1"/>
          </p:cNvSpPr>
          <p:nvPr>
            <p:ph type="title"/>
          </p:nvPr>
        </p:nvSpPr>
        <p:spPr>
          <a:xfrm>
            <a:off x="0" y="-457200"/>
            <a:ext cx="12191999" cy="2116667"/>
          </a:xfrm>
        </p:spPr>
        <p:txBody>
          <a:bodyPr>
            <a:normAutofit fontScale="90000"/>
          </a:bodyPr>
          <a:lstStyle/>
          <a:p>
            <a:pPr>
              <a:lnSpc>
                <a:spcPct val="150000"/>
              </a:lnSpc>
            </a:pPr>
            <a:br>
              <a:rPr lang="en-IN" b="1" i="0" u="none" strike="noStrike" baseline="0" dirty="0">
                <a:latin typeface="Times New Roman" panose="02020603050405020304" pitchFamily="18" charset="0"/>
                <a:cs typeface="Times New Roman" panose="02020603050405020304" pitchFamily="18" charset="0"/>
              </a:rPr>
            </a:br>
            <a:r>
              <a:rPr lang="en-IN" b="1" i="0" u="none" strike="noStrike" baseline="0" dirty="0">
                <a:latin typeface="Times New Roman" panose="02020603050405020304" pitchFamily="18" charset="0"/>
                <a:cs typeface="Times New Roman" panose="02020603050405020304" pitchFamily="18" charset="0"/>
              </a:rPr>
              <a:t>The Three-Schema Architecture</a:t>
            </a:r>
            <a:br>
              <a:rPr lang="en-IN" sz="4000" b="1" i="0" u="none" strike="noStrike" baseline="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Goal: </a:t>
            </a:r>
            <a:r>
              <a:rPr lang="en-IN" sz="3600" dirty="0">
                <a:latin typeface="Times New Roman" panose="02020603050405020304" pitchFamily="18" charset="0"/>
                <a:cs typeface="Times New Roman" panose="02020603050405020304" pitchFamily="18" charset="0"/>
              </a:rPr>
              <a:t>To separate the user applications and the physical database.</a:t>
            </a:r>
            <a:br>
              <a:rPr lang="en-IN" sz="2400"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pic>
        <p:nvPicPr>
          <p:cNvPr id="7" name="Image 359">
            <a:extLst>
              <a:ext uri="{FF2B5EF4-FFF2-40B4-BE49-F238E27FC236}">
                <a16:creationId xmlns:a16="http://schemas.microsoft.com/office/drawing/2014/main" id="{16138563-3BD3-7ED4-4FB9-5114609802D4}"/>
              </a:ext>
            </a:extLst>
          </p:cNvPr>
          <p:cNvPicPr>
            <a:picLocks noGrp="1"/>
          </p:cNvPicPr>
          <p:nvPr>
            <p:ph idx="1"/>
          </p:nvPr>
        </p:nvPicPr>
        <p:blipFill>
          <a:blip r:embed="rId2" cstate="print"/>
          <a:stretch>
            <a:fillRect/>
          </a:stretch>
        </p:blipFill>
        <p:spPr>
          <a:xfrm>
            <a:off x="1954925" y="1659467"/>
            <a:ext cx="6936828" cy="5198533"/>
          </a:xfrm>
          <a:prstGeom prst="rect">
            <a:avLst/>
          </a:prstGeom>
        </p:spPr>
      </p:pic>
    </p:spTree>
    <p:extLst>
      <p:ext uri="{BB962C8B-B14F-4D97-AF65-F5344CB8AC3E}">
        <p14:creationId xmlns:p14="http://schemas.microsoft.com/office/powerpoint/2010/main" val="389952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38FC5-46ED-4164-9EAE-ECF8810F3EA0}"/>
              </a:ext>
            </a:extLst>
          </p:cNvPr>
          <p:cNvSpPr>
            <a:spLocks noGrp="1"/>
          </p:cNvSpPr>
          <p:nvPr>
            <p:ph idx="1"/>
          </p:nvPr>
        </p:nvSpPr>
        <p:spPr>
          <a:xfrm>
            <a:off x="394138" y="189186"/>
            <a:ext cx="11619186" cy="6668813"/>
          </a:xfrm>
        </p:spPr>
        <p:txBody>
          <a:bodyPr>
            <a:noAutofit/>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3 Level:</a:t>
            </a:r>
          </a:p>
          <a:p>
            <a:pPr marL="0" indent="0">
              <a:lnSpc>
                <a:spcPct val="150000"/>
              </a:lnSpc>
              <a:buNone/>
            </a:pPr>
            <a:r>
              <a:rPr lang="en-US" sz="2400" b="1" i="0" u="none" strike="noStrike" baseline="0" dirty="0">
                <a:latin typeface="Times New Roman" panose="02020603050405020304" pitchFamily="18" charset="0"/>
                <a:cs typeface="Times New Roman" panose="02020603050405020304" pitchFamily="18" charset="0"/>
              </a:rPr>
              <a:t>The external or view level includes several external schemas or user views </a:t>
            </a:r>
            <a:r>
              <a:rPr lang="en-US" sz="2400" b="0" i="0" u="none" strike="noStrike" baseline="0" dirty="0">
                <a:latin typeface="Times New Roman" panose="02020603050405020304" pitchFamily="18" charset="0"/>
                <a:cs typeface="Times New Roman" panose="02020603050405020304" pitchFamily="18" charset="0"/>
              </a:rPr>
              <a:t>describes the part of the database that a particular user group is interested in and hides the rest of the database from that user group.</a:t>
            </a:r>
          </a:p>
          <a:p>
            <a:pPr algn="l">
              <a:lnSpc>
                <a:spcPct val="150000"/>
              </a:lnSpc>
            </a:pPr>
            <a:r>
              <a:rPr lang="en-US" sz="2400" b="1" i="0" u="none" strike="noStrike" baseline="0" dirty="0">
                <a:latin typeface="Times New Roman" panose="02020603050405020304" pitchFamily="18" charset="0"/>
                <a:cs typeface="Times New Roman" panose="02020603050405020304" pitchFamily="18" charset="0"/>
              </a:rPr>
              <a:t>The conceptual level has a conceptual schema that </a:t>
            </a:r>
            <a:r>
              <a:rPr lang="en-US" sz="2400" b="0" i="0" u="none" strike="noStrike" baseline="0" dirty="0">
                <a:latin typeface="Times New Roman" panose="02020603050405020304" pitchFamily="18" charset="0"/>
                <a:cs typeface="Times New Roman" panose="02020603050405020304" pitchFamily="18" charset="0"/>
              </a:rPr>
              <a:t>hides the details of physical storage structures and concentrates on describing entities, data types, relationships, user </a:t>
            </a:r>
            <a:r>
              <a:rPr lang="en-IN" sz="2400" b="0" i="0" u="none" strike="noStrike" baseline="0" dirty="0">
                <a:latin typeface="Times New Roman" panose="02020603050405020304" pitchFamily="18" charset="0"/>
                <a:cs typeface="Times New Roman" panose="02020603050405020304" pitchFamily="18" charset="0"/>
              </a:rPr>
              <a:t>operations, and constraints.</a:t>
            </a:r>
          </a:p>
          <a:p>
            <a:pPr algn="l">
              <a:lnSpc>
                <a:spcPct val="150000"/>
              </a:lnSpc>
            </a:pPr>
            <a:r>
              <a:rPr lang="en-US" sz="2400" b="1" i="0" u="none" strike="noStrike" baseline="0" dirty="0">
                <a:latin typeface="Times New Roman" panose="02020603050405020304" pitchFamily="18" charset="0"/>
                <a:cs typeface="Times New Roman" panose="02020603050405020304" pitchFamily="18" charset="0"/>
              </a:rPr>
              <a:t>The internal level has an internal schema </a:t>
            </a:r>
            <a:r>
              <a:rPr lang="en-IN" sz="2400" dirty="0">
                <a:latin typeface="Times New Roman" panose="02020603050405020304" pitchFamily="18" charset="0"/>
                <a:cs typeface="Times New Roman" panose="02020603050405020304" pitchFamily="18" charset="0"/>
              </a:rPr>
              <a:t>that describes the physical storage of the database. Describes the complete details of data storage and access paths.</a:t>
            </a:r>
          </a:p>
        </p:txBody>
      </p:sp>
    </p:spTree>
    <p:extLst>
      <p:ext uri="{BB962C8B-B14F-4D97-AF65-F5344CB8AC3E}">
        <p14:creationId xmlns:p14="http://schemas.microsoft.com/office/powerpoint/2010/main" val="875768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496A-458F-7CE9-110E-62EE6D75117B}"/>
              </a:ext>
            </a:extLst>
          </p:cNvPr>
          <p:cNvSpPr>
            <a:spLocks noGrp="1"/>
          </p:cNvSpPr>
          <p:nvPr>
            <p:ph type="title"/>
          </p:nvPr>
        </p:nvSpPr>
        <p:spPr>
          <a:xfrm>
            <a:off x="520262" y="0"/>
            <a:ext cx="10833538" cy="1049867"/>
          </a:xfrm>
        </p:spPr>
        <p:txBody>
          <a:bodyPr>
            <a:normAutofit fontScale="90000"/>
          </a:bodyPr>
          <a:lstStyle/>
          <a:p>
            <a:br>
              <a:rPr lang="en-IN" sz="4400" b="0" i="0" u="none" strike="noStrike" baseline="0" dirty="0">
                <a:latin typeface="CIDFont+F1"/>
              </a:rPr>
            </a:br>
            <a:r>
              <a:rPr lang="en-IN" sz="4400" b="1" i="0" u="none" strike="noStrike" baseline="0" dirty="0">
                <a:latin typeface="Times New Roman" panose="02020603050405020304" pitchFamily="18" charset="0"/>
                <a:cs typeface="Times New Roman" panose="02020603050405020304" pitchFamily="18" charset="0"/>
              </a:rPr>
              <a:t>Data Independence</a:t>
            </a:r>
            <a:br>
              <a:rPr lang="en-IN" sz="4400" b="0" i="0" u="none" strike="noStrike" baseline="0" dirty="0">
                <a:latin typeface="CIDFont+F1"/>
              </a:rPr>
            </a:br>
            <a:endParaRPr lang="en-IN" dirty="0"/>
          </a:p>
        </p:txBody>
      </p:sp>
      <p:sp>
        <p:nvSpPr>
          <p:cNvPr id="3" name="Content Placeholder 2">
            <a:extLst>
              <a:ext uri="{FF2B5EF4-FFF2-40B4-BE49-F238E27FC236}">
                <a16:creationId xmlns:a16="http://schemas.microsoft.com/office/drawing/2014/main" id="{CAF14931-877C-DF78-E2E6-A017AE8E3051}"/>
              </a:ext>
            </a:extLst>
          </p:cNvPr>
          <p:cNvSpPr>
            <a:spLocks noGrp="1"/>
          </p:cNvSpPr>
          <p:nvPr>
            <p:ph idx="1"/>
          </p:nvPr>
        </p:nvSpPr>
        <p:spPr>
          <a:xfrm>
            <a:off x="520262" y="1049867"/>
            <a:ext cx="11353800" cy="5808132"/>
          </a:xfrm>
        </p:spPr>
        <p:txBody>
          <a:bodyPr>
            <a:normAutofit fontScale="77500" lnSpcReduction="20000"/>
          </a:bodyPr>
          <a:lstStyle/>
          <a:p>
            <a:pPr algn="l">
              <a:lnSpc>
                <a:spcPct val="150000"/>
              </a:lnSpc>
            </a:pPr>
            <a:r>
              <a:rPr lang="en-IN" dirty="0">
                <a:latin typeface="Times New Roman" panose="02020603050405020304" pitchFamily="18" charset="0"/>
                <a:cs typeface="Times New Roman" panose="02020603050405020304" pitchFamily="18" charset="0"/>
              </a:rPr>
              <a:t>The ability to change the schema at one level without changing the schema at another level.</a:t>
            </a:r>
          </a:p>
          <a:p>
            <a:pPr algn="l">
              <a:lnSpc>
                <a:spcPct val="150000"/>
              </a:lnSpc>
            </a:pPr>
            <a:r>
              <a:rPr lang="en-IN" dirty="0">
                <a:latin typeface="Times New Roman" panose="02020603050405020304" pitchFamily="18" charset="0"/>
                <a:cs typeface="Times New Roman" panose="02020603050405020304" pitchFamily="18" charset="0"/>
              </a:rPr>
              <a:t>It refers that changes made in any level of database should not affect to its next high level.</a:t>
            </a:r>
          </a:p>
          <a:p>
            <a:pPr algn="l">
              <a:lnSpc>
                <a:spcPct val="150000"/>
              </a:lnSpc>
            </a:pPr>
            <a:r>
              <a:rPr lang="en-IN" dirty="0">
                <a:latin typeface="Times New Roman" panose="02020603050405020304" pitchFamily="18" charset="0"/>
                <a:cs typeface="Times New Roman" panose="02020603050405020304" pitchFamily="18" charset="0"/>
              </a:rPr>
              <a:t>There are two types:</a:t>
            </a:r>
          </a:p>
          <a:p>
            <a:pPr marL="0" indent="0">
              <a:lnSpc>
                <a:spcPct val="150000"/>
              </a:lnSpc>
              <a:buNone/>
            </a:pPr>
            <a:r>
              <a:rPr lang="en-IN" sz="3300" b="1" dirty="0">
                <a:latin typeface="Times New Roman" panose="02020603050405020304" pitchFamily="18" charset="0"/>
                <a:cs typeface="Times New Roman" panose="02020603050405020304" pitchFamily="18" charset="0"/>
              </a:rPr>
              <a:t>1) Physical data independence: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Physical data independence is the capacity to change the internal schema without having to change the conceptual schema. Hence, the external schemas need not be </a:t>
            </a:r>
            <a:r>
              <a:rPr lang="en-IN" b="0" i="0" u="none" strike="noStrike" baseline="0" dirty="0">
                <a:latin typeface="Times New Roman" panose="02020603050405020304" pitchFamily="18" charset="0"/>
                <a:cs typeface="Times New Roman" panose="02020603050405020304" pitchFamily="18" charset="0"/>
              </a:rPr>
              <a:t>changed as well.</a:t>
            </a:r>
          </a:p>
          <a:p>
            <a:pPr marL="0" indent="0" algn="l">
              <a:lnSpc>
                <a:spcPct val="150000"/>
              </a:lnSpc>
              <a:buNone/>
            </a:pPr>
            <a:r>
              <a:rPr lang="en-IN" sz="3300" b="1" dirty="0">
                <a:latin typeface="Times New Roman" panose="02020603050405020304" pitchFamily="18" charset="0"/>
                <a:cs typeface="Times New Roman" panose="02020603050405020304" pitchFamily="18" charset="0"/>
              </a:rPr>
              <a:t>2) Logical data Independence: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Logical data independence is the capacity to change the conceptual schema without having to change external schemas or application programs</a:t>
            </a:r>
            <a:r>
              <a:rPr lang="en-IN" b="0" i="0" u="none" strike="noStrike" baseline="0" dirty="0">
                <a:latin typeface="Times New Roman" panose="02020603050405020304" pitchFamily="18" charset="0"/>
                <a:cs typeface="Times New Roman" panose="02020603050405020304" pitchFamily="18" charset="0"/>
              </a:rPr>
              <a:t>.</a:t>
            </a:r>
            <a:endParaRPr lang="en-IN" dirty="0"/>
          </a:p>
          <a:p>
            <a:pPr algn="l"/>
            <a:endParaRPr lang="en-IN" dirty="0"/>
          </a:p>
        </p:txBody>
      </p:sp>
    </p:spTree>
    <p:extLst>
      <p:ext uri="{BB962C8B-B14F-4D97-AF65-F5344CB8AC3E}">
        <p14:creationId xmlns:p14="http://schemas.microsoft.com/office/powerpoint/2010/main" val="3705479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DB2D-9FAF-1B03-2745-82A6BF71B24A}"/>
              </a:ext>
            </a:extLst>
          </p:cNvPr>
          <p:cNvSpPr>
            <a:spLocks noGrp="1"/>
          </p:cNvSpPr>
          <p:nvPr>
            <p:ph type="title"/>
          </p:nvPr>
        </p:nvSpPr>
        <p:spPr>
          <a:xfrm>
            <a:off x="740979" y="1"/>
            <a:ext cx="11061553" cy="846666"/>
          </a:xfrm>
        </p:spPr>
        <p:txBody>
          <a:bodyPr>
            <a:normAutofit/>
          </a:bodyPr>
          <a:lstStyle/>
          <a:p>
            <a:r>
              <a:rPr lang="en-IN" sz="4000" b="1" i="0" u="none" strike="noStrike" baseline="0" dirty="0">
                <a:latin typeface="Times New Roman" panose="02020603050405020304" pitchFamily="18" charset="0"/>
                <a:cs typeface="Times New Roman" panose="02020603050405020304" pitchFamily="18" charset="0"/>
              </a:rPr>
              <a:t>Database Languages </a:t>
            </a:r>
            <a:r>
              <a:rPr lang="en-IN" sz="4000" b="0" i="0" u="none" strike="noStrike" baseline="0" dirty="0">
                <a:latin typeface="Times New Roman" panose="02020603050405020304" pitchFamily="18" charset="0"/>
                <a:cs typeface="Times New Roman" panose="02020603050405020304" pitchFamily="18" charset="0"/>
              </a:rPr>
              <a:t>or DBMS languages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D07B22-BF8E-51EB-54B8-C29A4650A34B}"/>
              </a:ext>
            </a:extLst>
          </p:cNvPr>
          <p:cNvSpPr>
            <a:spLocks noGrp="1"/>
          </p:cNvSpPr>
          <p:nvPr>
            <p:ph idx="1"/>
          </p:nvPr>
        </p:nvSpPr>
        <p:spPr>
          <a:xfrm>
            <a:off x="740979" y="1083149"/>
            <a:ext cx="11332488" cy="5774850"/>
          </a:xfrm>
        </p:spPr>
        <p:txBody>
          <a:bodyPr>
            <a:normAutofit fontScale="92500" lnSpcReduction="20000"/>
          </a:bodyPr>
          <a:lstStyle/>
          <a:p>
            <a:pPr>
              <a:lnSpc>
                <a:spcPct val="150000"/>
              </a:lnSpc>
            </a:pPr>
            <a:r>
              <a:rPr lang="en-IN" dirty="0">
                <a:latin typeface="Times New Roman" panose="02020603050405020304" pitchFamily="18" charset="0"/>
                <a:cs typeface="Times New Roman" panose="02020603050405020304" pitchFamily="18" charset="0"/>
              </a:rPr>
              <a:t>In order to perform operation on the database like CREATE, SELECT, INSERT, DELETE, UPDATE , database language is use.</a:t>
            </a:r>
          </a:p>
          <a:p>
            <a:pPr>
              <a:lnSpc>
                <a:spcPct val="150000"/>
              </a:lnSpc>
            </a:pPr>
            <a:r>
              <a:rPr lang="en-IN" dirty="0">
                <a:latin typeface="Times New Roman" panose="02020603050405020304" pitchFamily="18" charset="0"/>
                <a:cs typeface="Times New Roman" panose="02020603050405020304" pitchFamily="18" charset="0"/>
              </a:rPr>
              <a:t>To perform Operations on database, SQL COMMENTS are use.</a:t>
            </a:r>
          </a:p>
          <a:p>
            <a:pPr marL="0" indent="0">
              <a:lnSpc>
                <a:spcPct val="150000"/>
              </a:lnSpc>
              <a:buNone/>
            </a:pPr>
            <a:r>
              <a:rPr lang="en-IN" dirty="0">
                <a:latin typeface="Times New Roman" panose="02020603050405020304" pitchFamily="18" charset="0"/>
                <a:cs typeface="Times New Roman" panose="02020603050405020304" pitchFamily="18" charset="0"/>
              </a:rPr>
              <a:t>Types of database language</a:t>
            </a:r>
          </a:p>
          <a:p>
            <a:pPr marL="514350" indent="-514350">
              <a:lnSpc>
                <a:spcPct val="150000"/>
              </a:lnSpc>
              <a:buAutoNum type="arabicParenR"/>
            </a:pPr>
            <a:r>
              <a:rPr lang="en-IN" b="1" dirty="0">
                <a:latin typeface="Times New Roman" panose="02020603050405020304" pitchFamily="18" charset="0"/>
                <a:cs typeface="Times New Roman" panose="02020603050405020304" pitchFamily="18" charset="0"/>
              </a:rPr>
              <a:t>Data Definition language(DDL) :</a:t>
            </a:r>
            <a:r>
              <a:rPr lang="en-IN" dirty="0">
                <a:latin typeface="Times New Roman" panose="02020603050405020304" pitchFamily="18" charset="0"/>
                <a:cs typeface="Times New Roman" panose="02020603050405020304" pitchFamily="18" charset="0"/>
              </a:rPr>
              <a:t>It contain commends which are required to define the database.</a:t>
            </a:r>
          </a:p>
          <a:p>
            <a:pPr marL="0" indent="0">
              <a:lnSpc>
                <a:spcPct val="150000"/>
              </a:lnSpc>
              <a:buNone/>
            </a:pPr>
            <a:r>
              <a:rPr lang="en-IN" dirty="0">
                <a:latin typeface="Times New Roman" panose="02020603050405020304" pitchFamily="18" charset="0"/>
                <a:cs typeface="Times New Roman" panose="02020603050405020304" pitchFamily="18" charset="0"/>
              </a:rPr>
              <a:t>Defines database schema.(define conceptual Schema)</a:t>
            </a:r>
          </a:p>
          <a:p>
            <a:pPr marL="0" indent="0">
              <a:lnSpc>
                <a:spcPct val="150000"/>
              </a:lnSpc>
              <a:buNone/>
            </a:pPr>
            <a:r>
              <a:rPr lang="en-IN" dirty="0">
                <a:latin typeface="Times New Roman" panose="02020603050405020304" pitchFamily="18" charset="0"/>
                <a:cs typeface="Times New Roman" panose="02020603050405020304" pitchFamily="18" charset="0"/>
              </a:rPr>
              <a:t>Define logical structure of database.</a:t>
            </a:r>
          </a:p>
          <a:p>
            <a:pPr marL="0" indent="0">
              <a:lnSpc>
                <a:spcPct val="150000"/>
              </a:lnSpc>
              <a:buNone/>
            </a:pPr>
            <a:r>
              <a:rPr lang="en-IN" dirty="0">
                <a:latin typeface="Times New Roman" panose="02020603050405020304" pitchFamily="18" charset="0"/>
                <a:cs typeface="Times New Roman" panose="02020603050405020304" pitchFamily="18" charset="0"/>
              </a:rPr>
              <a:t>Ex: CREATE, ALTER, DROP, TRUNCATE.</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830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F3AF60-4CB2-DAAC-C534-C449B39D1016}"/>
              </a:ext>
            </a:extLst>
          </p:cNvPr>
          <p:cNvSpPr>
            <a:spLocks noGrp="1"/>
          </p:cNvSpPr>
          <p:nvPr>
            <p:ph idx="1"/>
          </p:nvPr>
        </p:nvSpPr>
        <p:spPr>
          <a:xfrm>
            <a:off x="488731" y="331076"/>
            <a:ext cx="11542160" cy="6526923"/>
          </a:xfrm>
        </p:spPr>
        <p:txBody>
          <a:bodyPr>
            <a:noAutofit/>
          </a:bodyPr>
          <a:lstStyle/>
          <a:p>
            <a:pPr marL="0" indent="0">
              <a:lnSpc>
                <a:spcPct val="150000"/>
              </a:lnSpc>
              <a:buNone/>
            </a:pPr>
            <a:r>
              <a:rPr lang="en-IN" sz="2500" b="1" dirty="0">
                <a:latin typeface="Times New Roman" panose="02020603050405020304" pitchFamily="18" charset="0"/>
                <a:cs typeface="Times New Roman" panose="02020603050405020304" pitchFamily="18" charset="0"/>
              </a:rPr>
              <a:t>2) Data Manipulation Language: </a:t>
            </a:r>
            <a:r>
              <a:rPr lang="en-IN" sz="2500" dirty="0">
                <a:latin typeface="Times New Roman" panose="02020603050405020304" pitchFamily="18" charset="0"/>
                <a:cs typeface="Times New Roman" panose="02020603050405020304" pitchFamily="18" charset="0"/>
              </a:rPr>
              <a:t>It contains commands which are required to manipulate the data present in the database. Ex: SELECT, UPDATE, INSERT, DELETE.</a:t>
            </a:r>
          </a:p>
          <a:p>
            <a:pPr marL="0" indent="0">
              <a:lnSpc>
                <a:spcPct val="150000"/>
              </a:lnSpc>
              <a:buNone/>
            </a:pPr>
            <a:r>
              <a:rPr lang="en-IN" sz="2500" dirty="0">
                <a:latin typeface="Times New Roman" panose="02020603050405020304" pitchFamily="18" charset="0"/>
                <a:cs typeface="Times New Roman" panose="02020603050405020304" pitchFamily="18" charset="0"/>
              </a:rPr>
              <a:t>Allow user to perform operation such as insertion, deletion, modification and retrieval.</a:t>
            </a:r>
          </a:p>
          <a:p>
            <a:pPr marL="0" indent="0">
              <a:lnSpc>
                <a:spcPct val="150000"/>
              </a:lnSpc>
              <a:buNone/>
            </a:pPr>
            <a:r>
              <a:rPr lang="en-IN" sz="2500" b="1" dirty="0">
                <a:latin typeface="Times New Roman" panose="02020603050405020304" pitchFamily="18" charset="0"/>
                <a:cs typeface="Times New Roman" panose="02020603050405020304" pitchFamily="18" charset="0"/>
              </a:rPr>
              <a:t>3) Storage Definition Language: </a:t>
            </a:r>
            <a:r>
              <a:rPr lang="en-IN" sz="2500" dirty="0">
                <a:latin typeface="Times New Roman" panose="02020603050405020304" pitchFamily="18" charset="0"/>
                <a:cs typeface="Times New Roman" panose="02020603050405020304" pitchFamily="18" charset="0"/>
              </a:rPr>
              <a:t>Is used to specify the internal storage Schema (Physical Storage)</a:t>
            </a:r>
          </a:p>
          <a:p>
            <a:pPr marL="0" indent="0">
              <a:lnSpc>
                <a:spcPct val="150000"/>
              </a:lnSpc>
              <a:buNone/>
            </a:pPr>
            <a:r>
              <a:rPr lang="en-IN" sz="2500" b="1" dirty="0">
                <a:latin typeface="Times New Roman" panose="02020603050405020304" pitchFamily="18" charset="0"/>
                <a:cs typeface="Times New Roman" panose="02020603050405020304" pitchFamily="18" charset="0"/>
              </a:rPr>
              <a:t>4) View Definition Language</a:t>
            </a:r>
            <a:r>
              <a:rPr lang="en-IN" sz="2500" dirty="0">
                <a:latin typeface="Times New Roman" panose="02020603050405020304" pitchFamily="18" charset="0"/>
                <a:cs typeface="Times New Roman" panose="02020603050405020304" pitchFamily="18" charset="0"/>
              </a:rPr>
              <a:t>: Specifies user views/ mapping to conceptual schema</a:t>
            </a:r>
          </a:p>
          <a:p>
            <a:pPr marL="0" indent="0">
              <a:lnSpc>
                <a:spcPct val="150000"/>
              </a:lnSpc>
              <a:buNone/>
            </a:pPr>
            <a:r>
              <a:rPr lang="en-IN" sz="2500" b="1" dirty="0">
                <a:latin typeface="Times New Roman" panose="02020603050405020304" pitchFamily="18" charset="0"/>
                <a:cs typeface="Times New Roman" panose="02020603050405020304" pitchFamily="18" charset="0"/>
              </a:rPr>
              <a:t>5) Data Control Language: </a:t>
            </a:r>
            <a:r>
              <a:rPr lang="en-IN" sz="2500" dirty="0">
                <a:latin typeface="Times New Roman" panose="02020603050405020304" pitchFamily="18" charset="0"/>
                <a:cs typeface="Times New Roman" panose="02020603050405020304" pitchFamily="18" charset="0"/>
              </a:rPr>
              <a:t>It contains command which are required to deal with user permission and control the database system. Ex: Grant, Revoke</a:t>
            </a:r>
          </a:p>
          <a:p>
            <a:pPr marL="0" indent="0">
              <a:lnSpc>
                <a:spcPct val="150000"/>
              </a:lnSpc>
              <a:buNone/>
            </a:pPr>
            <a:r>
              <a:rPr lang="en-IN" sz="2500" b="1" dirty="0">
                <a:latin typeface="Times New Roman" panose="02020603050405020304" pitchFamily="18" charset="0"/>
                <a:cs typeface="Times New Roman" panose="02020603050405020304" pitchFamily="18" charset="0"/>
              </a:rPr>
              <a:t>6) Transaction Control Language: </a:t>
            </a:r>
            <a:r>
              <a:rPr lang="en-IN" sz="2500" dirty="0">
                <a:latin typeface="Times New Roman" panose="02020603050405020304" pitchFamily="18" charset="0"/>
                <a:cs typeface="Times New Roman" panose="02020603050405020304" pitchFamily="18" charset="0"/>
              </a:rPr>
              <a:t>It contain commands which are required to deal with transaction of database. Ex: Commit, Rollback.</a:t>
            </a: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54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797937-6FBF-29D6-2943-D909C258B05C}"/>
              </a:ext>
            </a:extLst>
          </p:cNvPr>
          <p:cNvSpPr>
            <a:spLocks noGrp="1"/>
          </p:cNvSpPr>
          <p:nvPr>
            <p:ph idx="1"/>
          </p:nvPr>
        </p:nvSpPr>
        <p:spPr>
          <a:xfrm>
            <a:off x="681732" y="252249"/>
            <a:ext cx="10828535" cy="6353502"/>
          </a:xfrm>
        </p:spPr>
        <p:txBody>
          <a:bodyPr>
            <a:normAutofit fontScale="70000" lnSpcReduction="20000"/>
          </a:bodyPr>
          <a:lstStyle/>
          <a:p>
            <a:pPr>
              <a:lnSpc>
                <a:spcPct val="150000"/>
              </a:lnSpc>
            </a:pPr>
            <a:r>
              <a:rPr lang="en-IN" dirty="0">
                <a:latin typeface="Times New Roman" panose="02020603050405020304" pitchFamily="18" charset="0"/>
                <a:cs typeface="Times New Roman" panose="02020603050405020304" pitchFamily="18" charset="0"/>
              </a:rPr>
              <a:t>CREATE DATABASE-Create a new database.</a:t>
            </a:r>
          </a:p>
          <a:p>
            <a:pPr>
              <a:lnSpc>
                <a:spcPct val="150000"/>
              </a:lnSpc>
            </a:pPr>
            <a:r>
              <a:rPr lang="en-IN" dirty="0">
                <a:latin typeface="Times New Roman" panose="02020603050405020304" pitchFamily="18" charset="0"/>
                <a:cs typeface="Times New Roman" panose="02020603050405020304" pitchFamily="18" charset="0"/>
              </a:rPr>
              <a:t>CREATE TABLE-Create a new table.</a:t>
            </a:r>
          </a:p>
          <a:p>
            <a:pPr>
              <a:lnSpc>
                <a:spcPct val="150000"/>
              </a:lnSpc>
            </a:pPr>
            <a:r>
              <a:rPr lang="en-IN" dirty="0">
                <a:latin typeface="Times New Roman" panose="02020603050405020304" pitchFamily="18" charset="0"/>
                <a:cs typeface="Times New Roman" panose="02020603050405020304" pitchFamily="18" charset="0"/>
              </a:rPr>
              <a:t>ALTER TABLE-used to add, delete or modify columns in an existing table.</a:t>
            </a:r>
          </a:p>
          <a:p>
            <a:pPr marL="0" indent="0">
              <a:lnSpc>
                <a:spcPct val="150000"/>
              </a:lnSpc>
              <a:buNone/>
            </a:pPr>
            <a:r>
              <a:rPr lang="en-IN" dirty="0">
                <a:latin typeface="Times New Roman" panose="02020603050405020304" pitchFamily="18" charset="0"/>
                <a:cs typeface="Times New Roman" panose="02020603050405020304" pitchFamily="18" charset="0"/>
              </a:rPr>
              <a:t>Alter command will perform the action on structure level and not on the data level.</a:t>
            </a:r>
          </a:p>
          <a:p>
            <a:pPr>
              <a:lnSpc>
                <a:spcPct val="150000"/>
              </a:lnSpc>
            </a:pPr>
            <a:r>
              <a:rPr lang="en-IN" dirty="0">
                <a:latin typeface="Times New Roman" panose="02020603050405020304" pitchFamily="18" charset="0"/>
                <a:cs typeface="Times New Roman" panose="02020603050405020304" pitchFamily="18" charset="0"/>
              </a:rPr>
              <a:t>SELECT-Extract the data from database.</a:t>
            </a:r>
          </a:p>
          <a:p>
            <a:pPr>
              <a:lnSpc>
                <a:spcPct val="150000"/>
              </a:lnSpc>
            </a:pPr>
            <a:r>
              <a:rPr lang="en-IN" dirty="0">
                <a:latin typeface="Times New Roman" panose="02020603050405020304" pitchFamily="18" charset="0"/>
                <a:cs typeface="Times New Roman" panose="02020603050405020304" pitchFamily="18" charset="0"/>
              </a:rPr>
              <a:t>UPDATE-update data in database.</a:t>
            </a:r>
          </a:p>
          <a:p>
            <a:pPr>
              <a:lnSpc>
                <a:spcPct val="150000"/>
              </a:lnSpc>
            </a:pPr>
            <a:r>
              <a:rPr lang="en-IN" dirty="0">
                <a:latin typeface="Times New Roman" panose="02020603050405020304" pitchFamily="18" charset="0"/>
                <a:cs typeface="Times New Roman" panose="02020603050405020304" pitchFamily="18" charset="0"/>
              </a:rPr>
              <a:t>The UPDATE statement is used to modify the existing records in a table.</a:t>
            </a:r>
          </a:p>
          <a:p>
            <a:pPr>
              <a:lnSpc>
                <a:spcPct val="150000"/>
              </a:lnSpc>
            </a:pPr>
            <a:r>
              <a:rPr lang="en-IN" dirty="0">
                <a:latin typeface="Times New Roman" panose="02020603050405020304" pitchFamily="18" charset="0"/>
                <a:cs typeface="Times New Roman" panose="02020603050405020304" pitchFamily="18" charset="0"/>
              </a:rPr>
              <a:t>INSERT- Inserts new data into the database</a:t>
            </a:r>
          </a:p>
          <a:p>
            <a:pPr>
              <a:lnSpc>
                <a:spcPct val="150000"/>
              </a:lnSpc>
            </a:pPr>
            <a:r>
              <a:rPr lang="en-IN" dirty="0">
                <a:latin typeface="Times New Roman" panose="02020603050405020304" pitchFamily="18" charset="0"/>
                <a:cs typeface="Times New Roman" panose="02020603050405020304" pitchFamily="18" charset="0"/>
              </a:rPr>
              <a:t>GRANT command is used to give access to users.</a:t>
            </a:r>
          </a:p>
          <a:p>
            <a:pPr>
              <a:lnSpc>
                <a:spcPct val="150000"/>
              </a:lnSpc>
            </a:pPr>
            <a:r>
              <a:rPr lang="en-IN" dirty="0">
                <a:latin typeface="Times New Roman" panose="02020603050405020304" pitchFamily="18" charset="0"/>
                <a:cs typeface="Times New Roman" panose="02020603050405020304" pitchFamily="18" charset="0"/>
              </a:rPr>
              <a:t>REVOKE withdraws the access.</a:t>
            </a:r>
          </a:p>
          <a:p>
            <a:pPr>
              <a:lnSpc>
                <a:spcPct val="150000"/>
              </a:lnSpc>
            </a:pPr>
            <a:r>
              <a:rPr lang="en-IN" dirty="0">
                <a:latin typeface="Times New Roman" panose="02020603050405020304" pitchFamily="18" charset="0"/>
                <a:cs typeface="Times New Roman" panose="02020603050405020304" pitchFamily="18" charset="0"/>
              </a:rPr>
              <a:t>ROLLBACK-used to undo those transactions that aren’t saved yet in the databased.</a:t>
            </a:r>
          </a:p>
          <a:p>
            <a:pPr>
              <a:lnSpc>
                <a:spcPct val="150000"/>
              </a:lnSpc>
            </a:pPr>
            <a:r>
              <a:rPr lang="en-IN" dirty="0">
                <a:latin typeface="Times New Roman" panose="02020603050405020304" pitchFamily="18" charset="0"/>
                <a:cs typeface="Times New Roman" panose="02020603050405020304" pitchFamily="18" charset="0"/>
              </a:rPr>
              <a:t>(Transaction in DBMS is a series of tasks that are treated as a single unit of  work)</a:t>
            </a:r>
          </a:p>
        </p:txBody>
      </p:sp>
    </p:spTree>
    <p:extLst>
      <p:ext uri="{BB962C8B-B14F-4D97-AF65-F5344CB8AC3E}">
        <p14:creationId xmlns:p14="http://schemas.microsoft.com/office/powerpoint/2010/main" val="3961254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B007-5737-D15A-01F4-0D739571FF07}"/>
              </a:ext>
            </a:extLst>
          </p:cNvPr>
          <p:cNvSpPr>
            <a:spLocks noGrp="1"/>
          </p:cNvSpPr>
          <p:nvPr>
            <p:ph type="title"/>
          </p:nvPr>
        </p:nvSpPr>
        <p:spPr>
          <a:xfrm>
            <a:off x="274320" y="91440"/>
            <a:ext cx="11079480" cy="1724297"/>
          </a:xfrm>
        </p:spPr>
        <p:txBody>
          <a:bodyPr>
            <a:noAutofit/>
          </a:bodyPr>
          <a:lstStyle/>
          <a:p>
            <a:pPr>
              <a:lnSpc>
                <a:spcPct val="150000"/>
              </a:lnSpc>
            </a:pPr>
            <a:br>
              <a:rPr lang="en-IN" sz="3600" b="1" i="0" u="none" strike="noStrike" baseline="0" dirty="0">
                <a:latin typeface="Times New Roman" panose="02020603050405020304" pitchFamily="18" charset="0"/>
                <a:cs typeface="Times New Roman" panose="02020603050405020304" pitchFamily="18" charset="0"/>
              </a:rPr>
            </a:br>
            <a:r>
              <a:rPr lang="en-IN" sz="4000" b="1" i="0" u="none" strike="noStrike" baseline="0" dirty="0">
                <a:latin typeface="Times New Roman" panose="02020603050405020304" pitchFamily="18" charset="0"/>
                <a:cs typeface="Times New Roman" panose="02020603050405020304" pitchFamily="18" charset="0"/>
              </a:rPr>
              <a:t>DBMS Interfaces</a:t>
            </a:r>
            <a:br>
              <a:rPr lang="en-IN" sz="3600" b="0" i="0" u="none" strike="noStrike" baseline="0" dirty="0">
                <a:latin typeface="Times New Roman" panose="02020603050405020304" pitchFamily="18" charset="0"/>
                <a:cs typeface="Times New Roman" panose="02020603050405020304" pitchFamily="18" charset="0"/>
              </a:rPr>
            </a:br>
            <a:br>
              <a:rPr lang="en-US" sz="3200" b="0" i="0" u="none" strike="noStrike" baseline="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064A49-9B73-F1B0-0B4D-0B2E5024C498}"/>
              </a:ext>
            </a:extLst>
          </p:cNvPr>
          <p:cNvSpPr>
            <a:spLocks noGrp="1"/>
          </p:cNvSpPr>
          <p:nvPr>
            <p:ph idx="1"/>
          </p:nvPr>
        </p:nvSpPr>
        <p:spPr>
          <a:xfrm>
            <a:off x="274320" y="1554480"/>
            <a:ext cx="11079480" cy="5303520"/>
          </a:xfrm>
        </p:spPr>
        <p:txBody>
          <a:bodyPr>
            <a:normAutofit/>
          </a:bodyPr>
          <a:lstStyle/>
          <a:p>
            <a:pPr>
              <a:lnSpc>
                <a:spcPct val="150000"/>
              </a:lnSpc>
            </a:pPr>
            <a:r>
              <a:rPr lang="en-US" b="0" i="0" u="none" strike="noStrike" baseline="0" dirty="0">
                <a:latin typeface="Times New Roman" panose="02020603050405020304" pitchFamily="18" charset="0"/>
                <a:cs typeface="Times New Roman" panose="02020603050405020304" pitchFamily="18" charset="0"/>
              </a:rPr>
              <a:t>An interface is a program that allows users to query the DBMS without writing the code in the query language.</a:t>
            </a:r>
          </a:p>
          <a:p>
            <a:pPr>
              <a:lnSpc>
                <a:spcPct val="150000"/>
              </a:lnSpc>
            </a:pPr>
            <a:r>
              <a:rPr lang="en-US" dirty="0">
                <a:latin typeface="Times New Roman" panose="02020603050405020304" pitchFamily="18" charset="0"/>
                <a:cs typeface="Times New Roman" panose="02020603050405020304" pitchFamily="18" charset="0"/>
              </a:rPr>
              <a:t>An interface can be used to manipulate the database, either for adding data or deleting some data, updating data or even for viewing the data present in the database.</a:t>
            </a:r>
            <a:endParaRPr lang="en-US"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endParaRPr lang="en-US" sz="1800" b="0" i="0" u="none" strike="noStrike" baseline="0" dirty="0">
              <a:latin typeface="CIDFont+F1"/>
            </a:endParaRPr>
          </a:p>
        </p:txBody>
      </p:sp>
    </p:spTree>
    <p:extLst>
      <p:ext uri="{BB962C8B-B14F-4D97-AF65-F5344CB8AC3E}">
        <p14:creationId xmlns:p14="http://schemas.microsoft.com/office/powerpoint/2010/main" val="3872604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0EFB8-1C96-BBFC-09A9-BD26DBDC7E05}"/>
              </a:ext>
            </a:extLst>
          </p:cNvPr>
          <p:cNvSpPr>
            <a:spLocks noGrp="1"/>
          </p:cNvSpPr>
          <p:nvPr>
            <p:ph sz="half" idx="1"/>
          </p:nvPr>
        </p:nvSpPr>
        <p:spPr>
          <a:xfrm>
            <a:off x="304799" y="358587"/>
            <a:ext cx="6651813" cy="6158753"/>
          </a:xfrm>
        </p:spPr>
        <p:txBody>
          <a:bodyPr>
            <a:normAutofit/>
          </a:bodyPr>
          <a:lstStyle/>
          <a:p>
            <a:pPr marL="0" indent="0">
              <a:lnSpc>
                <a:spcPct val="150000"/>
              </a:lnSpc>
              <a:buNone/>
            </a:pPr>
            <a:r>
              <a:rPr lang="en-US" sz="3900" b="1" dirty="0">
                <a:latin typeface="Times New Roman" panose="02020603050405020304" pitchFamily="18" charset="0"/>
                <a:cs typeface="Times New Roman" panose="02020603050405020304" pitchFamily="18" charset="0"/>
              </a:rPr>
              <a:t>Form-based Interface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Form-based interface displays a form to each user.</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user enters all the details and submits the form to create a new entry in the database.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Or the user fills out some details, and then the system retrieves rest of the details from the database.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Form-based interfaces are built for Naïve users who have to do only a limited number of operations.</a:t>
            </a:r>
          </a:p>
        </p:txBody>
      </p:sp>
      <p:sp>
        <p:nvSpPr>
          <p:cNvPr id="5" name="Content Placeholder 4">
            <a:extLst>
              <a:ext uri="{FF2B5EF4-FFF2-40B4-BE49-F238E27FC236}">
                <a16:creationId xmlns:a16="http://schemas.microsoft.com/office/drawing/2014/main" id="{2CDE2F5C-C4A8-1AEA-FF1D-A9D1DFA4D725}"/>
              </a:ext>
            </a:extLst>
          </p:cNvPr>
          <p:cNvSpPr>
            <a:spLocks noGrp="1"/>
          </p:cNvSpPr>
          <p:nvPr>
            <p:ph sz="half" idx="2"/>
          </p:nvPr>
        </p:nvSpPr>
        <p:spPr>
          <a:xfrm>
            <a:off x="7548283" y="358588"/>
            <a:ext cx="4338918" cy="6499412"/>
          </a:xfrm>
        </p:spPr>
        <p:txBody>
          <a:bodyPr>
            <a:normAutofit/>
          </a:bodyPr>
          <a:lstStyle/>
          <a:p>
            <a:pPr marL="0" indent="0" algn="just">
              <a:lnSpc>
                <a:spcPct val="150000"/>
              </a:lnSpc>
              <a:buNone/>
            </a:pPr>
            <a:r>
              <a:rPr lang="en-US" sz="3900" b="1" dirty="0">
                <a:latin typeface="Times New Roman" panose="02020603050405020304" pitchFamily="18" charset="0"/>
                <a:cs typeface="Times New Roman" panose="02020603050405020304" pitchFamily="18" charset="0"/>
              </a:rPr>
              <a:t>Example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A</a:t>
            </a:r>
            <a:r>
              <a:rPr lang="en-US" sz="2400" b="1" dirty="0">
                <a:latin typeface="Times New Roman" panose="02020603050405020304" pitchFamily="18" charset="0"/>
                <a:cs typeface="Times New Roman" panose="02020603050405020304" pitchFamily="18" charset="0"/>
              </a:rPr>
              <a:t> form-based </a:t>
            </a:r>
            <a:r>
              <a:rPr lang="en-US" sz="2400" dirty="0">
                <a:latin typeface="Times New Roman" panose="02020603050405020304" pitchFamily="18" charset="0"/>
                <a:cs typeface="Times New Roman" panose="02020603050405020304" pitchFamily="18" charset="0"/>
              </a:rPr>
              <a:t>interface is a teacher adding students’ attendance to the system.</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Student enters his or her roll number, class and branch in a form to retrieve his or her exam results.</a:t>
            </a:r>
            <a:endParaRPr lang="en-IN" sz="24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712318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8B5A9-0770-0306-661F-A7264E1E740F}"/>
              </a:ext>
            </a:extLst>
          </p:cNvPr>
          <p:cNvSpPr>
            <a:spLocks noGrp="1"/>
          </p:cNvSpPr>
          <p:nvPr>
            <p:ph sz="half" idx="1"/>
          </p:nvPr>
        </p:nvSpPr>
        <p:spPr>
          <a:xfrm>
            <a:off x="338576" y="358588"/>
            <a:ext cx="5757424" cy="6024283"/>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Menu based user interface</a:t>
            </a:r>
          </a:p>
          <a:p>
            <a:pPr>
              <a:lnSpc>
                <a:spcPct val="150000"/>
              </a:lnSpc>
            </a:pPr>
            <a:r>
              <a:rPr lang="en-US" sz="2300" dirty="0">
                <a:latin typeface="Times New Roman" panose="02020603050405020304" pitchFamily="18" charset="0"/>
                <a:cs typeface="Times New Roman" panose="02020603050405020304" pitchFamily="18" charset="0"/>
              </a:rPr>
              <a:t>These interfaces present the user with lists of options (called menus) that lead the user through the formulation of a request.</a:t>
            </a:r>
          </a:p>
          <a:p>
            <a:pPr>
              <a:lnSpc>
                <a:spcPct val="150000"/>
              </a:lnSpc>
            </a:pPr>
            <a:r>
              <a:rPr lang="en-US" sz="2300" dirty="0">
                <a:latin typeface="Times New Roman" panose="02020603050405020304" pitchFamily="18" charset="0"/>
                <a:cs typeface="Times New Roman" panose="02020603050405020304" pitchFamily="18" charset="0"/>
              </a:rPr>
              <a:t>In Menus, the user don't need to memorize the specific commands and syntax of a query language; rather, the query is composed step-by step by picking options from a menu that is displayed by the system.</a:t>
            </a:r>
          </a:p>
          <a:p>
            <a:pPr>
              <a:lnSpc>
                <a:spcPct val="150000"/>
              </a:lnSpc>
            </a:pPr>
            <a:r>
              <a:rPr lang="en-US" sz="2300" dirty="0">
                <a:latin typeface="Times New Roman" panose="02020603050405020304" pitchFamily="18" charset="0"/>
                <a:cs typeface="Times New Roman" panose="02020603050405020304" pitchFamily="18" charset="0"/>
              </a:rPr>
              <a:t>Pull-down menus interfaces are mostly used in Web-based user interfaces.</a:t>
            </a:r>
          </a:p>
        </p:txBody>
      </p:sp>
      <p:sp>
        <p:nvSpPr>
          <p:cNvPr id="5" name="Content Placeholder 4">
            <a:extLst>
              <a:ext uri="{FF2B5EF4-FFF2-40B4-BE49-F238E27FC236}">
                <a16:creationId xmlns:a16="http://schemas.microsoft.com/office/drawing/2014/main" id="{F16F864B-5069-22E8-60D3-3F58CF89EC78}"/>
              </a:ext>
            </a:extLst>
          </p:cNvPr>
          <p:cNvSpPr>
            <a:spLocks noGrp="1"/>
          </p:cNvSpPr>
          <p:nvPr>
            <p:ph sz="half" idx="2"/>
          </p:nvPr>
        </p:nvSpPr>
        <p:spPr>
          <a:xfrm>
            <a:off x="6239434" y="358588"/>
            <a:ext cx="5952565" cy="6499412"/>
          </a:xfrm>
        </p:spPr>
        <p:txBody>
          <a:bodyPr>
            <a:normAutofit fontScale="70000" lnSpcReduction="20000"/>
          </a:bodyPr>
          <a:lstStyle/>
          <a:p>
            <a:pPr marL="0" indent="0">
              <a:buNone/>
            </a:pPr>
            <a:r>
              <a:rPr lang="en-US" sz="3200" b="1" dirty="0">
                <a:latin typeface="Times New Roman" panose="02020603050405020304" pitchFamily="18" charset="0"/>
                <a:cs typeface="Times New Roman" panose="02020603050405020304" pitchFamily="18" charset="0"/>
              </a:rPr>
              <a:t>Example</a:t>
            </a:r>
          </a:p>
          <a:p>
            <a:pPr>
              <a:lnSpc>
                <a:spcPct val="170000"/>
              </a:lnSpc>
            </a:pPr>
            <a:r>
              <a:rPr lang="en-US" sz="3300" dirty="0">
                <a:latin typeface="Times New Roman" panose="02020603050405020304" pitchFamily="18" charset="0"/>
                <a:cs typeface="Times New Roman" panose="02020603050405020304" pitchFamily="18" charset="0"/>
              </a:rPr>
              <a:t>Lets say you are searching for some item on a shopping website.</a:t>
            </a:r>
          </a:p>
          <a:p>
            <a:pPr>
              <a:lnSpc>
                <a:spcPct val="170000"/>
              </a:lnSpc>
            </a:pPr>
            <a:r>
              <a:rPr lang="en-US" sz="3300" dirty="0">
                <a:latin typeface="Times New Roman" panose="02020603050405020304" pitchFamily="18" charset="0"/>
                <a:cs typeface="Times New Roman" panose="02020603050405020304" pitchFamily="18" charset="0"/>
              </a:rPr>
              <a:t>First thing you do is go the categories menu and select the category in which the item falls</a:t>
            </a:r>
          </a:p>
          <a:p>
            <a:pPr>
              <a:lnSpc>
                <a:spcPct val="170000"/>
              </a:lnSpc>
            </a:pPr>
            <a:r>
              <a:rPr lang="en-US" sz="3300" dirty="0">
                <a:latin typeface="Times New Roman" panose="02020603050405020304" pitchFamily="18" charset="0"/>
                <a:cs typeface="Times New Roman" panose="02020603050405020304" pitchFamily="18" charset="0"/>
              </a:rPr>
              <a:t>.Then you select the brand from the menu of brands.</a:t>
            </a:r>
          </a:p>
          <a:p>
            <a:pPr>
              <a:lnSpc>
                <a:spcPct val="170000"/>
              </a:lnSpc>
            </a:pPr>
            <a:r>
              <a:rPr lang="en-US" sz="3300" dirty="0">
                <a:latin typeface="Times New Roman" panose="02020603050405020304" pitchFamily="18" charset="0"/>
                <a:cs typeface="Times New Roman" panose="02020603050405020304" pitchFamily="18" charset="0"/>
              </a:rPr>
              <a:t>Then you search through different models of that item in the menu.</a:t>
            </a:r>
          </a:p>
          <a:p>
            <a:pPr>
              <a:lnSpc>
                <a:spcPct val="170000"/>
              </a:lnSpc>
            </a:pPr>
            <a:r>
              <a:rPr lang="en-US" sz="3300" dirty="0">
                <a:latin typeface="Times New Roman" panose="02020603050405020304" pitchFamily="18" charset="0"/>
                <a:cs typeface="Times New Roman" panose="02020603050405020304" pitchFamily="18" charset="0"/>
              </a:rPr>
              <a:t>Then you might select the budget you have from the menu of budget range</a:t>
            </a:r>
            <a:r>
              <a:rPr lang="en-US" sz="3300" dirty="0"/>
              <a:t>.</a:t>
            </a:r>
            <a:endParaRPr lang="en-IN" sz="3300" dirty="0"/>
          </a:p>
          <a:p>
            <a:endParaRPr lang="en-IN" dirty="0"/>
          </a:p>
        </p:txBody>
      </p:sp>
    </p:spTree>
    <p:extLst>
      <p:ext uri="{BB962C8B-B14F-4D97-AF65-F5344CB8AC3E}">
        <p14:creationId xmlns:p14="http://schemas.microsoft.com/office/powerpoint/2010/main" val="153686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6463A-B8BA-9E83-5A25-26BA44F10FA0}"/>
              </a:ext>
            </a:extLst>
          </p:cNvPr>
          <p:cNvSpPr>
            <a:spLocks noGrp="1"/>
          </p:cNvSpPr>
          <p:nvPr>
            <p:ph sz="half" idx="1"/>
          </p:nvPr>
        </p:nvSpPr>
        <p:spPr>
          <a:xfrm>
            <a:off x="340658" y="161364"/>
            <a:ext cx="5383485" cy="6696635"/>
          </a:xfrm>
        </p:spPr>
        <p:txBody>
          <a:bodyPr>
            <a:noAutofit/>
          </a:body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rPr>
              <a:t>Graphical user interface</a:t>
            </a:r>
          </a:p>
          <a:p>
            <a:pPr algn="just">
              <a:lnSpc>
                <a:spcPct val="150000"/>
              </a:lnSpc>
            </a:pPr>
            <a:r>
              <a:rPr lang="en-US" sz="2400" dirty="0">
                <a:latin typeface="Times New Roman" panose="02020603050405020304" pitchFamily="18" charset="0"/>
                <a:cs typeface="Times New Roman" panose="02020603050405020304" pitchFamily="18" charset="0"/>
              </a:rPr>
              <a:t>A GUI typically displays a schema to the user in diagrammatic form.</a:t>
            </a:r>
          </a:p>
          <a:p>
            <a:pPr algn="just">
              <a:lnSpc>
                <a:spcPct val="150000"/>
              </a:lnSpc>
            </a:pPr>
            <a:r>
              <a:rPr lang="en-US" sz="2400" dirty="0">
                <a:latin typeface="Times New Roman" panose="02020603050405020304" pitchFamily="18" charset="0"/>
                <a:cs typeface="Times New Roman" panose="02020603050405020304" pitchFamily="18" charset="0"/>
              </a:rPr>
              <a:t>The user then can specify a query by manipulating the diagram.</a:t>
            </a:r>
          </a:p>
          <a:p>
            <a:pPr algn="just">
              <a:lnSpc>
                <a:spcPct val="150000"/>
              </a:lnSpc>
            </a:pPr>
            <a:r>
              <a:rPr lang="en-US" sz="2400" dirty="0">
                <a:latin typeface="Times New Roman" panose="02020603050405020304" pitchFamily="18" charset="0"/>
                <a:cs typeface="Times New Roman" panose="02020603050405020304" pitchFamily="18" charset="0"/>
              </a:rPr>
              <a:t>In many cases, GUIs utilize both menus and forms.</a:t>
            </a:r>
          </a:p>
          <a:p>
            <a:pPr algn="just">
              <a:lnSpc>
                <a:spcPct val="150000"/>
              </a:lnSpc>
            </a:pPr>
            <a:r>
              <a:rPr lang="en-US" sz="2400" dirty="0">
                <a:latin typeface="Times New Roman" panose="02020603050405020304" pitchFamily="18" charset="0"/>
                <a:cs typeface="Times New Roman" panose="02020603050405020304" pitchFamily="18" charset="0"/>
              </a:rPr>
              <a:t>Most GUIs use a pointing device, such as a mouse, to select certain parts of the displayed schema diagram</a:t>
            </a:r>
          </a:p>
          <a:p>
            <a:pPr algn="just"/>
            <a:endParaRPr lang="en-IN" sz="600" dirty="0"/>
          </a:p>
        </p:txBody>
      </p:sp>
      <p:sp>
        <p:nvSpPr>
          <p:cNvPr id="5" name="Content Placeholder 4">
            <a:extLst>
              <a:ext uri="{FF2B5EF4-FFF2-40B4-BE49-F238E27FC236}">
                <a16:creationId xmlns:a16="http://schemas.microsoft.com/office/drawing/2014/main" id="{EB98D491-9C5D-8299-E6CC-C8853D162108}"/>
              </a:ext>
            </a:extLst>
          </p:cNvPr>
          <p:cNvSpPr>
            <a:spLocks noGrp="1"/>
          </p:cNvSpPr>
          <p:nvPr>
            <p:ph sz="half" idx="2"/>
          </p:nvPr>
        </p:nvSpPr>
        <p:spPr>
          <a:xfrm>
            <a:off x="6301835" y="246527"/>
            <a:ext cx="5549507" cy="6526307"/>
          </a:xfrm>
        </p:spPr>
        <p:txBody>
          <a:bodyPr>
            <a:noAutofit/>
          </a:bodyPr>
          <a:lstStyle/>
          <a:p>
            <a:pPr marL="0" indent="0" algn="just">
              <a:lnSpc>
                <a:spcPct val="100000"/>
              </a:lnSpc>
              <a:buNone/>
            </a:pPr>
            <a:r>
              <a:rPr lang="en-US" sz="2300" b="1" dirty="0">
                <a:latin typeface="Times New Roman" panose="02020603050405020304" pitchFamily="18" charset="0"/>
                <a:cs typeface="Times New Roman" panose="02020603050405020304" pitchFamily="18" charset="0"/>
              </a:rPr>
              <a:t>Example of a GUI</a:t>
            </a:r>
          </a:p>
          <a:p>
            <a:pPr algn="just">
              <a:lnSpc>
                <a:spcPct val="100000"/>
              </a:lnSpc>
            </a:pPr>
            <a:r>
              <a:rPr lang="en-US" sz="2300" dirty="0">
                <a:latin typeface="Times New Roman" panose="02020603050405020304" pitchFamily="18" charset="0"/>
                <a:cs typeface="Times New Roman" panose="02020603050405020304" pitchFamily="18" charset="0"/>
              </a:rPr>
              <a:t>Let's say you are watching this video on YouTube.</a:t>
            </a:r>
          </a:p>
          <a:p>
            <a:pPr algn="just">
              <a:lnSpc>
                <a:spcPct val="100000"/>
              </a:lnSpc>
            </a:pPr>
            <a:r>
              <a:rPr lang="en-US" sz="2300" dirty="0">
                <a:latin typeface="Times New Roman" panose="02020603050405020304" pitchFamily="18" charset="0"/>
                <a:cs typeface="Times New Roman" panose="02020603050405020304" pitchFamily="18" charset="0"/>
              </a:rPr>
              <a:t>If you press that subscribe button, either with a finger or a mouse, it will turn grey.</a:t>
            </a:r>
          </a:p>
          <a:p>
            <a:pPr algn="just">
              <a:lnSpc>
                <a:spcPct val="100000"/>
              </a:lnSpc>
            </a:pPr>
            <a:r>
              <a:rPr lang="en-US" sz="2300" dirty="0">
                <a:latin typeface="Times New Roman" panose="02020603050405020304" pitchFamily="18" charset="0"/>
                <a:cs typeface="Times New Roman" panose="02020603050405020304" pitchFamily="18" charset="0"/>
              </a:rPr>
              <a:t>There are forms used in YouTube, too, as you search for a topic on YouTube.</a:t>
            </a:r>
          </a:p>
          <a:p>
            <a:pPr algn="just">
              <a:lnSpc>
                <a:spcPct val="100000"/>
              </a:lnSpc>
            </a:pPr>
            <a:r>
              <a:rPr lang="en-US" sz="2300" dirty="0">
                <a:latin typeface="Times New Roman" panose="02020603050405020304" pitchFamily="18" charset="0"/>
                <a:cs typeface="Times New Roman" panose="02020603050405020304" pitchFamily="18" charset="0"/>
              </a:rPr>
              <a:t>There are Menus also used on YouTube, as YouTube shows you different videos on different channels, and it gives you a menu to select videos of a certain length or from a certain time.</a:t>
            </a:r>
          </a:p>
          <a:p>
            <a:pPr algn="just">
              <a:lnSpc>
                <a:spcPct val="100000"/>
              </a:lnSpc>
            </a:pPr>
            <a:r>
              <a:rPr lang="en-US" sz="2300" dirty="0">
                <a:latin typeface="Times New Roman" panose="02020603050405020304" pitchFamily="18" charset="0"/>
                <a:cs typeface="Times New Roman" panose="02020603050405020304" pitchFamily="18" charset="0"/>
              </a:rPr>
              <a:t>And all this interface is visually graphics and changes according to the action the user takes.</a:t>
            </a:r>
          </a:p>
          <a:p>
            <a:pPr algn="just">
              <a:lnSpc>
                <a:spcPct val="100000"/>
              </a:lnSpc>
            </a:pPr>
            <a:r>
              <a:rPr lang="en-US" sz="2300" dirty="0">
                <a:latin typeface="Times New Roman" panose="02020603050405020304" pitchFamily="18" charset="0"/>
                <a:cs typeface="Times New Roman" panose="02020603050405020304" pitchFamily="18" charset="0"/>
              </a:rPr>
              <a:t>Hence, Graphical User Interface</a:t>
            </a:r>
            <a:r>
              <a:rPr lang="en-US" sz="2300" dirty="0"/>
              <a:t>.</a:t>
            </a:r>
            <a:endParaRPr lang="en-IN" sz="2300" dirty="0"/>
          </a:p>
        </p:txBody>
      </p:sp>
    </p:spTree>
    <p:extLst>
      <p:ext uri="{BB962C8B-B14F-4D97-AF65-F5344CB8AC3E}">
        <p14:creationId xmlns:p14="http://schemas.microsoft.com/office/powerpoint/2010/main" val="4105816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C49F3-2475-C071-64E7-E72BF4A0DC06}"/>
              </a:ext>
            </a:extLst>
          </p:cNvPr>
          <p:cNvSpPr>
            <a:spLocks noGrp="1"/>
          </p:cNvSpPr>
          <p:nvPr>
            <p:ph sz="half" idx="2"/>
          </p:nvPr>
        </p:nvSpPr>
        <p:spPr>
          <a:xfrm>
            <a:off x="346841" y="0"/>
            <a:ext cx="5650734" cy="6858000"/>
          </a:xfrm>
        </p:spPr>
        <p:txBody>
          <a:bodyPr>
            <a:noAutofit/>
          </a:bodyPr>
          <a:lstStyle/>
          <a:p>
            <a:pPr marL="0" indent="0">
              <a:lnSpc>
                <a:spcPct val="160000"/>
              </a:lnSpc>
              <a:buNone/>
            </a:pPr>
            <a:r>
              <a:rPr lang="en-US" sz="2400" b="1" dirty="0">
                <a:latin typeface="Times New Roman" panose="02020603050405020304" pitchFamily="18" charset="0"/>
                <a:cs typeface="Times New Roman" panose="02020603050405020304" pitchFamily="18" charset="0"/>
              </a:rPr>
              <a:t>Natural Language Interface</a:t>
            </a:r>
          </a:p>
          <a:p>
            <a:pPr>
              <a:lnSpc>
                <a:spcPct val="160000"/>
              </a:lnSpc>
            </a:pPr>
            <a:r>
              <a:rPr lang="en-US" sz="2400" dirty="0">
                <a:latin typeface="Times New Roman" panose="02020603050405020304" pitchFamily="18" charset="0"/>
                <a:cs typeface="Times New Roman" panose="02020603050405020304" pitchFamily="18" charset="0"/>
              </a:rPr>
              <a:t>Natural language interface has its own high-level, unique schema, more like the high-level conceptual schema.</a:t>
            </a:r>
          </a:p>
          <a:p>
            <a:pPr>
              <a:lnSpc>
                <a:spcPct val="160000"/>
              </a:lnSpc>
            </a:pPr>
            <a:r>
              <a:rPr lang="en-US" sz="2400" dirty="0">
                <a:latin typeface="Times New Roman" panose="02020603050405020304" pitchFamily="18" charset="0"/>
                <a:cs typeface="Times New Roman" panose="02020603050405020304" pitchFamily="18" charset="0"/>
              </a:rPr>
              <a:t>It also has its own dictionary of important words.</a:t>
            </a:r>
          </a:p>
          <a:p>
            <a:pPr>
              <a:lnSpc>
                <a:spcPct val="160000"/>
              </a:lnSpc>
            </a:pPr>
            <a:r>
              <a:rPr lang="en-US" sz="2400" dirty="0">
                <a:latin typeface="Times New Roman" panose="02020603050405020304" pitchFamily="18" charset="0"/>
                <a:cs typeface="Times New Roman" panose="02020603050405020304" pitchFamily="18" charset="0"/>
              </a:rPr>
              <a:t>Basically, it generates a query based on the interpretation of important words in the input by the user, and if the interpretation is successful, then it displays the result to the user.</a:t>
            </a:r>
          </a:p>
        </p:txBody>
      </p:sp>
      <p:sp>
        <p:nvSpPr>
          <p:cNvPr id="7" name="Content Placeholder 6">
            <a:extLst>
              <a:ext uri="{FF2B5EF4-FFF2-40B4-BE49-F238E27FC236}">
                <a16:creationId xmlns:a16="http://schemas.microsoft.com/office/drawing/2014/main" id="{FDE742DC-731E-1834-B2DB-D7A00C0EAD38}"/>
              </a:ext>
            </a:extLst>
          </p:cNvPr>
          <p:cNvSpPr>
            <a:spLocks noGrp="1"/>
          </p:cNvSpPr>
          <p:nvPr>
            <p:ph sz="quarter" idx="4"/>
          </p:nvPr>
        </p:nvSpPr>
        <p:spPr>
          <a:xfrm>
            <a:off x="6495392" y="0"/>
            <a:ext cx="5506107" cy="6858000"/>
          </a:xfrm>
        </p:spPr>
        <p:txBody>
          <a:bodyPr>
            <a:normAutofit fontScale="70000" lnSpcReduction="20000"/>
          </a:bodyPr>
          <a:lstStyle/>
          <a:p>
            <a:pPr marL="0" indent="0">
              <a:lnSpc>
                <a:spcPct val="160000"/>
              </a:lnSpc>
              <a:buNone/>
            </a:pPr>
            <a:r>
              <a:rPr lang="en-US" sz="3400" b="1" dirty="0">
                <a:latin typeface="Times New Roman" panose="02020603050405020304" pitchFamily="18" charset="0"/>
                <a:cs typeface="Times New Roman" panose="02020603050405020304" pitchFamily="18" charset="0"/>
              </a:rPr>
              <a:t>Example</a:t>
            </a:r>
          </a:p>
          <a:p>
            <a:pPr>
              <a:lnSpc>
                <a:spcPct val="160000"/>
              </a:lnSpc>
            </a:pPr>
            <a:r>
              <a:rPr lang="en-US" sz="2800" dirty="0">
                <a:latin typeface="Times New Roman" panose="02020603050405020304" pitchFamily="18" charset="0"/>
                <a:cs typeface="Times New Roman" panose="02020603050405020304" pitchFamily="18" charset="0"/>
              </a:rPr>
              <a:t> Let’s say, you want to find out which is the fastest car in </a:t>
            </a:r>
            <a:r>
              <a:rPr lang="en-US" dirty="0">
                <a:latin typeface="Times New Roman" panose="02020603050405020304" pitchFamily="18" charset="0"/>
                <a:cs typeface="Times New Roman" panose="02020603050405020304" pitchFamily="18" charset="0"/>
              </a:rPr>
              <a:t>India</a:t>
            </a:r>
            <a:r>
              <a:rPr lang="en-US" sz="2800" dirty="0">
                <a:latin typeface="Times New Roman" panose="02020603050405020304" pitchFamily="18" charset="0"/>
                <a:cs typeface="Times New Roman" panose="02020603050405020304" pitchFamily="18" charset="0"/>
              </a:rPr>
              <a:t>, so you search for fastest car in India on a search engine like Google, which is a natural language interface.</a:t>
            </a:r>
          </a:p>
          <a:p>
            <a:pPr>
              <a:lnSpc>
                <a:spcPct val="160000"/>
              </a:lnSpc>
            </a:pPr>
            <a:r>
              <a:rPr lang="en-US" sz="2800" dirty="0">
                <a:latin typeface="Times New Roman" panose="02020603050405020304" pitchFamily="18" charset="0"/>
                <a:cs typeface="Times New Roman" panose="02020603050405020304" pitchFamily="18" charset="0"/>
              </a:rPr>
              <a:t>The Natural language interface then looks at the important words in the input by the user: Fastest, car, India.</a:t>
            </a:r>
          </a:p>
          <a:p>
            <a:pPr>
              <a:lnSpc>
                <a:spcPct val="160000"/>
              </a:lnSpc>
            </a:pPr>
            <a:r>
              <a:rPr lang="en-US" sz="2800" dirty="0">
                <a:latin typeface="Times New Roman" panose="02020603050405020304" pitchFamily="18" charset="0"/>
                <a:cs typeface="Times New Roman" panose="02020603050405020304" pitchFamily="18" charset="0"/>
              </a:rPr>
              <a:t>Now it will go into the database of cars and search for all the cars that are available in India. Then it will check the car with the highest speed among the cars available in India.</a:t>
            </a:r>
          </a:p>
          <a:p>
            <a:pPr>
              <a:lnSpc>
                <a:spcPct val="160000"/>
              </a:lnSpc>
            </a:pPr>
            <a:r>
              <a:rPr lang="en-US" sz="2800" dirty="0">
                <a:latin typeface="Times New Roman" panose="02020603050405020304" pitchFamily="18" charset="0"/>
                <a:cs typeface="Times New Roman" panose="02020603050405020304" pitchFamily="18" charset="0"/>
              </a:rPr>
              <a:t>And finally, it will show the outcome of the search to the user.</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94190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57554B-745E-43CA-4883-CC5201875852}"/>
              </a:ext>
            </a:extLst>
          </p:cNvPr>
          <p:cNvSpPr>
            <a:spLocks noGrp="1"/>
          </p:cNvSpPr>
          <p:nvPr>
            <p:ph idx="1"/>
          </p:nvPr>
        </p:nvSpPr>
        <p:spPr>
          <a:xfrm>
            <a:off x="472966" y="0"/>
            <a:ext cx="11414234" cy="6858000"/>
          </a:xfrm>
        </p:spPr>
        <p:txBody>
          <a:bodyPr>
            <a:normAutofit fontScale="85000" lnSpcReduction="20000"/>
          </a:bodyPr>
          <a:lstStyle/>
          <a:p>
            <a:pPr marL="0" indent="0">
              <a:lnSpc>
                <a:spcPct val="150000"/>
              </a:lnSpc>
              <a:buNone/>
            </a:pPr>
            <a:r>
              <a:rPr lang="en-US" sz="3100" b="1" dirty="0">
                <a:latin typeface="Times New Roman" panose="02020603050405020304" pitchFamily="18" charset="0"/>
                <a:cs typeface="Times New Roman" panose="02020603050405020304" pitchFamily="18" charset="0"/>
              </a:rPr>
              <a:t>Speech Input and output</a:t>
            </a:r>
          </a:p>
          <a:p>
            <a:pPr>
              <a:lnSpc>
                <a:spcPct val="150000"/>
              </a:lnSpc>
            </a:pPr>
            <a:r>
              <a:rPr lang="en-US" dirty="0">
                <a:latin typeface="Times New Roman" panose="02020603050405020304" pitchFamily="18" charset="0"/>
                <a:cs typeface="Times New Roman" panose="02020603050405020304" pitchFamily="18" charset="0"/>
              </a:rPr>
              <a:t>Nowadays it has become a common type of interface.</a:t>
            </a:r>
          </a:p>
          <a:p>
            <a:pPr>
              <a:lnSpc>
                <a:spcPct val="150000"/>
              </a:lnSpc>
            </a:pPr>
            <a:r>
              <a:rPr lang="en-US" dirty="0">
                <a:latin typeface="Times New Roman" panose="02020603050405020304" pitchFamily="18" charset="0"/>
                <a:cs typeface="Times New Roman" panose="02020603050405020304" pitchFamily="18" charset="0"/>
              </a:rPr>
              <a:t>The users queries the interface with speech, and gets an answer or response in speech if the interface understands the query and interpret it.</a:t>
            </a:r>
          </a:p>
          <a:p>
            <a:pPr marL="0" indent="0">
              <a:lnSpc>
                <a:spcPct val="150000"/>
              </a:lnSpc>
              <a:buNone/>
            </a:pPr>
            <a:r>
              <a:rPr lang="en-US" sz="3100" b="1" dirty="0">
                <a:latin typeface="Times New Roman" panose="02020603050405020304" pitchFamily="18" charset="0"/>
                <a:cs typeface="Times New Roman" panose="02020603050405020304" pitchFamily="18" charset="0"/>
              </a:rPr>
              <a:t>Example</a:t>
            </a:r>
          </a:p>
          <a:p>
            <a:pPr>
              <a:lnSpc>
                <a:spcPct val="150000"/>
              </a:lnSpc>
            </a:pPr>
            <a:r>
              <a:rPr lang="en-US" dirty="0">
                <a:latin typeface="Times New Roman" panose="02020603050405020304" pitchFamily="18" charset="0"/>
                <a:cs typeface="Times New Roman" panose="02020603050405020304" pitchFamily="18" charset="0"/>
              </a:rPr>
              <a:t>Most of you must have used either Siri on apple, or OK google, or Alexa or Cortana to ask some questions like,</a:t>
            </a:r>
          </a:p>
          <a:p>
            <a:pPr marL="0" indent="0">
              <a:lnSpc>
                <a:spcPct val="150000"/>
              </a:lnSpc>
              <a:buNone/>
            </a:pPr>
            <a:r>
              <a:rPr lang="en-US" dirty="0">
                <a:latin typeface="Times New Roman" panose="02020603050405020304" pitchFamily="18" charset="0"/>
                <a:cs typeface="Times New Roman" panose="02020603050405020304" pitchFamily="18" charset="0"/>
              </a:rPr>
              <a:t>"OK, google, find the value of square root of 729“</a:t>
            </a:r>
          </a:p>
          <a:p>
            <a:pPr marL="0" indent="0">
              <a:lnSpc>
                <a:spcPct val="150000"/>
              </a:lnSpc>
              <a:buNone/>
            </a:pPr>
            <a:r>
              <a:rPr lang="en-US" dirty="0">
                <a:latin typeface="Times New Roman" panose="02020603050405020304" pitchFamily="18" charset="0"/>
                <a:cs typeface="Times New Roman" panose="02020603050405020304" pitchFamily="18" charset="0"/>
              </a:rPr>
              <a:t>"Or Alexa, what is the capital of Nepal“</a:t>
            </a:r>
          </a:p>
          <a:p>
            <a:pPr marL="0" indent="0">
              <a:lnSpc>
                <a:spcPct val="150000"/>
              </a:lnSpc>
              <a:buNone/>
            </a:pPr>
            <a:r>
              <a:rPr lang="en-US" dirty="0">
                <a:latin typeface="Times New Roman" panose="02020603050405020304" pitchFamily="18" charset="0"/>
                <a:cs typeface="Times New Roman" panose="02020603050405020304" pitchFamily="18" charset="0"/>
              </a:rPr>
              <a:t>And these speech user interfaces interpret your speech input and processes the data from the database and after successful interpretation answers you back in speech.</a:t>
            </a:r>
          </a:p>
          <a:p>
            <a:pPr>
              <a:lnSpc>
                <a:spcPct val="150000"/>
              </a:lnSpc>
            </a:pPr>
            <a:r>
              <a:rPr lang="en-US" dirty="0">
                <a:latin typeface="Times New Roman" panose="02020603050405020304" pitchFamily="18" charset="0"/>
                <a:cs typeface="Times New Roman" panose="02020603050405020304" pitchFamily="18" charset="0"/>
              </a:rPr>
              <a:t>If the query is not understood, it will ask you to repeat the query.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028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D5039-6A47-F3F5-72D4-6AB0E2B027AE}"/>
              </a:ext>
            </a:extLst>
          </p:cNvPr>
          <p:cNvSpPr>
            <a:spLocks noGrp="1"/>
          </p:cNvSpPr>
          <p:nvPr>
            <p:ph idx="1"/>
          </p:nvPr>
        </p:nvSpPr>
        <p:spPr>
          <a:xfrm>
            <a:off x="315310" y="110358"/>
            <a:ext cx="11876689" cy="6747641"/>
          </a:xfrm>
        </p:spPr>
        <p:txBody>
          <a:bodyPr>
            <a:normAutofit fontScale="85000" lnSpcReduction="20000"/>
          </a:bodyPr>
          <a:lstStyle/>
          <a:p>
            <a:pPr marL="0" indent="0">
              <a:lnSpc>
                <a:spcPct val="150000"/>
              </a:lnSpc>
              <a:buNone/>
            </a:pPr>
            <a:r>
              <a:rPr lang="en-US" sz="3300" b="1" dirty="0">
                <a:latin typeface="Times New Roman" panose="02020603050405020304" pitchFamily="18" charset="0"/>
                <a:cs typeface="Times New Roman" panose="02020603050405020304" pitchFamily="18" charset="0"/>
              </a:rPr>
              <a:t>Interface for Parametric users</a:t>
            </a:r>
          </a:p>
          <a:p>
            <a:pPr>
              <a:lnSpc>
                <a:spcPct val="150000"/>
              </a:lnSpc>
            </a:pPr>
            <a:r>
              <a:rPr lang="en-US" dirty="0">
                <a:latin typeface="Times New Roman" panose="02020603050405020304" pitchFamily="18" charset="0"/>
                <a:cs typeface="Times New Roman" panose="02020603050405020304" pitchFamily="18" charset="0"/>
              </a:rPr>
              <a:t>Parametric users are users who have a small set of operations that need to be performed and that too repeatedly.</a:t>
            </a:r>
          </a:p>
          <a:p>
            <a:pPr>
              <a:lnSpc>
                <a:spcPct val="150000"/>
              </a:lnSpc>
            </a:pPr>
            <a:r>
              <a:rPr lang="en-US" dirty="0">
                <a:latin typeface="Times New Roman" panose="02020603050405020304" pitchFamily="18" charset="0"/>
                <a:cs typeface="Times New Roman" panose="02020603050405020304" pitchFamily="18" charset="0"/>
              </a:rPr>
              <a:t>This makes it important to reduce the number of keystrokes for each operation.</a:t>
            </a:r>
          </a:p>
          <a:p>
            <a:pPr>
              <a:lnSpc>
                <a:spcPct val="150000"/>
              </a:lnSpc>
            </a:pPr>
            <a:r>
              <a:rPr lang="en-US" dirty="0">
                <a:latin typeface="Times New Roman" panose="02020603050405020304" pitchFamily="18" charset="0"/>
                <a:cs typeface="Times New Roman" panose="02020603050405020304" pitchFamily="18" charset="0"/>
              </a:rPr>
              <a:t>So the programmers program such interface so that the operations can be performed with single key stroke.</a:t>
            </a:r>
          </a:p>
          <a:p>
            <a:pPr marL="0" indent="0">
              <a:lnSpc>
                <a:spcPct val="150000"/>
              </a:lnSpc>
              <a:buNone/>
            </a:pPr>
            <a:r>
              <a:rPr lang="en-US" sz="3300" b="1" dirty="0">
                <a:latin typeface="Times New Roman" panose="02020603050405020304" pitchFamily="18" charset="0"/>
                <a:cs typeface="Times New Roman" panose="02020603050405020304" pitchFamily="18" charset="0"/>
              </a:rPr>
              <a:t>Example</a:t>
            </a:r>
          </a:p>
          <a:p>
            <a:pPr>
              <a:lnSpc>
                <a:spcPct val="150000"/>
              </a:lnSpc>
            </a:pPr>
            <a:r>
              <a:rPr lang="en-US" dirty="0">
                <a:latin typeface="Times New Roman" panose="02020603050405020304" pitchFamily="18" charset="0"/>
                <a:cs typeface="Times New Roman" panose="02020603050405020304" pitchFamily="18" charset="0"/>
              </a:rPr>
              <a:t>Let's say there is an ATM. The ATM has limited operations to do like, check the balance, withdraw money or change pin of the card.</a:t>
            </a:r>
          </a:p>
          <a:p>
            <a:pPr>
              <a:lnSpc>
                <a:spcPct val="150000"/>
              </a:lnSpc>
            </a:pPr>
            <a:r>
              <a:rPr lang="en-US" dirty="0">
                <a:latin typeface="Times New Roman" panose="02020603050405020304" pitchFamily="18" charset="0"/>
                <a:cs typeface="Times New Roman" panose="02020603050405020304" pitchFamily="18" charset="0"/>
              </a:rPr>
              <a:t>So as you know, any of these operations which are complex programmatically but the queries are generated with minimal key strokes, as there are only three operations the ATM has to perform and nothing more.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813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B00A9-C50B-0DEB-09D3-09B8236FDBEC}"/>
              </a:ext>
            </a:extLst>
          </p:cNvPr>
          <p:cNvSpPr>
            <a:spLocks noGrp="1"/>
          </p:cNvSpPr>
          <p:nvPr>
            <p:ph idx="1"/>
          </p:nvPr>
        </p:nvSpPr>
        <p:spPr>
          <a:xfrm>
            <a:off x="475593" y="286031"/>
            <a:ext cx="10515600" cy="5654449"/>
          </a:xfrm>
        </p:spPr>
        <p:txBody>
          <a:bodyPr/>
          <a:lstStyle/>
          <a:p>
            <a:pPr marL="0" indent="0">
              <a:lnSpc>
                <a:spcPct val="150000"/>
              </a:lnSpc>
              <a:buNone/>
            </a:pPr>
            <a:r>
              <a:rPr lang="en-US" sz="3200" b="1" dirty="0">
                <a:latin typeface="Times New Roman" panose="02020603050405020304" pitchFamily="18" charset="0"/>
                <a:cs typeface="Times New Roman" panose="02020603050405020304" pitchFamily="18" charset="0"/>
              </a:rPr>
              <a:t>Interface for DBA</a:t>
            </a:r>
          </a:p>
          <a:p>
            <a:pPr>
              <a:lnSpc>
                <a:spcPct val="150000"/>
              </a:lnSpc>
            </a:pPr>
            <a:r>
              <a:rPr lang="en-US" sz="2400" dirty="0">
                <a:latin typeface="Times New Roman" panose="02020603050405020304" pitchFamily="18" charset="0"/>
                <a:cs typeface="Times New Roman" panose="02020603050405020304" pitchFamily="18" charset="0"/>
              </a:rPr>
              <a:t>Most database systems contain privileged commands that can be used only by the DBA staff.</a:t>
            </a:r>
          </a:p>
          <a:p>
            <a:pPr>
              <a:lnSpc>
                <a:spcPct val="150000"/>
              </a:lnSpc>
            </a:pPr>
            <a:r>
              <a:rPr lang="en-US" sz="2400" dirty="0">
                <a:latin typeface="Times New Roman" panose="02020603050405020304" pitchFamily="18" charset="0"/>
                <a:cs typeface="Times New Roman" panose="02020603050405020304" pitchFamily="18" charset="0"/>
              </a:rPr>
              <a:t>These include commands for creating accounts, setting system parameters, granting account authorization, changing a schema, and reorganizing the storage structures of a database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7639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FF8BC-DCC2-B961-A1C9-BAB3F15B595B}"/>
              </a:ext>
            </a:extLst>
          </p:cNvPr>
          <p:cNvSpPr>
            <a:spLocks noGrp="1"/>
          </p:cNvSpPr>
          <p:nvPr>
            <p:ph type="title"/>
          </p:nvPr>
        </p:nvSpPr>
        <p:spPr>
          <a:xfrm>
            <a:off x="882867" y="195584"/>
            <a:ext cx="9948041" cy="1292018"/>
          </a:xfrm>
        </p:spPr>
        <p:txBody>
          <a:bodyPr>
            <a:noAutofit/>
          </a:bodyPr>
          <a:lstStyle/>
          <a:p>
            <a:pPr marL="742950" lvl="1" indent="-285750" algn="l" rtl="0">
              <a:lnSpc>
                <a:spcPct val="150000"/>
              </a:lnSpc>
              <a:spcBef>
                <a:spcPts val="5"/>
              </a:spcBef>
              <a:tabLst>
                <a:tab pos="1042670" algn="l"/>
              </a:tabLst>
            </a:pPr>
            <a:r>
              <a:rPr lang="en-US" sz="3600" b="1" kern="0" spc="-20" dirty="0">
                <a:effectLst/>
                <a:latin typeface="Times New Roman" panose="02020603050405020304" pitchFamily="18" charset="0"/>
                <a:ea typeface="Times New Roman" panose="02020603050405020304" pitchFamily="18" charset="0"/>
              </a:rPr>
              <a:t>The</a:t>
            </a:r>
            <a:r>
              <a:rPr lang="en-US" sz="3600" b="1" kern="0" spc="-15" dirty="0">
                <a:effectLst/>
                <a:latin typeface="Times New Roman" panose="02020603050405020304" pitchFamily="18" charset="0"/>
                <a:ea typeface="Times New Roman" panose="02020603050405020304" pitchFamily="18" charset="0"/>
              </a:rPr>
              <a:t> </a:t>
            </a:r>
            <a:r>
              <a:rPr lang="en-US" sz="3600" b="1" kern="0" spc="-20" dirty="0">
                <a:effectLst/>
                <a:latin typeface="Times New Roman" panose="02020603050405020304" pitchFamily="18" charset="0"/>
                <a:ea typeface="Times New Roman" panose="02020603050405020304" pitchFamily="18" charset="0"/>
              </a:rPr>
              <a:t>Database</a:t>
            </a:r>
            <a:r>
              <a:rPr lang="en-US" sz="3600" b="1" kern="0" spc="-45" dirty="0">
                <a:effectLst/>
                <a:latin typeface="Times New Roman" panose="02020603050405020304" pitchFamily="18" charset="0"/>
                <a:ea typeface="Times New Roman" panose="02020603050405020304" pitchFamily="18" charset="0"/>
              </a:rPr>
              <a:t> </a:t>
            </a:r>
            <a:r>
              <a:rPr lang="en-US" sz="3600" b="1" kern="0" spc="-20" dirty="0">
                <a:effectLst/>
                <a:latin typeface="Times New Roman" panose="02020603050405020304" pitchFamily="18" charset="0"/>
                <a:ea typeface="Times New Roman" panose="02020603050405020304" pitchFamily="18" charset="0"/>
              </a:rPr>
              <a:t>System</a:t>
            </a:r>
            <a:r>
              <a:rPr lang="en-US" sz="3600" b="1" kern="0" spc="-55" dirty="0">
                <a:effectLst/>
                <a:latin typeface="Times New Roman" panose="02020603050405020304" pitchFamily="18" charset="0"/>
                <a:ea typeface="Times New Roman" panose="02020603050405020304" pitchFamily="18" charset="0"/>
              </a:rPr>
              <a:t> </a:t>
            </a:r>
            <a:r>
              <a:rPr lang="en-US" sz="3600" b="1" kern="0" spc="-10" dirty="0">
                <a:effectLst/>
                <a:latin typeface="Times New Roman" panose="02020603050405020304" pitchFamily="18" charset="0"/>
                <a:ea typeface="Times New Roman" panose="02020603050405020304" pitchFamily="18" charset="0"/>
              </a:rPr>
              <a:t>Environment</a:t>
            </a:r>
            <a:br>
              <a:rPr lang="en-IN" sz="3600" b="1" kern="0" spc="-20" dirty="0">
                <a:effectLst/>
                <a:latin typeface="Times New Roman" panose="02020603050405020304" pitchFamily="18" charset="0"/>
                <a:ea typeface="Times New Roman" panose="02020603050405020304" pitchFamily="18" charset="0"/>
              </a:rPr>
            </a:br>
            <a:r>
              <a:rPr lang="en-US" sz="2800" b="1" spc="-30" dirty="0">
                <a:effectLst/>
                <a:latin typeface="Times New Roman" panose="02020603050405020304" pitchFamily="18" charset="0"/>
                <a:ea typeface="Times New Roman" panose="02020603050405020304" pitchFamily="18" charset="0"/>
              </a:rPr>
              <a:t>DBMS</a:t>
            </a:r>
            <a:r>
              <a:rPr lang="en-US" sz="2800" b="1" spc="95" dirty="0">
                <a:effectLst/>
                <a:latin typeface="Times New Roman" panose="02020603050405020304" pitchFamily="18" charset="0"/>
                <a:ea typeface="Times New Roman" panose="02020603050405020304" pitchFamily="18" charset="0"/>
              </a:rPr>
              <a:t> </a:t>
            </a:r>
            <a:r>
              <a:rPr lang="en-US" sz="2800" b="1" spc="-30" dirty="0">
                <a:effectLst/>
                <a:latin typeface="Times New Roman" panose="02020603050405020304" pitchFamily="18" charset="0"/>
                <a:ea typeface="Times New Roman" panose="02020603050405020304" pitchFamily="18" charset="0"/>
              </a:rPr>
              <a:t>Component</a:t>
            </a:r>
            <a:r>
              <a:rPr lang="en-US" sz="2800" b="1" spc="70" dirty="0">
                <a:effectLst/>
                <a:latin typeface="Times New Roman" panose="02020603050405020304" pitchFamily="18" charset="0"/>
                <a:ea typeface="Times New Roman" panose="02020603050405020304" pitchFamily="18" charset="0"/>
              </a:rPr>
              <a:t> </a:t>
            </a:r>
            <a:r>
              <a:rPr lang="en-US" sz="2800" b="1" spc="-10" dirty="0">
                <a:effectLst/>
                <a:latin typeface="Times New Roman" panose="02020603050405020304" pitchFamily="18" charset="0"/>
                <a:ea typeface="Times New Roman" panose="02020603050405020304" pitchFamily="18" charset="0"/>
              </a:rPr>
              <a:t>Modules</a:t>
            </a:r>
            <a:br>
              <a:rPr lang="en-IN" sz="2800" b="1" spc="-30" dirty="0">
                <a:effectLst/>
                <a:latin typeface="Times New Roman" panose="02020603050405020304" pitchFamily="18" charset="0"/>
                <a:ea typeface="Times New Roman" panose="02020603050405020304" pitchFamily="18" charset="0"/>
              </a:rPr>
            </a:br>
            <a:endParaRPr lang="en-IN" sz="2800" dirty="0"/>
          </a:p>
        </p:txBody>
      </p:sp>
      <p:pic>
        <p:nvPicPr>
          <p:cNvPr id="4" name="Image 417">
            <a:extLst>
              <a:ext uri="{FF2B5EF4-FFF2-40B4-BE49-F238E27FC236}">
                <a16:creationId xmlns:a16="http://schemas.microsoft.com/office/drawing/2014/main" id="{5E2D2FDA-F1F0-C695-ED6C-A6FFA1E2D467}"/>
              </a:ext>
            </a:extLst>
          </p:cNvPr>
          <p:cNvPicPr>
            <a:picLocks/>
          </p:cNvPicPr>
          <p:nvPr/>
        </p:nvPicPr>
        <p:blipFill>
          <a:blip r:embed="rId2" cstate="print"/>
          <a:stretch>
            <a:fillRect/>
          </a:stretch>
        </p:blipFill>
        <p:spPr>
          <a:xfrm>
            <a:off x="1324301" y="1325217"/>
            <a:ext cx="9065174" cy="5532783"/>
          </a:xfrm>
          <a:prstGeom prst="rect">
            <a:avLst/>
          </a:prstGeom>
        </p:spPr>
      </p:pic>
    </p:spTree>
    <p:extLst>
      <p:ext uri="{BB962C8B-B14F-4D97-AF65-F5344CB8AC3E}">
        <p14:creationId xmlns:p14="http://schemas.microsoft.com/office/powerpoint/2010/main" val="1927676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F96CF-6769-61E5-5B5E-43FCF116DFD6}"/>
              </a:ext>
            </a:extLst>
          </p:cNvPr>
          <p:cNvSpPr>
            <a:spLocks noGrp="1"/>
          </p:cNvSpPr>
          <p:nvPr>
            <p:ph idx="1"/>
          </p:nvPr>
        </p:nvSpPr>
        <p:spPr>
          <a:xfrm>
            <a:off x="344556" y="366643"/>
            <a:ext cx="11502887" cy="6491357"/>
          </a:xfrm>
        </p:spPr>
        <p:txBody>
          <a:bodyPr>
            <a:normAutofit/>
          </a:bodyPr>
          <a:lstStyle/>
          <a:p>
            <a:pPr>
              <a:lnSpc>
                <a:spcPct val="150000"/>
              </a:lnSpc>
            </a:pPr>
            <a:r>
              <a:rPr lang="en-IN" sz="2400" dirty="0">
                <a:latin typeface="Times New Roman" panose="02020603050405020304" pitchFamily="18" charset="0"/>
                <a:cs typeface="Times New Roman" panose="02020603050405020304" pitchFamily="18" charset="0"/>
              </a:rPr>
              <a:t>This Diagram shows the different component has to be defined by database administrator and the database designer.</a:t>
            </a:r>
          </a:p>
          <a:p>
            <a:pPr>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top</a:t>
            </a:r>
            <a:r>
              <a:rPr lang="en-US" sz="24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part of the figure</a:t>
            </a:r>
            <a:r>
              <a:rPr lang="en-US" sz="24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refers</a:t>
            </a:r>
            <a:r>
              <a:rPr lang="en-US" sz="24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the</a:t>
            </a:r>
            <a:r>
              <a:rPr lang="en-US" sz="24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various users</a:t>
            </a:r>
            <a:r>
              <a:rPr lang="en-US" sz="24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 the</a:t>
            </a:r>
            <a:r>
              <a:rPr lang="en-US" sz="24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database</a:t>
            </a:r>
            <a:r>
              <a:rPr lang="en-US" sz="24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environment</a:t>
            </a:r>
            <a:r>
              <a:rPr lang="en-US" sz="2400" spc="1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 their interfaces. The lower part shows the internals of the DBMS responsible for storage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 data and processing of transactions.</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Once the database Design is completed the schemas has to be defined by the database administrator and the database designer.</a:t>
            </a:r>
          </a:p>
          <a:p>
            <a:pPr>
              <a:lnSpc>
                <a:spcPct val="150000"/>
              </a:lnSpc>
            </a:pPr>
            <a:r>
              <a:rPr lang="en-IN" sz="2400" dirty="0">
                <a:latin typeface="Times New Roman" panose="02020603050405020304" pitchFamily="18" charset="0"/>
                <a:cs typeface="Times New Roman" panose="02020603050405020304" pitchFamily="18" charset="0"/>
              </a:rPr>
              <a:t>So that DBA and its staff uses data definition language or DDL to specify these schemas.</a:t>
            </a:r>
          </a:p>
          <a:p>
            <a:endParaRPr lang="en-IN" sz="2400" dirty="0"/>
          </a:p>
        </p:txBody>
      </p:sp>
    </p:spTree>
    <p:extLst>
      <p:ext uri="{BB962C8B-B14F-4D97-AF65-F5344CB8AC3E}">
        <p14:creationId xmlns:p14="http://schemas.microsoft.com/office/powerpoint/2010/main" val="3377805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B4D23E4-C4A4-5C49-552A-989856D83456}"/>
              </a:ext>
            </a:extLst>
          </p:cNvPr>
          <p:cNvSpPr>
            <a:spLocks noGrp="1"/>
          </p:cNvSpPr>
          <p:nvPr>
            <p:ph idx="1"/>
          </p:nvPr>
        </p:nvSpPr>
        <p:spPr>
          <a:xfrm>
            <a:off x="346612" y="645815"/>
            <a:ext cx="11498775" cy="5566370"/>
          </a:xfrm>
        </p:spPr>
        <p:txBody>
          <a:bodyPr>
            <a:noAutofit/>
          </a:bodyPr>
          <a:lstStyle/>
          <a:p>
            <a:pPr marL="457200" marR="425450" indent="0" algn="just">
              <a:lnSpc>
                <a:spcPct val="150000"/>
              </a:lnSpc>
              <a:buNone/>
              <a:tabLst>
                <a:tab pos="1196975" algn="l"/>
                <a:tab pos="2473325" algn="l"/>
                <a:tab pos="3040380" algn="l"/>
                <a:tab pos="3828415" algn="l"/>
                <a:tab pos="4487545" algn="l"/>
                <a:tab pos="4733925" algn="l"/>
                <a:tab pos="5048885" algn="l"/>
                <a:tab pos="5517515" algn="l"/>
                <a:tab pos="5862320" algn="l"/>
              </a:tabLst>
            </a:pPr>
            <a:r>
              <a:rPr lang="en-US" sz="2400" b="1" spc="-20" dirty="0">
                <a:effectLst/>
                <a:latin typeface="Times New Roman" panose="02020603050405020304" pitchFamily="18" charset="0"/>
                <a:ea typeface="Times New Roman" panose="02020603050405020304" pitchFamily="18" charset="0"/>
                <a:cs typeface="Times New Roman" panose="02020603050405020304" pitchFamily="18" charset="0"/>
              </a:rPr>
              <a:t>DDL</a:t>
            </a:r>
            <a:r>
              <a:rPr lang="en-US" sz="2400" b="1" spc="-2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effectLst/>
                <a:latin typeface="Times New Roman" panose="02020603050405020304" pitchFamily="18" charset="0"/>
                <a:ea typeface="Times New Roman" panose="02020603050405020304" pitchFamily="18" charset="0"/>
                <a:cs typeface="Times New Roman" panose="02020603050405020304" pitchFamily="18" charset="0"/>
              </a:rPr>
              <a:t>compiler processes</a:t>
            </a:r>
            <a:r>
              <a:rPr lang="en-US" sz="2400" spc="-1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schema</a:t>
            </a:r>
            <a:r>
              <a:rPr lang="en-US" sz="2400" spc="-1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definitions that is specified</a:t>
            </a:r>
            <a:r>
              <a:rPr lang="en-US" sz="2400" spc="-1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3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DDL and</a:t>
            </a:r>
            <a:r>
              <a:rPr lang="en-US" sz="2400" spc="-2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stores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descriptions of the schemas (meta-data) in the DBMS catalogue.</a:t>
            </a:r>
          </a:p>
          <a:p>
            <a:pPr marL="457200" marR="425450" indent="0" algn="just">
              <a:lnSpc>
                <a:spcPct val="150000"/>
              </a:lnSpc>
              <a:buNone/>
              <a:tabLst>
                <a:tab pos="1196975" algn="l"/>
                <a:tab pos="2473325" algn="l"/>
                <a:tab pos="3040380" algn="l"/>
                <a:tab pos="3828415" algn="l"/>
                <a:tab pos="4487545" algn="l"/>
                <a:tab pos="4733925" algn="l"/>
                <a:tab pos="5048885" algn="l"/>
                <a:tab pos="5517515" algn="l"/>
                <a:tab pos="586232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Interactive</a:t>
            </a:r>
            <a:r>
              <a:rPr lang="en-US" sz="2400" b="1" spc="1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query</a:t>
            </a:r>
            <a:r>
              <a:rPr lang="en-US" sz="2400" b="1" spc="1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interface:</a:t>
            </a:r>
            <a:r>
              <a:rPr lang="en-US" sz="2400" b="1" spc="175" dirty="0">
                <a:effectLst/>
                <a:latin typeface="Times New Roman" panose="02020603050405020304" pitchFamily="18" charset="0"/>
                <a:ea typeface="Times New Roman" panose="02020603050405020304" pitchFamily="18" charset="0"/>
                <a:cs typeface="Times New Roman" panose="02020603050405020304" pitchFamily="18" charset="0"/>
              </a:rPr>
              <a:t> an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interface</a:t>
            </a:r>
            <a:r>
              <a:rPr lang="en-US" sz="2400" spc="1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1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Casual users</a:t>
            </a:r>
            <a:r>
              <a:rPr lang="en-US" sz="24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persons</a:t>
            </a:r>
            <a:r>
              <a:rPr lang="en-US" sz="24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with occasional</a:t>
            </a:r>
            <a:r>
              <a:rPr lang="en-US" sz="24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need</a:t>
            </a:r>
            <a:r>
              <a:rPr lang="en-US" sz="2400" spc="1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 information from the database.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indent="0" algn="just">
              <a:lnSpc>
                <a:spcPct val="150000"/>
              </a:lnSpc>
              <a:buNone/>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Query compiler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validates for correctness of the query syntax, the names of files and data elements &amp; compiles them into an internal form.</a:t>
            </a:r>
            <a:endParaRPr lang="en-IN" sz="24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IN" b="1" dirty="0">
                <a:latin typeface="Times New Roman" panose="02020603050405020304" pitchFamily="18" charset="0"/>
                <a:cs typeface="Times New Roman" panose="02020603050405020304" pitchFamily="18" charset="0"/>
              </a:rPr>
              <a:t>Query optimiser- </a:t>
            </a:r>
            <a:r>
              <a:rPr lang="en-IN" dirty="0">
                <a:latin typeface="Times New Roman" panose="02020603050405020304" pitchFamily="18" charset="0"/>
                <a:cs typeface="Times New Roman" panose="02020603050405020304" pitchFamily="18" charset="0"/>
              </a:rPr>
              <a:t>concerned with the rearrangement and possible reordering of operations, elimination of redundancies and use of correct algorithms and indexes during execution.</a:t>
            </a:r>
          </a:p>
        </p:txBody>
      </p:sp>
    </p:spTree>
    <p:extLst>
      <p:ext uri="{BB962C8B-B14F-4D97-AF65-F5344CB8AC3E}">
        <p14:creationId xmlns:p14="http://schemas.microsoft.com/office/powerpoint/2010/main" val="3327000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856F2E-3A7D-8F86-7685-0C04B184F62F}"/>
              </a:ext>
            </a:extLst>
          </p:cNvPr>
          <p:cNvSpPr>
            <a:spLocks noGrp="1"/>
          </p:cNvSpPr>
          <p:nvPr>
            <p:ph idx="1"/>
          </p:nvPr>
        </p:nvSpPr>
        <p:spPr>
          <a:xfrm>
            <a:off x="220717" y="132522"/>
            <a:ext cx="11713780" cy="6606208"/>
          </a:xfrm>
        </p:spPr>
        <p:txBody>
          <a:bodyPr>
            <a:normAutofit/>
          </a:bodyPr>
          <a:lstStyle/>
          <a:p>
            <a:pPr marL="721995" marR="869950" algn="just">
              <a:lnSpc>
                <a:spcPct val="170000"/>
              </a:lnSpc>
            </a:pPr>
            <a:r>
              <a:rPr lang="en-US" sz="2400" b="1" dirty="0">
                <a:effectLst/>
                <a:latin typeface="Times New Roman" panose="02020603050405020304" pitchFamily="18" charset="0"/>
                <a:ea typeface="Times New Roman" panose="02020603050405020304" pitchFamily="18" charset="0"/>
              </a:rPr>
              <a:t>Pre-compiler - </a:t>
            </a:r>
            <a:r>
              <a:rPr lang="en-US" sz="2400" dirty="0">
                <a:effectLst/>
                <a:latin typeface="Times New Roman" panose="02020603050405020304" pitchFamily="18" charset="0"/>
                <a:ea typeface="Times New Roman" panose="02020603050405020304" pitchFamily="18" charset="0"/>
              </a:rPr>
              <a:t>extracts DML commands from an application program and sends them to the DML compiler for compilation into object code for database access.</a:t>
            </a:r>
            <a:endParaRPr lang="en-IN" sz="2400" dirty="0">
              <a:effectLst/>
              <a:latin typeface="Times New Roman" panose="02020603050405020304" pitchFamily="18" charset="0"/>
              <a:ea typeface="Times New Roman" panose="02020603050405020304" pitchFamily="18" charset="0"/>
            </a:endParaRPr>
          </a:p>
          <a:p>
            <a:pPr marL="647065" marR="869950" indent="36830" algn="just">
              <a:lnSpc>
                <a:spcPct val="170000"/>
              </a:lnSpc>
              <a:spcBef>
                <a:spcPts val="10"/>
              </a:spcBef>
            </a:pPr>
            <a:r>
              <a:rPr lang="en-US" sz="2400" b="1" dirty="0">
                <a:effectLst/>
                <a:latin typeface="Times New Roman" panose="02020603050405020304" pitchFamily="18" charset="0"/>
                <a:ea typeface="Times New Roman" panose="02020603050405020304" pitchFamily="18" charset="0"/>
              </a:rPr>
              <a:t>Host language compiler – the </a:t>
            </a:r>
            <a:r>
              <a:rPr lang="en-US" sz="2400" dirty="0">
                <a:effectLst/>
                <a:latin typeface="Times New Roman" panose="02020603050405020304" pitchFamily="18" charset="0"/>
                <a:ea typeface="Times New Roman" panose="02020603050405020304" pitchFamily="18" charset="0"/>
              </a:rPr>
              <a:t>rest of the program is sent to the host language compiler. </a:t>
            </a:r>
          </a:p>
          <a:p>
            <a:pPr marL="647065" marR="869950" indent="0" algn="just">
              <a:lnSpc>
                <a:spcPct val="170000"/>
              </a:lnSpc>
              <a:spcBef>
                <a:spcPts val="10"/>
              </a:spcBef>
              <a:buNone/>
            </a:pPr>
            <a:r>
              <a:rPr lang="en-US" sz="2400" dirty="0">
                <a:latin typeface="Times New Roman" panose="02020603050405020304" pitchFamily="18" charset="0"/>
                <a:ea typeface="Times New Roman" panose="02020603050405020304" pitchFamily="18" charset="0"/>
              </a:rPr>
              <a:t>The object code and the remaining program are linked together to form the canned transaction </a:t>
            </a:r>
            <a:endParaRPr lang="en-US" sz="2400" dirty="0">
              <a:effectLst/>
              <a:latin typeface="Times New Roman" panose="02020603050405020304" pitchFamily="18" charset="0"/>
              <a:ea typeface="Times New Roman" panose="02020603050405020304" pitchFamily="18" charset="0"/>
            </a:endParaRPr>
          </a:p>
          <a:p>
            <a:pPr marL="647065" marR="869950" indent="36830" algn="just">
              <a:lnSpc>
                <a:spcPct val="170000"/>
              </a:lnSpc>
              <a:spcBef>
                <a:spcPts val="10"/>
              </a:spcBef>
            </a:pPr>
            <a:r>
              <a:rPr lang="en-US" sz="2400" b="1" dirty="0">
                <a:effectLst/>
                <a:latin typeface="Times New Roman" panose="02020603050405020304" pitchFamily="18" charset="0"/>
                <a:ea typeface="Times New Roman" panose="02020603050405020304" pitchFamily="18" charset="0"/>
              </a:rPr>
              <a:t>Runtime</a:t>
            </a:r>
            <a:r>
              <a:rPr lang="en-US" sz="2400" b="1" spc="5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database</a:t>
            </a:r>
            <a:r>
              <a:rPr lang="en-US" sz="2400" b="1" spc="7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processor</a:t>
            </a:r>
            <a:r>
              <a:rPr lang="en-US" sz="2400" b="1" spc="6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executes </a:t>
            </a:r>
            <a:r>
              <a:rPr lang="en-US" sz="2400" spc="-25" dirty="0">
                <a:effectLst/>
                <a:latin typeface="Times New Roman" panose="02020603050405020304" pitchFamily="18" charset="0"/>
                <a:ea typeface="Times New Roman" panose="02020603050405020304" pitchFamily="18" charset="0"/>
              </a:rPr>
              <a:t>the</a:t>
            </a:r>
            <a:r>
              <a:rPr lang="en-US" sz="2400" spc="4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privileged</a:t>
            </a:r>
            <a:r>
              <a:rPr lang="en-US" sz="2400" spc="4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commands, </a:t>
            </a:r>
            <a:r>
              <a:rPr lang="en-US" sz="2400" spc="-25" dirty="0">
                <a:effectLst/>
                <a:latin typeface="Times New Roman" panose="02020603050405020304" pitchFamily="18" charset="0"/>
                <a:ea typeface="Times New Roman" panose="02020603050405020304" pitchFamily="18" charset="0"/>
              </a:rPr>
              <a:t>the</a:t>
            </a:r>
            <a:r>
              <a:rPr lang="en-US" sz="2400" spc="4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executable</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query</a:t>
            </a:r>
            <a:r>
              <a:rPr lang="en-US" sz="2400" spc="1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plans,</a:t>
            </a:r>
            <a:r>
              <a:rPr lang="en-US" sz="2400" spc="6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and</a:t>
            </a:r>
            <a:r>
              <a:rPr lang="en-IN" sz="2400" spc="-25" dirty="0">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the</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canned</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transactions</a:t>
            </a:r>
            <a:r>
              <a:rPr lang="en-US" sz="2400" spc="7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with</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runtime</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parameters.</a:t>
            </a:r>
            <a:endParaRPr lang="en-IN" sz="2400" spc="-25"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82164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6958E-15D2-74F7-C4EC-72DCEC26704E}"/>
              </a:ext>
            </a:extLst>
          </p:cNvPr>
          <p:cNvSpPr>
            <a:spLocks noGrp="1"/>
          </p:cNvSpPr>
          <p:nvPr>
            <p:ph type="title"/>
          </p:nvPr>
        </p:nvSpPr>
        <p:spPr/>
        <p:txBody>
          <a:bodyPr/>
          <a:lstStyle/>
          <a:p>
            <a:r>
              <a:rPr lang="en-IN" dirty="0"/>
              <a:t>END of Module 1</a:t>
            </a:r>
          </a:p>
        </p:txBody>
      </p:sp>
      <p:sp>
        <p:nvSpPr>
          <p:cNvPr id="3" name="Content Placeholder 2">
            <a:extLst>
              <a:ext uri="{FF2B5EF4-FFF2-40B4-BE49-F238E27FC236}">
                <a16:creationId xmlns:a16="http://schemas.microsoft.com/office/drawing/2014/main" id="{FE99D860-C0EE-16C3-D1EE-5C95441B8C4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06424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4995</TotalTime>
  <Words>2599</Words>
  <Application>Microsoft Office PowerPoint</Application>
  <PresentationFormat>Widescreen</PresentationFormat>
  <Paragraphs>183</Paragraphs>
  <Slides>35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CIDFont+F1</vt:lpstr>
      <vt:lpstr>Times New Roman</vt:lpstr>
      <vt:lpstr>Office Theme</vt:lpstr>
      <vt:lpstr>Module 1  Introduction to Databases </vt:lpstr>
      <vt:lpstr>PowerPoint Presentation</vt:lpstr>
      <vt:lpstr>Database Languages</vt:lpstr>
      <vt:lpstr>Database Languages</vt:lpstr>
      <vt:lpstr> Data Model </vt:lpstr>
      <vt:lpstr>PowerPoint Presentation</vt:lpstr>
      <vt:lpstr>PowerPoint Presentation</vt:lpstr>
      <vt:lpstr>PowerPoint Presentation</vt:lpstr>
      <vt:lpstr> Categories of Data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Three-Schema Architecture Goal: To separate the user applications and the physical database. </vt:lpstr>
      <vt:lpstr>PowerPoint Presentation</vt:lpstr>
      <vt:lpstr> Data Independence </vt:lpstr>
      <vt:lpstr>Database Languages or DBMS languages</vt:lpstr>
      <vt:lpstr>PowerPoint Presentation</vt:lpstr>
      <vt:lpstr>PowerPoint Presentation</vt:lpstr>
      <vt:lpstr> DBMS Interfaces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Database System Environment DBMS Component Modules </vt:lpstr>
      <vt:lpstr>PowerPoint Presentation</vt:lpstr>
      <vt:lpstr>PowerPoint Presentation</vt:lpstr>
      <vt:lpstr>PowerPoint Presentation</vt:lpstr>
      <vt:lpstr>END of Module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204</cp:revision>
  <dcterms:created xsi:type="dcterms:W3CDTF">2025-02-04T14:17:26Z</dcterms:created>
  <dcterms:modified xsi:type="dcterms:W3CDTF">2026-08-25T05:14:28Z</dcterms:modified>
</cp:coreProperties>
</file>